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824">
          <p15:clr>
            <a:srgbClr val="A4A3A4"/>
          </p15:clr>
        </p15:guide>
        <p15:guide id="2" pos="3840">
          <p15:clr>
            <a:srgbClr val="A4A3A4"/>
          </p15:clr>
        </p15:guide>
        <p15:guide id="3" orient="horz" pos="23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A17969-4AD6-4800-B696-589BF0565E83}">
  <a:tblStyle styleId="{03A17969-4AD6-4800-B696-589BF0565E83}"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FF8E6"/>
          </a:solidFill>
        </a:fill>
      </a:tcStyle>
    </a:wholeTbl>
    <a:band1H>
      <a:tcTxStyle/>
      <a:tcStyle>
        <a:fill>
          <a:solidFill>
            <a:srgbClr val="DDF0CA"/>
          </a:solidFill>
        </a:fill>
      </a:tcStyle>
    </a:band1H>
    <a:band2H>
      <a:tcTxStyle/>
    </a:band2H>
    <a:band1V>
      <a:tcTxStyle/>
      <a:tcStyle>
        <a:fill>
          <a:solidFill>
            <a:srgbClr val="DDF0C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824" orient="horz"/>
        <p:guide pos="3840"/>
        <p:guide pos="2328"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49" name="Google Shape;3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57" name="Google Shape;3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1" i="0" sz="1200" u="none" strike="noStrike">
              <a:solidFill>
                <a:schemeClr val="dk1"/>
              </a:solidFill>
              <a:latin typeface="Calibri"/>
              <a:ea typeface="Calibri"/>
              <a:cs typeface="Calibri"/>
              <a:sym typeface="Calibri"/>
            </a:endParaRPr>
          </a:p>
        </p:txBody>
      </p:sp>
      <p:sp>
        <p:nvSpPr>
          <p:cNvPr id="446" name="Google Shape;44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b="1" sz="1200">
              <a:solidFill>
                <a:schemeClr val="dk1"/>
              </a:solidFill>
              <a:latin typeface="Calibri"/>
              <a:ea typeface="Calibri"/>
              <a:cs typeface="Calibri"/>
              <a:sym typeface="Calibri"/>
            </a:endParaRPr>
          </a:p>
        </p:txBody>
      </p:sp>
      <p:sp>
        <p:nvSpPr>
          <p:cNvPr id="477" name="Google Shape;47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2"/>
          <p:cNvSpPr/>
          <p:nvPr/>
        </p:nvSpPr>
        <p:spPr>
          <a:xfrm>
            <a:off x="8161" y="1"/>
            <a:ext cx="12199867" cy="7168422"/>
          </a:xfrm>
          <a:prstGeom prst="rect">
            <a:avLst/>
          </a:prstGeom>
          <a:solidFill>
            <a:schemeClr val="lt1"/>
          </a:solidFill>
          <a:ln>
            <a:noFill/>
          </a:ln>
        </p:spPr>
        <p:txBody>
          <a:bodyPr anchorCtr="0" anchor="ctr" bIns="67700" lIns="67700" spcFirstLastPara="1" rIns="67700" wrap="square" tIns="67700">
            <a:noAutofit/>
          </a:bodyPr>
          <a:lstStyle/>
          <a:p>
            <a:pPr indent="0" lvl="0" marL="0" marR="0" rtl="0" algn="ctr">
              <a:spcBef>
                <a:spcPts val="0"/>
              </a:spcBef>
              <a:spcAft>
                <a:spcPts val="0"/>
              </a:spcAft>
              <a:buNone/>
            </a:pPr>
            <a:r>
              <a:t/>
            </a:r>
            <a:endParaRPr b="0" i="0" sz="4266">
              <a:solidFill>
                <a:schemeClr val="dk1"/>
              </a:solidFill>
              <a:latin typeface="Arial"/>
              <a:ea typeface="Arial"/>
              <a:cs typeface="Arial"/>
              <a:sym typeface="Arial"/>
            </a:endParaRPr>
          </a:p>
        </p:txBody>
      </p:sp>
      <p:sp>
        <p:nvSpPr>
          <p:cNvPr id="19" name="Google Shape;19;p2"/>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2"/>
          <p:cNvSpPr/>
          <p:nvPr/>
        </p:nvSpPr>
        <p:spPr>
          <a:xfrm>
            <a:off x="0" y="2311943"/>
            <a:ext cx="12192000" cy="4856480"/>
          </a:xfrm>
          <a:prstGeom prst="rect">
            <a:avLst/>
          </a:prstGeom>
          <a:gradFill>
            <a:gsLst>
              <a:gs pos="0">
                <a:srgbClr val="21DBAA"/>
              </a:gs>
              <a:gs pos="33000">
                <a:srgbClr val="03B4F0"/>
              </a:gs>
              <a:gs pos="70000">
                <a:srgbClr val="0768DD"/>
              </a:gs>
              <a:gs pos="99000">
                <a:srgbClr val="5F19E4"/>
              </a:gs>
              <a:gs pos="100000">
                <a:srgbClr val="5F19E4"/>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1" name="Google Shape;21;p2"/>
          <p:cNvPicPr preferRelativeResize="0"/>
          <p:nvPr/>
        </p:nvPicPr>
        <p:blipFill rotWithShape="1">
          <a:blip r:embed="rId2">
            <a:alphaModFix/>
          </a:blip>
          <a:srcRect b="0" l="0" r="0" t="0"/>
          <a:stretch/>
        </p:blipFill>
        <p:spPr>
          <a:xfrm>
            <a:off x="0" y="2311943"/>
            <a:ext cx="698500" cy="698500"/>
          </a:xfrm>
          <a:prstGeom prst="rect">
            <a:avLst/>
          </a:prstGeom>
          <a:noFill/>
          <a:ln>
            <a:noFill/>
          </a:ln>
        </p:spPr>
      </p:pic>
      <p:pic>
        <p:nvPicPr>
          <p:cNvPr id="22" name="Google Shape;22;p2"/>
          <p:cNvPicPr preferRelativeResize="0"/>
          <p:nvPr/>
        </p:nvPicPr>
        <p:blipFill rotWithShape="1">
          <a:blip r:embed="rId3">
            <a:alphaModFix/>
          </a:blip>
          <a:srcRect b="0" l="0" r="0" t="0"/>
          <a:stretch/>
        </p:blipFill>
        <p:spPr>
          <a:xfrm>
            <a:off x="736279" y="1459954"/>
            <a:ext cx="1940001" cy="553141"/>
          </a:xfrm>
          <a:prstGeom prst="rect">
            <a:avLst/>
          </a:prstGeom>
          <a:noFill/>
          <a:ln>
            <a:noFill/>
          </a:ln>
        </p:spPr>
      </p:pic>
      <p:sp>
        <p:nvSpPr>
          <p:cNvPr id="23" name="Google Shape;23;p2"/>
          <p:cNvSpPr txBox="1"/>
          <p:nvPr/>
        </p:nvSpPr>
        <p:spPr>
          <a:xfrm>
            <a:off x="2782957" y="1516240"/>
            <a:ext cx="327992" cy="46166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a:t>
            </a:r>
            <a:endParaRPr/>
          </a:p>
        </p:txBody>
      </p:sp>
      <p:sp>
        <p:nvSpPr>
          <p:cNvPr id="24" name="Google Shape;24;p2"/>
          <p:cNvSpPr txBox="1"/>
          <p:nvPr>
            <p:ph idx="1" type="body"/>
          </p:nvPr>
        </p:nvSpPr>
        <p:spPr>
          <a:xfrm>
            <a:off x="670219" y="4637095"/>
            <a:ext cx="9310098" cy="1477328"/>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4800"/>
              <a:buFont typeface="Arial"/>
              <a:buNone/>
              <a:defRPr b="1" i="0" sz="4800">
                <a:solidFill>
                  <a:schemeClr val="lt1"/>
                </a:solidFill>
                <a:latin typeface="Arial"/>
                <a:ea typeface="Arial"/>
                <a:cs typeface="Arial"/>
                <a:sym typeface="Arial"/>
              </a:defRPr>
            </a:lvl1pPr>
            <a:lvl2pPr indent="-228600" lvl="1" marL="914400" algn="l">
              <a:lnSpc>
                <a:spcPct val="90000"/>
              </a:lnSpc>
              <a:spcBef>
                <a:spcPts val="500"/>
              </a:spcBef>
              <a:spcAft>
                <a:spcPts val="0"/>
              </a:spcAft>
              <a:buSzPts val="20000"/>
              <a:buFont typeface="Arial"/>
              <a:buNone/>
              <a:defRPr sz="20000">
                <a:latin typeface="Arial"/>
                <a:ea typeface="Arial"/>
                <a:cs typeface="Arial"/>
                <a:sym typeface="Arial"/>
              </a:defRPr>
            </a:lvl2pPr>
            <a:lvl3pPr indent="-228600" lvl="2" marL="1371600" algn="l">
              <a:lnSpc>
                <a:spcPct val="90000"/>
              </a:lnSpc>
              <a:spcBef>
                <a:spcPts val="500"/>
              </a:spcBef>
              <a:spcAft>
                <a:spcPts val="0"/>
              </a:spcAft>
              <a:buSzPts val="20000"/>
              <a:buFont typeface="Arial"/>
              <a:buNone/>
              <a:defRPr sz="20000">
                <a:latin typeface="Arial"/>
                <a:ea typeface="Arial"/>
                <a:cs typeface="Arial"/>
                <a:sym typeface="Arial"/>
              </a:defRPr>
            </a:lvl3pPr>
            <a:lvl4pPr indent="-228600" lvl="3" marL="1828800" algn="l">
              <a:lnSpc>
                <a:spcPct val="90000"/>
              </a:lnSpc>
              <a:spcBef>
                <a:spcPts val="500"/>
              </a:spcBef>
              <a:spcAft>
                <a:spcPts val="0"/>
              </a:spcAft>
              <a:buSzPts val="20000"/>
              <a:buFont typeface="Arial"/>
              <a:buNone/>
              <a:defRPr sz="20000">
                <a:latin typeface="Arial"/>
                <a:ea typeface="Arial"/>
                <a:cs typeface="Arial"/>
                <a:sym typeface="Arial"/>
              </a:defRPr>
            </a:lvl4pPr>
            <a:lvl5pPr indent="-228600" lvl="4" marL="2286000" algn="l">
              <a:lnSpc>
                <a:spcPct val="90000"/>
              </a:lnSpc>
              <a:spcBef>
                <a:spcPts val="500"/>
              </a:spcBef>
              <a:spcAft>
                <a:spcPts val="0"/>
              </a:spcAft>
              <a:buSzPts val="20000"/>
              <a:buFont typeface="Arial"/>
              <a:buNone/>
              <a:defRPr sz="200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
          <p:cNvSpPr txBox="1"/>
          <p:nvPr>
            <p:ph idx="1" type="body"/>
          </p:nvPr>
        </p:nvSpPr>
        <p:spPr>
          <a:xfrm>
            <a:off x="457200" y="1371600"/>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3"/>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0" name="Shape 30"/>
        <p:cNvGrpSpPr/>
        <p:nvPr/>
      </p:nvGrpSpPr>
      <p:grpSpPr>
        <a:xfrm>
          <a:off x="0" y="0"/>
          <a:ext cx="0" cy="0"/>
          <a:chOff x="0" y="0"/>
          <a:chExt cx="0" cy="0"/>
        </a:xfrm>
      </p:grpSpPr>
      <p:sp>
        <p:nvSpPr>
          <p:cNvPr id="31" name="Google Shape;31;p4"/>
          <p:cNvSpPr txBox="1"/>
          <p:nvPr>
            <p:ph type="title"/>
          </p:nvPr>
        </p:nvSpPr>
        <p:spPr>
          <a:xfrm>
            <a:off x="847164" y="2633663"/>
            <a:ext cx="10500285"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nvSpPr>
        <p:spPr>
          <a:xfrm>
            <a:off x="10751120" y="351532"/>
            <a:ext cx="3240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chemeClr val="lt1"/>
                </a:solidFill>
                <a:latin typeface="Arial"/>
                <a:ea typeface="Arial"/>
                <a:cs typeface="Arial"/>
                <a:sym typeface="Arial"/>
              </a:rPr>
              <a:t>+</a:t>
            </a:r>
            <a:endParaRPr/>
          </a:p>
        </p:txBody>
      </p:sp>
      <p:sp>
        <p:nvSpPr>
          <p:cNvPr id="33" name="Google Shape;33;p4"/>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4" name="Google Shape;34;p4"/>
          <p:cNvPicPr preferRelativeResize="0"/>
          <p:nvPr/>
        </p:nvPicPr>
        <p:blipFill rotWithShape="1">
          <a:blip r:embed="rId2">
            <a:alphaModFix/>
          </a:blip>
          <a:srcRect b="0" l="0" r="0" t="0"/>
          <a:stretch/>
        </p:blipFill>
        <p:spPr>
          <a:xfrm>
            <a:off x="11005521" y="407181"/>
            <a:ext cx="1075639" cy="306111"/>
          </a:xfrm>
          <a:prstGeom prst="rect">
            <a:avLst/>
          </a:prstGeom>
          <a:noFill/>
          <a:ln>
            <a:noFill/>
          </a:ln>
        </p:spPr>
      </p:pic>
      <p:sp>
        <p:nvSpPr>
          <p:cNvPr id="35" name="Google Shape;35;p4"/>
          <p:cNvSpPr/>
          <p:nvPr/>
        </p:nvSpPr>
        <p:spPr>
          <a:xfrm>
            <a:off x="10095499" y="299262"/>
            <a:ext cx="653143" cy="521948"/>
          </a:xfrm>
          <a:prstGeom prst="rect">
            <a:avLst/>
          </a:prstGeom>
          <a:solidFill>
            <a:schemeClr val="accent1"/>
          </a:solidFill>
          <a:ln cap="flat" cmpd="sng" w="12700">
            <a:solidFill>
              <a:srgbClr val="6E9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50">
                <a:solidFill>
                  <a:schemeClr val="lt1"/>
                </a:solidFill>
                <a:latin typeface="Arial"/>
                <a:ea typeface="Arial"/>
                <a:cs typeface="Arial"/>
                <a:sym typeface="Arial"/>
              </a:rPr>
              <a:t>Insert client logo</a:t>
            </a:r>
            <a:endParaRPr/>
          </a:p>
        </p:txBody>
      </p:sp>
      <p:sp>
        <p:nvSpPr>
          <p:cNvPr id="36" name="Google Shape;36;p4"/>
          <p:cNvSpPr/>
          <p:nvPr/>
        </p:nvSpPr>
        <p:spPr>
          <a:xfrm>
            <a:off x="0" y="0"/>
            <a:ext cx="2964873" cy="6858000"/>
          </a:xfrm>
          <a:prstGeom prst="rect">
            <a:avLst/>
          </a:prstGeom>
          <a:gradFill>
            <a:gsLst>
              <a:gs pos="0">
                <a:srgbClr val="21DBAA"/>
              </a:gs>
              <a:gs pos="33000">
                <a:srgbClr val="03B4F0"/>
              </a:gs>
              <a:gs pos="70000">
                <a:srgbClr val="0768DD"/>
              </a:gs>
              <a:gs pos="99000">
                <a:srgbClr val="5F19E4"/>
              </a:gs>
              <a:gs pos="100000">
                <a:srgbClr val="5F19E4"/>
              </a:gs>
            </a:gsLst>
            <a:lin ang="2700000" scaled="0"/>
          </a:gra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14">
              <a:solidFill>
                <a:schemeClr val="dk1"/>
              </a:solidFill>
              <a:latin typeface="Arial"/>
              <a:ea typeface="Arial"/>
              <a:cs typeface="Arial"/>
              <a:sym typeface="Arial"/>
            </a:endParaRPr>
          </a:p>
        </p:txBody>
      </p:sp>
      <p:sp>
        <p:nvSpPr>
          <p:cNvPr id="37" name="Google Shape;37;p4"/>
          <p:cNvSpPr/>
          <p:nvPr/>
        </p:nvSpPr>
        <p:spPr>
          <a:xfrm flipH="1">
            <a:off x="1934456" y="-9427"/>
            <a:ext cx="10257543" cy="6880225"/>
          </a:xfrm>
          <a:prstGeom prst="round1Rect">
            <a:avLst>
              <a:gd fmla="val 10243"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 name="Google Shape;38;p4"/>
          <p:cNvSpPr txBox="1"/>
          <p:nvPr/>
        </p:nvSpPr>
        <p:spPr>
          <a:xfrm>
            <a:off x="10972800" y="351532"/>
            <a:ext cx="3240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2E393F"/>
                </a:solidFill>
                <a:latin typeface="Arial"/>
                <a:ea typeface="Arial"/>
                <a:cs typeface="Arial"/>
                <a:sym typeface="Arial"/>
              </a:rPr>
              <a:t>+</a:t>
            </a:r>
            <a:endParaRPr/>
          </a:p>
        </p:txBody>
      </p:sp>
      <p:pic>
        <p:nvPicPr>
          <p:cNvPr id="39" name="Google Shape;39;p4"/>
          <p:cNvPicPr preferRelativeResize="0"/>
          <p:nvPr/>
        </p:nvPicPr>
        <p:blipFill rotWithShape="1">
          <a:blip r:embed="rId3">
            <a:alphaModFix/>
          </a:blip>
          <a:srcRect b="0" l="0" r="0" t="0"/>
          <a:stretch/>
        </p:blipFill>
        <p:spPr>
          <a:xfrm>
            <a:off x="11237246" y="411857"/>
            <a:ext cx="872189" cy="248682"/>
          </a:xfrm>
          <a:prstGeom prst="rect">
            <a:avLst/>
          </a:prstGeom>
          <a:noFill/>
          <a:ln>
            <a:noFill/>
          </a:ln>
        </p:spPr>
      </p:pic>
      <p:sp>
        <p:nvSpPr>
          <p:cNvPr id="40" name="Google Shape;40;p4"/>
          <p:cNvSpPr/>
          <p:nvPr/>
        </p:nvSpPr>
        <p:spPr>
          <a:xfrm>
            <a:off x="10319657" y="274832"/>
            <a:ext cx="653143" cy="521948"/>
          </a:xfrm>
          <a:prstGeom prst="rect">
            <a:avLst/>
          </a:prstGeom>
          <a:solidFill>
            <a:schemeClr val="accent1"/>
          </a:solidFill>
          <a:ln cap="flat" cmpd="sng" w="12700">
            <a:solidFill>
              <a:srgbClr val="6E9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50">
                <a:solidFill>
                  <a:schemeClr val="lt1"/>
                </a:solidFill>
                <a:latin typeface="Arial"/>
                <a:ea typeface="Arial"/>
                <a:cs typeface="Arial"/>
                <a:sym typeface="Arial"/>
              </a:rPr>
              <a:t>Insert client logo</a:t>
            </a:r>
            <a:endParaRPr/>
          </a:p>
        </p:txBody>
      </p:sp>
    </p:spTree>
  </p:cSld>
  <p:clrMapOvr>
    <a:masterClrMapping/>
  </p:clrMapOvr>
  <p:extLst>
    <p:ext uri="{DCECCB84-F9BA-43D5-87BE-67443E8EF086}">
      <p15:sldGuideLst>
        <p15:guide id="1" orient="horz" pos="3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 w/o icons">
  <p:cSld name="3 col w/o icons">
    <p:spTree>
      <p:nvGrpSpPr>
        <p:cNvPr id="41" name="Shape 41"/>
        <p:cNvGrpSpPr/>
        <p:nvPr/>
      </p:nvGrpSpPr>
      <p:grpSpPr>
        <a:xfrm>
          <a:off x="0" y="0"/>
          <a:ext cx="0" cy="0"/>
          <a:chOff x="0" y="0"/>
          <a:chExt cx="0" cy="0"/>
        </a:xfrm>
      </p:grpSpPr>
      <p:sp>
        <p:nvSpPr>
          <p:cNvPr id="42" name="Google Shape;42;p5"/>
          <p:cNvSpPr/>
          <p:nvPr/>
        </p:nvSpPr>
        <p:spPr>
          <a:xfrm>
            <a:off x="4942" y="2342782"/>
            <a:ext cx="4077549"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43" name="Google Shape;43;p5"/>
          <p:cNvSpPr/>
          <p:nvPr/>
        </p:nvSpPr>
        <p:spPr>
          <a:xfrm>
            <a:off x="8153430" y="2342782"/>
            <a:ext cx="4077549"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44" name="Google Shape;44;p5"/>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5"/>
          <p:cNvSpPr txBox="1"/>
          <p:nvPr>
            <p:ph idx="1" type="body"/>
          </p:nvPr>
        </p:nvSpPr>
        <p:spPr>
          <a:xfrm>
            <a:off x="457200" y="1371600"/>
            <a:ext cx="10091738" cy="67711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1800"/>
              <a:buFont typeface="Arial"/>
              <a:buNone/>
              <a:defRPr sz="1800"/>
            </a:lvl1pPr>
            <a:lvl2pPr indent="-342900" lvl="1" marL="914400" algn="l">
              <a:lnSpc>
                <a:spcPct val="90000"/>
              </a:lnSpc>
              <a:spcBef>
                <a:spcPts val="500"/>
              </a:spcBef>
              <a:spcAft>
                <a:spcPts val="0"/>
              </a:spcAft>
              <a:buSzPts val="1800"/>
              <a:buChar char="•"/>
              <a:defRPr sz="1800"/>
            </a:lvl2pPr>
            <a:lvl3pPr indent="-342900" lvl="2" marL="1371600" algn="l">
              <a:lnSpc>
                <a:spcPct val="90000"/>
              </a:lnSpc>
              <a:spcBef>
                <a:spcPts val="500"/>
              </a:spcBef>
              <a:spcAft>
                <a:spcPts val="0"/>
              </a:spcAft>
              <a:buSzPts val="1800"/>
              <a:buChar char="•"/>
              <a:defRPr sz="1800"/>
            </a:lvl3pPr>
            <a:lvl4pPr indent="-342900" lvl="3" marL="1828800" algn="l">
              <a:lnSpc>
                <a:spcPct val="90000"/>
              </a:lnSpc>
              <a:spcBef>
                <a:spcPts val="500"/>
              </a:spcBef>
              <a:spcAft>
                <a:spcPts val="0"/>
              </a:spcAft>
              <a:buSzPts val="1800"/>
              <a:buChar char="•"/>
              <a:defRPr sz="1800"/>
            </a:lvl4pPr>
            <a:lvl5pPr indent="-342900" lvl="4" marL="2286000" algn="l">
              <a:lnSpc>
                <a:spcPct val="90000"/>
              </a:lnSpc>
              <a:spcBef>
                <a:spcPts val="5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
          <p:cNvSpPr txBox="1"/>
          <p:nvPr>
            <p:ph idx="2" type="body"/>
          </p:nvPr>
        </p:nvSpPr>
        <p:spPr>
          <a:xfrm>
            <a:off x="530384" y="2978626"/>
            <a:ext cx="3026664"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
          <p:cNvSpPr txBox="1"/>
          <p:nvPr>
            <p:ph idx="3" type="body"/>
          </p:nvPr>
        </p:nvSpPr>
        <p:spPr>
          <a:xfrm>
            <a:off x="4582667" y="2978626"/>
            <a:ext cx="3026664"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
          <p:cNvSpPr txBox="1"/>
          <p:nvPr>
            <p:ph idx="4" type="body"/>
          </p:nvPr>
        </p:nvSpPr>
        <p:spPr>
          <a:xfrm>
            <a:off x="8653606" y="2978626"/>
            <a:ext cx="3026664"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5"/>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51" name="Google Shape;51;p5"/>
          <p:cNvCxnSpPr/>
          <p:nvPr/>
        </p:nvCxnSpPr>
        <p:spPr>
          <a:xfrm flipH="1" rot="10800000">
            <a:off x="-38981" y="2342781"/>
            <a:ext cx="12269960" cy="1"/>
          </a:xfrm>
          <a:prstGeom prst="straightConnector1">
            <a:avLst/>
          </a:prstGeom>
          <a:noFill/>
          <a:ln cap="flat" cmpd="sng" w="25400">
            <a:solidFill>
              <a:srgbClr val="2DCCD3"/>
            </a:solidFill>
            <a:prstDash val="solid"/>
            <a:round/>
            <a:headEnd len="sm" w="sm" type="none"/>
            <a:tailEnd len="sm" w="sm" type="none"/>
          </a:ln>
        </p:spPr>
      </p:cxnSp>
    </p:spTree>
  </p:cSld>
  <p:clrMapOvr>
    <a:masterClrMapping/>
  </p:clrMapOvr>
  <p:extLst>
    <p:ext uri="{DCECCB84-F9BA-43D5-87BE-67443E8EF086}">
      <p15:sldGuideLst>
        <p15:guide id="1" orient="horz" pos="187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summary w/o icons">
  <p:cSld name="Executive summary w/o icons">
    <p:spTree>
      <p:nvGrpSpPr>
        <p:cNvPr id="52" name="Shape 52"/>
        <p:cNvGrpSpPr/>
        <p:nvPr/>
      </p:nvGrpSpPr>
      <p:grpSpPr>
        <a:xfrm>
          <a:off x="0" y="0"/>
          <a:ext cx="0" cy="0"/>
          <a:chOff x="0" y="0"/>
          <a:chExt cx="0" cy="0"/>
        </a:xfrm>
      </p:grpSpPr>
      <p:sp>
        <p:nvSpPr>
          <p:cNvPr id="53" name="Google Shape;53;p6"/>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6"/>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6"/>
          <p:cNvSpPr txBox="1"/>
          <p:nvPr>
            <p:ph idx="1" type="body"/>
          </p:nvPr>
        </p:nvSpPr>
        <p:spPr>
          <a:xfrm>
            <a:off x="457200" y="1330911"/>
            <a:ext cx="10804525" cy="48773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6"/>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summary w/o icons">
  <p:cSld name="1_Executive summary w/o icons">
    <p:spTree>
      <p:nvGrpSpPr>
        <p:cNvPr id="57" name="Shape 57"/>
        <p:cNvGrpSpPr/>
        <p:nvPr/>
      </p:nvGrpSpPr>
      <p:grpSpPr>
        <a:xfrm>
          <a:off x="0" y="0"/>
          <a:ext cx="0" cy="0"/>
          <a:chOff x="0" y="0"/>
          <a:chExt cx="0" cy="0"/>
        </a:xfrm>
      </p:grpSpPr>
      <p:sp>
        <p:nvSpPr>
          <p:cNvPr id="58" name="Google Shape;58;p7"/>
          <p:cNvSpPr txBox="1"/>
          <p:nvPr>
            <p:ph type="title"/>
          </p:nvPr>
        </p:nvSpPr>
        <p:spPr>
          <a:xfrm>
            <a:off x="457200" y="152401"/>
            <a:ext cx="8385858" cy="99059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E393F"/>
              </a:buClr>
              <a:buSzPts val="1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7"/>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2E393F"/>
              </a:buClr>
              <a:buSzPts val="1200"/>
              <a:buFont typeface="Arial"/>
              <a:buNone/>
              <a:defRPr sz="1200">
                <a:solidFill>
                  <a:srgbClr val="2E393F"/>
                </a:solidFill>
                <a:latin typeface="Arial"/>
                <a:ea typeface="Arial"/>
                <a:cs typeface="Arial"/>
                <a:sym typeface="Arial"/>
              </a:defRPr>
            </a:lvl1pPr>
            <a:lvl2pPr indent="0" lvl="1" marL="0" marR="0" algn="r">
              <a:spcBef>
                <a:spcPts val="0"/>
              </a:spcBef>
              <a:spcAft>
                <a:spcPts val="0"/>
              </a:spcAft>
              <a:buClr>
                <a:srgbClr val="2E393F"/>
              </a:buClr>
              <a:buSzPts val="1200"/>
              <a:buFont typeface="Arial"/>
              <a:buNone/>
              <a:defRPr sz="1200">
                <a:solidFill>
                  <a:srgbClr val="2E393F"/>
                </a:solidFill>
                <a:latin typeface="Arial"/>
                <a:ea typeface="Arial"/>
                <a:cs typeface="Arial"/>
                <a:sym typeface="Arial"/>
              </a:defRPr>
            </a:lvl2pPr>
            <a:lvl3pPr indent="0" lvl="2" marL="0" marR="0" algn="r">
              <a:spcBef>
                <a:spcPts val="0"/>
              </a:spcBef>
              <a:spcAft>
                <a:spcPts val="0"/>
              </a:spcAft>
              <a:buClr>
                <a:srgbClr val="2E393F"/>
              </a:buClr>
              <a:buSzPts val="1200"/>
              <a:buFont typeface="Arial"/>
              <a:buNone/>
              <a:defRPr sz="1200">
                <a:solidFill>
                  <a:srgbClr val="2E393F"/>
                </a:solidFill>
                <a:latin typeface="Arial"/>
                <a:ea typeface="Arial"/>
                <a:cs typeface="Arial"/>
                <a:sym typeface="Arial"/>
              </a:defRPr>
            </a:lvl3pPr>
            <a:lvl4pPr indent="0" lvl="3" marL="0" marR="0" algn="r">
              <a:spcBef>
                <a:spcPts val="0"/>
              </a:spcBef>
              <a:spcAft>
                <a:spcPts val="0"/>
              </a:spcAft>
              <a:buClr>
                <a:srgbClr val="2E393F"/>
              </a:buClr>
              <a:buSzPts val="1200"/>
              <a:buFont typeface="Arial"/>
              <a:buNone/>
              <a:defRPr sz="1200">
                <a:solidFill>
                  <a:srgbClr val="2E393F"/>
                </a:solidFill>
                <a:latin typeface="Arial"/>
                <a:ea typeface="Arial"/>
                <a:cs typeface="Arial"/>
                <a:sym typeface="Arial"/>
              </a:defRPr>
            </a:lvl4pPr>
            <a:lvl5pPr indent="0" lvl="4" marL="0" marR="0" algn="r">
              <a:spcBef>
                <a:spcPts val="0"/>
              </a:spcBef>
              <a:spcAft>
                <a:spcPts val="0"/>
              </a:spcAft>
              <a:buClr>
                <a:srgbClr val="2E393F"/>
              </a:buClr>
              <a:buSzPts val="1200"/>
              <a:buFont typeface="Arial"/>
              <a:buNone/>
              <a:defRPr sz="1200">
                <a:solidFill>
                  <a:srgbClr val="2E393F"/>
                </a:solidFill>
                <a:latin typeface="Arial"/>
                <a:ea typeface="Arial"/>
                <a:cs typeface="Arial"/>
                <a:sym typeface="Arial"/>
              </a:defRPr>
            </a:lvl5pPr>
            <a:lvl6pPr indent="0" lvl="5" marL="0" marR="0" algn="r">
              <a:spcBef>
                <a:spcPts val="0"/>
              </a:spcBef>
              <a:spcAft>
                <a:spcPts val="0"/>
              </a:spcAft>
              <a:buClr>
                <a:srgbClr val="2E393F"/>
              </a:buClr>
              <a:buSzPts val="1200"/>
              <a:buFont typeface="Arial"/>
              <a:buNone/>
              <a:defRPr sz="1200">
                <a:solidFill>
                  <a:srgbClr val="2E393F"/>
                </a:solidFill>
                <a:latin typeface="Arial"/>
                <a:ea typeface="Arial"/>
                <a:cs typeface="Arial"/>
                <a:sym typeface="Arial"/>
              </a:defRPr>
            </a:lvl6pPr>
            <a:lvl7pPr indent="0" lvl="6" marL="0" marR="0" algn="r">
              <a:spcBef>
                <a:spcPts val="0"/>
              </a:spcBef>
              <a:spcAft>
                <a:spcPts val="0"/>
              </a:spcAft>
              <a:buClr>
                <a:srgbClr val="2E393F"/>
              </a:buClr>
              <a:buSzPts val="1200"/>
              <a:buFont typeface="Arial"/>
              <a:buNone/>
              <a:defRPr sz="1200">
                <a:solidFill>
                  <a:srgbClr val="2E393F"/>
                </a:solidFill>
                <a:latin typeface="Arial"/>
                <a:ea typeface="Arial"/>
                <a:cs typeface="Arial"/>
                <a:sym typeface="Arial"/>
              </a:defRPr>
            </a:lvl7pPr>
            <a:lvl8pPr indent="0" lvl="7" marL="0" marR="0" algn="r">
              <a:spcBef>
                <a:spcPts val="0"/>
              </a:spcBef>
              <a:spcAft>
                <a:spcPts val="0"/>
              </a:spcAft>
              <a:buClr>
                <a:srgbClr val="2E393F"/>
              </a:buClr>
              <a:buSzPts val="1200"/>
              <a:buFont typeface="Arial"/>
              <a:buNone/>
              <a:defRPr sz="1200">
                <a:solidFill>
                  <a:srgbClr val="2E393F"/>
                </a:solidFill>
                <a:latin typeface="Arial"/>
                <a:ea typeface="Arial"/>
                <a:cs typeface="Arial"/>
                <a:sym typeface="Arial"/>
              </a:defRPr>
            </a:lvl8pPr>
            <a:lvl9pPr indent="0" lvl="8" marL="0" marR="0" algn="r">
              <a:spcBef>
                <a:spcPts val="0"/>
              </a:spcBef>
              <a:spcAft>
                <a:spcPts val="0"/>
              </a:spcAft>
              <a:buClr>
                <a:srgbClr val="2E393F"/>
              </a:buClr>
              <a:buSzPts val="1200"/>
              <a:buFont typeface="Arial"/>
              <a:buNone/>
              <a:defRPr sz="1200">
                <a:solidFill>
                  <a:srgbClr val="2E39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60" name="Google Shape;60;p7"/>
          <p:cNvSpPr txBox="1"/>
          <p:nvPr>
            <p:ph idx="1" type="body"/>
          </p:nvPr>
        </p:nvSpPr>
        <p:spPr>
          <a:xfrm>
            <a:off x="457200" y="1330911"/>
            <a:ext cx="10804525" cy="48773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7"/>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Arial"/>
              <a:buNone/>
              <a:defRPr sz="1200">
                <a:solidFill>
                  <a:srgbClr val="888888"/>
                </a:solidFill>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summary w/ icons">
  <p:cSld name="Executive summary w/ icons">
    <p:spTree>
      <p:nvGrpSpPr>
        <p:cNvPr id="62" name="Shape 62"/>
        <p:cNvGrpSpPr/>
        <p:nvPr/>
      </p:nvGrpSpPr>
      <p:grpSpPr>
        <a:xfrm>
          <a:off x="0" y="0"/>
          <a:ext cx="0" cy="0"/>
          <a:chOff x="0" y="0"/>
          <a:chExt cx="0" cy="0"/>
        </a:xfrm>
      </p:grpSpPr>
      <p:sp>
        <p:nvSpPr>
          <p:cNvPr id="63" name="Google Shape;63;p8"/>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8"/>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5" name="Google Shape;65;p8"/>
          <p:cNvSpPr txBox="1"/>
          <p:nvPr>
            <p:ph idx="1" type="body"/>
          </p:nvPr>
        </p:nvSpPr>
        <p:spPr>
          <a:xfrm>
            <a:off x="1684421" y="1330911"/>
            <a:ext cx="9577304"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8"/>
          <p:cNvSpPr/>
          <p:nvPr>
            <p:ph idx="2" type="pic"/>
          </p:nvPr>
        </p:nvSpPr>
        <p:spPr>
          <a:xfrm>
            <a:off x="457200" y="1330911"/>
            <a:ext cx="914400" cy="914400"/>
          </a:xfrm>
          <a:prstGeom prst="rect">
            <a:avLst/>
          </a:prstGeom>
          <a:noFill/>
          <a:ln>
            <a:noFill/>
          </a:ln>
        </p:spPr>
      </p:sp>
      <p:sp>
        <p:nvSpPr>
          <p:cNvPr id="67" name="Google Shape;67;p8"/>
          <p:cNvSpPr/>
          <p:nvPr>
            <p:ph idx="3" type="pic"/>
          </p:nvPr>
        </p:nvSpPr>
        <p:spPr>
          <a:xfrm>
            <a:off x="457200" y="2550111"/>
            <a:ext cx="914400" cy="914400"/>
          </a:xfrm>
          <a:prstGeom prst="rect">
            <a:avLst/>
          </a:prstGeom>
          <a:noFill/>
          <a:ln>
            <a:noFill/>
          </a:ln>
        </p:spPr>
      </p:sp>
      <p:sp>
        <p:nvSpPr>
          <p:cNvPr id="68" name="Google Shape;68;p8"/>
          <p:cNvSpPr txBox="1"/>
          <p:nvPr>
            <p:ph idx="4" type="body"/>
          </p:nvPr>
        </p:nvSpPr>
        <p:spPr>
          <a:xfrm>
            <a:off x="1684421" y="2550111"/>
            <a:ext cx="9577304"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8"/>
          <p:cNvSpPr/>
          <p:nvPr>
            <p:ph idx="5" type="pic"/>
          </p:nvPr>
        </p:nvSpPr>
        <p:spPr>
          <a:xfrm>
            <a:off x="457200" y="3843630"/>
            <a:ext cx="914400" cy="914400"/>
          </a:xfrm>
          <a:prstGeom prst="rect">
            <a:avLst/>
          </a:prstGeom>
          <a:noFill/>
          <a:ln>
            <a:noFill/>
          </a:ln>
        </p:spPr>
      </p:sp>
      <p:sp>
        <p:nvSpPr>
          <p:cNvPr id="70" name="Google Shape;70;p8"/>
          <p:cNvSpPr txBox="1"/>
          <p:nvPr>
            <p:ph idx="6" type="body"/>
          </p:nvPr>
        </p:nvSpPr>
        <p:spPr>
          <a:xfrm>
            <a:off x="1684421" y="3843630"/>
            <a:ext cx="9577304"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8"/>
          <p:cNvSpPr/>
          <p:nvPr>
            <p:ph idx="7" type="pic"/>
          </p:nvPr>
        </p:nvSpPr>
        <p:spPr>
          <a:xfrm>
            <a:off x="457200" y="5137150"/>
            <a:ext cx="914400" cy="914400"/>
          </a:xfrm>
          <a:prstGeom prst="rect">
            <a:avLst/>
          </a:prstGeom>
          <a:noFill/>
          <a:ln>
            <a:noFill/>
          </a:ln>
        </p:spPr>
      </p:sp>
      <p:sp>
        <p:nvSpPr>
          <p:cNvPr id="72" name="Google Shape;72;p8"/>
          <p:cNvSpPr txBox="1"/>
          <p:nvPr>
            <p:ph idx="8" type="body"/>
          </p:nvPr>
        </p:nvSpPr>
        <p:spPr>
          <a:xfrm>
            <a:off x="1684421" y="5137150"/>
            <a:ext cx="9577304"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8"/>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 w/o icons">
  <p:cSld name="2 col w/o icons">
    <p:spTree>
      <p:nvGrpSpPr>
        <p:cNvPr id="74" name="Shape 74"/>
        <p:cNvGrpSpPr/>
        <p:nvPr/>
      </p:nvGrpSpPr>
      <p:grpSpPr>
        <a:xfrm>
          <a:off x="0" y="0"/>
          <a:ext cx="0" cy="0"/>
          <a:chOff x="0" y="0"/>
          <a:chExt cx="0" cy="0"/>
        </a:xfrm>
      </p:grpSpPr>
      <p:sp>
        <p:nvSpPr>
          <p:cNvPr id="75" name="Google Shape;75;p9"/>
          <p:cNvSpPr/>
          <p:nvPr/>
        </p:nvSpPr>
        <p:spPr>
          <a:xfrm>
            <a:off x="0" y="2342782"/>
            <a:ext cx="6096000"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cxnSp>
        <p:nvCxnSpPr>
          <p:cNvPr id="76" name="Google Shape;76;p9"/>
          <p:cNvCxnSpPr/>
          <p:nvPr/>
        </p:nvCxnSpPr>
        <p:spPr>
          <a:xfrm flipH="1" rot="10800000">
            <a:off x="-38981" y="2342781"/>
            <a:ext cx="12269960" cy="1"/>
          </a:xfrm>
          <a:prstGeom prst="straightConnector1">
            <a:avLst/>
          </a:prstGeom>
          <a:noFill/>
          <a:ln cap="flat" cmpd="sng" w="25400">
            <a:solidFill>
              <a:srgbClr val="2DCCD3"/>
            </a:solidFill>
            <a:prstDash val="solid"/>
            <a:round/>
            <a:headEnd len="sm" w="sm" type="none"/>
            <a:tailEnd len="sm" w="sm" type="none"/>
          </a:ln>
        </p:spPr>
      </p:cxnSp>
      <p:sp>
        <p:nvSpPr>
          <p:cNvPr id="77" name="Google Shape;77;p9"/>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9"/>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9"/>
          <p:cNvSpPr txBox="1"/>
          <p:nvPr>
            <p:ph idx="1" type="body"/>
          </p:nvPr>
        </p:nvSpPr>
        <p:spPr>
          <a:xfrm>
            <a:off x="457200" y="1371600"/>
            <a:ext cx="10091738" cy="67966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1800"/>
              <a:buFont typeface="Arial"/>
              <a:buNone/>
              <a:defRPr sz="1800"/>
            </a:lvl1pPr>
            <a:lvl2pPr indent="-342900" lvl="1" marL="914400" algn="l">
              <a:lnSpc>
                <a:spcPct val="90000"/>
              </a:lnSpc>
              <a:spcBef>
                <a:spcPts val="500"/>
              </a:spcBef>
              <a:spcAft>
                <a:spcPts val="0"/>
              </a:spcAft>
              <a:buSzPts val="1800"/>
              <a:buChar char="•"/>
              <a:defRPr sz="1800"/>
            </a:lvl2pPr>
            <a:lvl3pPr indent="-342900" lvl="2" marL="1371600" algn="l">
              <a:lnSpc>
                <a:spcPct val="90000"/>
              </a:lnSpc>
              <a:spcBef>
                <a:spcPts val="500"/>
              </a:spcBef>
              <a:spcAft>
                <a:spcPts val="0"/>
              </a:spcAft>
              <a:buSzPts val="1800"/>
              <a:buChar char="•"/>
              <a:defRPr sz="1800"/>
            </a:lvl3pPr>
            <a:lvl4pPr indent="-342900" lvl="3" marL="1828800" algn="l">
              <a:lnSpc>
                <a:spcPct val="90000"/>
              </a:lnSpc>
              <a:spcBef>
                <a:spcPts val="500"/>
              </a:spcBef>
              <a:spcAft>
                <a:spcPts val="0"/>
              </a:spcAft>
              <a:buSzPts val="1800"/>
              <a:buChar char="•"/>
              <a:defRPr sz="1800"/>
            </a:lvl4pPr>
            <a:lvl5pPr indent="-342900" lvl="4" marL="2286000" algn="l">
              <a:lnSpc>
                <a:spcPct val="90000"/>
              </a:lnSpc>
              <a:spcBef>
                <a:spcPts val="5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9"/>
          <p:cNvSpPr txBox="1"/>
          <p:nvPr>
            <p:ph idx="2" type="body"/>
          </p:nvPr>
        </p:nvSpPr>
        <p:spPr>
          <a:xfrm>
            <a:off x="745065" y="2978626"/>
            <a:ext cx="4882896"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9"/>
          <p:cNvSpPr txBox="1"/>
          <p:nvPr>
            <p:ph idx="3" type="body"/>
          </p:nvPr>
        </p:nvSpPr>
        <p:spPr>
          <a:xfrm>
            <a:off x="6519333" y="2978626"/>
            <a:ext cx="4882896"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9"/>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87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 w/ icons">
  <p:cSld name="2 col w/ icons">
    <p:spTree>
      <p:nvGrpSpPr>
        <p:cNvPr id="83" name="Shape 83"/>
        <p:cNvGrpSpPr/>
        <p:nvPr/>
      </p:nvGrpSpPr>
      <p:grpSpPr>
        <a:xfrm>
          <a:off x="0" y="0"/>
          <a:ext cx="0" cy="0"/>
          <a:chOff x="0" y="0"/>
          <a:chExt cx="0" cy="0"/>
        </a:xfrm>
      </p:grpSpPr>
      <p:sp>
        <p:nvSpPr>
          <p:cNvPr id="84" name="Google Shape;84;p10"/>
          <p:cNvSpPr/>
          <p:nvPr/>
        </p:nvSpPr>
        <p:spPr>
          <a:xfrm>
            <a:off x="0" y="2342782"/>
            <a:ext cx="6096000"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85" name="Google Shape;85;p10"/>
          <p:cNvSpPr txBox="1"/>
          <p:nvPr>
            <p:ph type="title"/>
          </p:nvPr>
        </p:nvSpPr>
        <p:spPr>
          <a:xfrm>
            <a:off x="457200" y="152401"/>
            <a:ext cx="8374284"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0"/>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7" name="Google Shape;87;p10"/>
          <p:cNvSpPr txBox="1"/>
          <p:nvPr>
            <p:ph idx="1" type="body"/>
          </p:nvPr>
        </p:nvSpPr>
        <p:spPr>
          <a:xfrm>
            <a:off x="457200" y="1371600"/>
            <a:ext cx="10091738" cy="67711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1800"/>
              <a:buFont typeface="Arial"/>
              <a:buNone/>
              <a:defRPr sz="1800"/>
            </a:lvl1pPr>
            <a:lvl2pPr indent="-342900" lvl="1" marL="914400" algn="l">
              <a:lnSpc>
                <a:spcPct val="90000"/>
              </a:lnSpc>
              <a:spcBef>
                <a:spcPts val="500"/>
              </a:spcBef>
              <a:spcAft>
                <a:spcPts val="0"/>
              </a:spcAft>
              <a:buSzPts val="1800"/>
              <a:buChar char="•"/>
              <a:defRPr sz="1800"/>
            </a:lvl2pPr>
            <a:lvl3pPr indent="-342900" lvl="2" marL="1371600" algn="l">
              <a:lnSpc>
                <a:spcPct val="90000"/>
              </a:lnSpc>
              <a:spcBef>
                <a:spcPts val="500"/>
              </a:spcBef>
              <a:spcAft>
                <a:spcPts val="0"/>
              </a:spcAft>
              <a:buSzPts val="1800"/>
              <a:buChar char="•"/>
              <a:defRPr sz="1800"/>
            </a:lvl3pPr>
            <a:lvl4pPr indent="-342900" lvl="3" marL="1828800" algn="l">
              <a:lnSpc>
                <a:spcPct val="90000"/>
              </a:lnSpc>
              <a:spcBef>
                <a:spcPts val="500"/>
              </a:spcBef>
              <a:spcAft>
                <a:spcPts val="0"/>
              </a:spcAft>
              <a:buSzPts val="1800"/>
              <a:buChar char="•"/>
              <a:defRPr sz="1800"/>
            </a:lvl4pPr>
            <a:lvl5pPr indent="-342900" lvl="4" marL="2286000" algn="l">
              <a:lnSpc>
                <a:spcPct val="90000"/>
              </a:lnSpc>
              <a:spcBef>
                <a:spcPts val="5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0"/>
          <p:cNvSpPr txBox="1"/>
          <p:nvPr>
            <p:ph idx="2" type="body"/>
          </p:nvPr>
        </p:nvSpPr>
        <p:spPr>
          <a:xfrm>
            <a:off x="745065" y="4114800"/>
            <a:ext cx="4882896" cy="2082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0"/>
          <p:cNvSpPr txBox="1"/>
          <p:nvPr>
            <p:ph idx="3" type="body"/>
          </p:nvPr>
        </p:nvSpPr>
        <p:spPr>
          <a:xfrm>
            <a:off x="6519333" y="4114800"/>
            <a:ext cx="4882896" cy="2082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10"/>
          <p:cNvSpPr/>
          <p:nvPr>
            <p:ph idx="4" type="pic"/>
          </p:nvPr>
        </p:nvSpPr>
        <p:spPr>
          <a:xfrm>
            <a:off x="2729313" y="2971800"/>
            <a:ext cx="914400" cy="914400"/>
          </a:xfrm>
          <a:prstGeom prst="rect">
            <a:avLst/>
          </a:prstGeom>
          <a:noFill/>
          <a:ln>
            <a:noFill/>
          </a:ln>
        </p:spPr>
      </p:sp>
      <p:sp>
        <p:nvSpPr>
          <p:cNvPr id="91" name="Google Shape;91;p10"/>
          <p:cNvSpPr/>
          <p:nvPr>
            <p:ph idx="5" type="pic"/>
          </p:nvPr>
        </p:nvSpPr>
        <p:spPr>
          <a:xfrm>
            <a:off x="8503581" y="2971800"/>
            <a:ext cx="914400" cy="914400"/>
          </a:xfrm>
          <a:prstGeom prst="rect">
            <a:avLst/>
          </a:prstGeom>
          <a:noFill/>
          <a:ln>
            <a:noFill/>
          </a:ln>
        </p:spPr>
      </p:sp>
      <p:sp>
        <p:nvSpPr>
          <p:cNvPr id="92" name="Google Shape;92;p10"/>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3" name="Google Shape;93;p10"/>
          <p:cNvCxnSpPr/>
          <p:nvPr/>
        </p:nvCxnSpPr>
        <p:spPr>
          <a:xfrm flipH="1" rot="10800000">
            <a:off x="-38981" y="2342781"/>
            <a:ext cx="12269960" cy="1"/>
          </a:xfrm>
          <a:prstGeom prst="straightConnector1">
            <a:avLst/>
          </a:prstGeom>
          <a:noFill/>
          <a:ln cap="flat" cmpd="sng" w="25400">
            <a:solidFill>
              <a:srgbClr val="2DCCD3"/>
            </a:solidFill>
            <a:prstDash val="solid"/>
            <a:round/>
            <a:headEnd len="sm" w="sm" type="none"/>
            <a:tailEnd len="sm" w="sm" type="none"/>
          </a:ln>
        </p:spPr>
      </p:cxnSp>
    </p:spTree>
  </p:cSld>
  <p:clrMapOvr>
    <a:masterClrMapping/>
  </p:clrMapOvr>
  <p:extLst>
    <p:ext uri="{DCECCB84-F9BA-43D5-87BE-67443E8EF086}">
      <p15:sldGuideLst>
        <p15:guide id="1" orient="horz" pos="1872">
          <p15:clr>
            <a:srgbClr val="FBAE40"/>
          </p15:clr>
        </p15:guide>
        <p15:guide id="2" orient="horz" pos="25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 w/ icons">
  <p:cSld name="3 col w/ icons">
    <p:spTree>
      <p:nvGrpSpPr>
        <p:cNvPr id="94" name="Shape 94"/>
        <p:cNvGrpSpPr/>
        <p:nvPr/>
      </p:nvGrpSpPr>
      <p:grpSpPr>
        <a:xfrm>
          <a:off x="0" y="0"/>
          <a:ext cx="0" cy="0"/>
          <a:chOff x="0" y="0"/>
          <a:chExt cx="0" cy="0"/>
        </a:xfrm>
      </p:grpSpPr>
      <p:sp>
        <p:nvSpPr>
          <p:cNvPr id="95" name="Google Shape;95;p11"/>
          <p:cNvSpPr/>
          <p:nvPr/>
        </p:nvSpPr>
        <p:spPr>
          <a:xfrm>
            <a:off x="4942" y="2342782"/>
            <a:ext cx="4077549"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96" name="Google Shape;96;p11"/>
          <p:cNvSpPr/>
          <p:nvPr/>
        </p:nvSpPr>
        <p:spPr>
          <a:xfrm>
            <a:off x="8153430" y="2342782"/>
            <a:ext cx="4077549"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97" name="Google Shape;97;p11"/>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1"/>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9" name="Google Shape;99;p11"/>
          <p:cNvSpPr txBox="1"/>
          <p:nvPr>
            <p:ph idx="1" type="body"/>
          </p:nvPr>
        </p:nvSpPr>
        <p:spPr>
          <a:xfrm>
            <a:off x="457200" y="1371600"/>
            <a:ext cx="10091738" cy="67711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1800"/>
              <a:buFont typeface="Arial"/>
              <a:buNone/>
              <a:defRPr sz="1800"/>
            </a:lvl1pPr>
            <a:lvl2pPr indent="-342900" lvl="1" marL="914400" algn="l">
              <a:lnSpc>
                <a:spcPct val="90000"/>
              </a:lnSpc>
              <a:spcBef>
                <a:spcPts val="500"/>
              </a:spcBef>
              <a:spcAft>
                <a:spcPts val="0"/>
              </a:spcAft>
              <a:buSzPts val="1800"/>
              <a:buChar char="•"/>
              <a:defRPr sz="1800"/>
            </a:lvl2pPr>
            <a:lvl3pPr indent="-342900" lvl="2" marL="1371600" algn="l">
              <a:lnSpc>
                <a:spcPct val="90000"/>
              </a:lnSpc>
              <a:spcBef>
                <a:spcPts val="500"/>
              </a:spcBef>
              <a:spcAft>
                <a:spcPts val="0"/>
              </a:spcAft>
              <a:buSzPts val="1800"/>
              <a:buChar char="•"/>
              <a:defRPr sz="1800"/>
            </a:lvl3pPr>
            <a:lvl4pPr indent="-342900" lvl="3" marL="1828800" algn="l">
              <a:lnSpc>
                <a:spcPct val="90000"/>
              </a:lnSpc>
              <a:spcBef>
                <a:spcPts val="500"/>
              </a:spcBef>
              <a:spcAft>
                <a:spcPts val="0"/>
              </a:spcAft>
              <a:buSzPts val="1800"/>
              <a:buChar char="•"/>
              <a:defRPr sz="1800"/>
            </a:lvl4pPr>
            <a:lvl5pPr indent="-342900" lvl="4" marL="2286000" algn="l">
              <a:lnSpc>
                <a:spcPct val="90000"/>
              </a:lnSpc>
              <a:spcBef>
                <a:spcPts val="5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1"/>
          <p:cNvSpPr txBox="1"/>
          <p:nvPr>
            <p:ph idx="2" type="body"/>
          </p:nvPr>
        </p:nvSpPr>
        <p:spPr>
          <a:xfrm>
            <a:off x="530384" y="4114800"/>
            <a:ext cx="3026664" cy="2082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1"/>
          <p:cNvSpPr txBox="1"/>
          <p:nvPr>
            <p:ph idx="3" type="body"/>
          </p:nvPr>
        </p:nvSpPr>
        <p:spPr>
          <a:xfrm>
            <a:off x="4582667" y="4114800"/>
            <a:ext cx="3026664" cy="2082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11"/>
          <p:cNvSpPr txBox="1"/>
          <p:nvPr>
            <p:ph idx="4" type="body"/>
          </p:nvPr>
        </p:nvSpPr>
        <p:spPr>
          <a:xfrm>
            <a:off x="8653606" y="4114800"/>
            <a:ext cx="3026664" cy="2082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11"/>
          <p:cNvSpPr/>
          <p:nvPr>
            <p:ph idx="5" type="pic"/>
          </p:nvPr>
        </p:nvSpPr>
        <p:spPr>
          <a:xfrm>
            <a:off x="1633347" y="3003326"/>
            <a:ext cx="820738" cy="820738"/>
          </a:xfrm>
          <a:prstGeom prst="rect">
            <a:avLst/>
          </a:prstGeom>
          <a:noFill/>
          <a:ln>
            <a:noFill/>
          </a:ln>
        </p:spPr>
      </p:sp>
      <p:sp>
        <p:nvSpPr>
          <p:cNvPr id="104" name="Google Shape;104;p11"/>
          <p:cNvSpPr/>
          <p:nvPr>
            <p:ph idx="6" type="pic"/>
          </p:nvPr>
        </p:nvSpPr>
        <p:spPr>
          <a:xfrm>
            <a:off x="5685630" y="3003326"/>
            <a:ext cx="820738" cy="820738"/>
          </a:xfrm>
          <a:prstGeom prst="rect">
            <a:avLst/>
          </a:prstGeom>
          <a:noFill/>
          <a:ln>
            <a:noFill/>
          </a:ln>
        </p:spPr>
      </p:sp>
      <p:sp>
        <p:nvSpPr>
          <p:cNvPr id="105" name="Google Shape;105;p11"/>
          <p:cNvSpPr/>
          <p:nvPr>
            <p:ph idx="7" type="pic"/>
          </p:nvPr>
        </p:nvSpPr>
        <p:spPr>
          <a:xfrm>
            <a:off x="9756569" y="3003326"/>
            <a:ext cx="820738" cy="820738"/>
          </a:xfrm>
          <a:prstGeom prst="rect">
            <a:avLst/>
          </a:prstGeom>
          <a:noFill/>
          <a:ln>
            <a:noFill/>
          </a:ln>
        </p:spPr>
      </p:sp>
      <p:sp>
        <p:nvSpPr>
          <p:cNvPr id="106" name="Google Shape;106;p11"/>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07" name="Google Shape;107;p11"/>
          <p:cNvCxnSpPr/>
          <p:nvPr/>
        </p:nvCxnSpPr>
        <p:spPr>
          <a:xfrm flipH="1" rot="10800000">
            <a:off x="-38981" y="2342781"/>
            <a:ext cx="12269960" cy="1"/>
          </a:xfrm>
          <a:prstGeom prst="straightConnector1">
            <a:avLst/>
          </a:prstGeom>
          <a:noFill/>
          <a:ln cap="flat" cmpd="sng" w="25400">
            <a:solidFill>
              <a:srgbClr val="2DCCD3"/>
            </a:solidFill>
            <a:prstDash val="solid"/>
            <a:round/>
            <a:headEnd len="sm" w="sm" type="none"/>
            <a:tailEnd len="sm" w="sm" type="none"/>
          </a:ln>
        </p:spPr>
      </p:cxnSp>
    </p:spTree>
  </p:cSld>
  <p:clrMapOvr>
    <a:masterClrMapping/>
  </p:clrMapOvr>
  <p:extLst>
    <p:ext uri="{DCECCB84-F9BA-43D5-87BE-67443E8EF086}">
      <p15:sldGuideLst>
        <p15:guide id="1" orient="horz" pos="1872">
          <p15:clr>
            <a:srgbClr val="FBAE40"/>
          </p15:clr>
        </p15:guide>
        <p15:guide id="2" orient="horz" pos="2424">
          <p15:clr>
            <a:srgbClr val="FBAE40"/>
          </p15:clr>
        </p15:guide>
        <p15:guide id="3" orient="horz" pos="25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 w/o icons">
  <p:cSld name="4 col w/o icons">
    <p:spTree>
      <p:nvGrpSpPr>
        <p:cNvPr id="108" name="Shape 108"/>
        <p:cNvGrpSpPr/>
        <p:nvPr/>
      </p:nvGrpSpPr>
      <p:grpSpPr>
        <a:xfrm>
          <a:off x="0" y="0"/>
          <a:ext cx="0" cy="0"/>
          <a:chOff x="0" y="0"/>
          <a:chExt cx="0" cy="0"/>
        </a:xfrm>
      </p:grpSpPr>
      <p:sp>
        <p:nvSpPr>
          <p:cNvPr id="109" name="Google Shape;109;p12"/>
          <p:cNvSpPr/>
          <p:nvPr/>
        </p:nvSpPr>
        <p:spPr>
          <a:xfrm>
            <a:off x="6566" y="2342782"/>
            <a:ext cx="3058059"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110" name="Google Shape;110;p12"/>
          <p:cNvSpPr/>
          <p:nvPr/>
        </p:nvSpPr>
        <p:spPr>
          <a:xfrm>
            <a:off x="6100708" y="2342782"/>
            <a:ext cx="3058059"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111" name="Google Shape;111;p12"/>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2"/>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3" name="Google Shape;113;p12"/>
          <p:cNvSpPr txBox="1"/>
          <p:nvPr>
            <p:ph idx="1" type="body"/>
          </p:nvPr>
        </p:nvSpPr>
        <p:spPr>
          <a:xfrm>
            <a:off x="457200" y="1371600"/>
            <a:ext cx="10091738" cy="67711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1800"/>
              <a:buFont typeface="Arial"/>
              <a:buNone/>
              <a:defRPr sz="1800"/>
            </a:lvl1pPr>
            <a:lvl2pPr indent="-342900" lvl="1" marL="914400" algn="l">
              <a:lnSpc>
                <a:spcPct val="90000"/>
              </a:lnSpc>
              <a:spcBef>
                <a:spcPts val="500"/>
              </a:spcBef>
              <a:spcAft>
                <a:spcPts val="0"/>
              </a:spcAft>
              <a:buSzPts val="1800"/>
              <a:buChar char="•"/>
              <a:defRPr sz="1800"/>
            </a:lvl2pPr>
            <a:lvl3pPr indent="-342900" lvl="2" marL="1371600" algn="l">
              <a:lnSpc>
                <a:spcPct val="90000"/>
              </a:lnSpc>
              <a:spcBef>
                <a:spcPts val="500"/>
              </a:spcBef>
              <a:spcAft>
                <a:spcPts val="0"/>
              </a:spcAft>
              <a:buSzPts val="1800"/>
              <a:buChar char="•"/>
              <a:defRPr sz="1800"/>
            </a:lvl3pPr>
            <a:lvl4pPr indent="-342900" lvl="3" marL="1828800" algn="l">
              <a:lnSpc>
                <a:spcPct val="90000"/>
              </a:lnSpc>
              <a:spcBef>
                <a:spcPts val="500"/>
              </a:spcBef>
              <a:spcAft>
                <a:spcPts val="0"/>
              </a:spcAft>
              <a:buSzPts val="1800"/>
              <a:buChar char="•"/>
              <a:defRPr sz="1800"/>
            </a:lvl4pPr>
            <a:lvl5pPr indent="-342900" lvl="4" marL="2286000" algn="l">
              <a:lnSpc>
                <a:spcPct val="90000"/>
              </a:lnSpc>
              <a:spcBef>
                <a:spcPts val="5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2"/>
          <p:cNvSpPr txBox="1"/>
          <p:nvPr>
            <p:ph idx="2" type="body"/>
          </p:nvPr>
        </p:nvSpPr>
        <p:spPr>
          <a:xfrm>
            <a:off x="530384" y="2978626"/>
            <a:ext cx="2212848"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12"/>
          <p:cNvSpPr txBox="1"/>
          <p:nvPr>
            <p:ph idx="3" type="body"/>
          </p:nvPr>
        </p:nvSpPr>
        <p:spPr>
          <a:xfrm>
            <a:off x="3476242" y="2978626"/>
            <a:ext cx="2212848"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12"/>
          <p:cNvSpPr txBox="1"/>
          <p:nvPr>
            <p:ph idx="4" type="body"/>
          </p:nvPr>
        </p:nvSpPr>
        <p:spPr>
          <a:xfrm>
            <a:off x="6523313" y="2978626"/>
            <a:ext cx="2212848"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12"/>
          <p:cNvSpPr txBox="1"/>
          <p:nvPr>
            <p:ph idx="5" type="body"/>
          </p:nvPr>
        </p:nvSpPr>
        <p:spPr>
          <a:xfrm>
            <a:off x="9440420" y="2978626"/>
            <a:ext cx="2212848" cy="31638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12"/>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19" name="Google Shape;119;p12"/>
          <p:cNvCxnSpPr/>
          <p:nvPr/>
        </p:nvCxnSpPr>
        <p:spPr>
          <a:xfrm flipH="1" rot="10800000">
            <a:off x="-38981" y="2342781"/>
            <a:ext cx="12269960" cy="1"/>
          </a:xfrm>
          <a:prstGeom prst="straightConnector1">
            <a:avLst/>
          </a:prstGeom>
          <a:noFill/>
          <a:ln cap="flat" cmpd="sng" w="25400">
            <a:solidFill>
              <a:srgbClr val="2DCCD3"/>
            </a:solidFill>
            <a:prstDash val="solid"/>
            <a:round/>
            <a:headEnd len="sm" w="sm" type="none"/>
            <a:tailEnd len="sm" w="sm" type="none"/>
          </a:ln>
        </p:spPr>
      </p:cxnSp>
    </p:spTree>
  </p:cSld>
  <p:clrMapOvr>
    <a:masterClrMapping/>
  </p:clrMapOvr>
  <p:extLst>
    <p:ext uri="{DCECCB84-F9BA-43D5-87BE-67443E8EF086}">
      <p15:sldGuideLst>
        <p15:guide id="1" orient="horz" pos="1872">
          <p15:clr>
            <a:srgbClr val="FBAE40"/>
          </p15:clr>
        </p15:guide>
        <p15:guide id="2" pos="3840">
          <p15:clr>
            <a:srgbClr val="FBAE40"/>
          </p15:clr>
        </p15:guide>
        <p15:guide id="3" pos="1920">
          <p15:clr>
            <a:srgbClr val="FBAE40"/>
          </p15:clr>
        </p15:guide>
        <p15:guide id="4" pos="57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 w/ icons">
  <p:cSld name="4 col w/ icons">
    <p:spTree>
      <p:nvGrpSpPr>
        <p:cNvPr id="120" name="Shape 120"/>
        <p:cNvGrpSpPr/>
        <p:nvPr/>
      </p:nvGrpSpPr>
      <p:grpSpPr>
        <a:xfrm>
          <a:off x="0" y="0"/>
          <a:ext cx="0" cy="0"/>
          <a:chOff x="0" y="0"/>
          <a:chExt cx="0" cy="0"/>
        </a:xfrm>
      </p:grpSpPr>
      <p:sp>
        <p:nvSpPr>
          <p:cNvPr id="121" name="Google Shape;121;p13"/>
          <p:cNvSpPr/>
          <p:nvPr/>
        </p:nvSpPr>
        <p:spPr>
          <a:xfrm>
            <a:off x="0" y="2342782"/>
            <a:ext cx="3058059"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122" name="Google Shape;122;p13"/>
          <p:cNvSpPr/>
          <p:nvPr/>
        </p:nvSpPr>
        <p:spPr>
          <a:xfrm>
            <a:off x="6100708" y="2342782"/>
            <a:ext cx="3058059"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123" name="Google Shape;123;p13"/>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3"/>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5" name="Google Shape;125;p13"/>
          <p:cNvSpPr txBox="1"/>
          <p:nvPr>
            <p:ph idx="1" type="body"/>
          </p:nvPr>
        </p:nvSpPr>
        <p:spPr>
          <a:xfrm>
            <a:off x="457200" y="1371600"/>
            <a:ext cx="10091738" cy="677119"/>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1800"/>
              <a:buFont typeface="Arial"/>
              <a:buNone/>
              <a:defRPr sz="1800"/>
            </a:lvl1pPr>
            <a:lvl2pPr indent="-342900" lvl="1" marL="914400" algn="l">
              <a:lnSpc>
                <a:spcPct val="90000"/>
              </a:lnSpc>
              <a:spcBef>
                <a:spcPts val="500"/>
              </a:spcBef>
              <a:spcAft>
                <a:spcPts val="0"/>
              </a:spcAft>
              <a:buSzPts val="1800"/>
              <a:buChar char="•"/>
              <a:defRPr sz="1800"/>
            </a:lvl2pPr>
            <a:lvl3pPr indent="-342900" lvl="2" marL="1371600" algn="l">
              <a:lnSpc>
                <a:spcPct val="90000"/>
              </a:lnSpc>
              <a:spcBef>
                <a:spcPts val="500"/>
              </a:spcBef>
              <a:spcAft>
                <a:spcPts val="0"/>
              </a:spcAft>
              <a:buSzPts val="1800"/>
              <a:buChar char="•"/>
              <a:defRPr sz="1800"/>
            </a:lvl3pPr>
            <a:lvl4pPr indent="-342900" lvl="3" marL="1828800" algn="l">
              <a:lnSpc>
                <a:spcPct val="90000"/>
              </a:lnSpc>
              <a:spcBef>
                <a:spcPts val="500"/>
              </a:spcBef>
              <a:spcAft>
                <a:spcPts val="0"/>
              </a:spcAft>
              <a:buSzPts val="1800"/>
              <a:buChar char="•"/>
              <a:defRPr sz="1800"/>
            </a:lvl4pPr>
            <a:lvl5pPr indent="-342900" lvl="4" marL="2286000" algn="l">
              <a:lnSpc>
                <a:spcPct val="90000"/>
              </a:lnSpc>
              <a:spcBef>
                <a:spcPts val="500"/>
              </a:spcBef>
              <a:spcAft>
                <a:spcPts val="0"/>
              </a:spcAft>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13"/>
          <p:cNvSpPr txBox="1"/>
          <p:nvPr>
            <p:ph idx="2" type="body"/>
          </p:nvPr>
        </p:nvSpPr>
        <p:spPr>
          <a:xfrm>
            <a:off x="530384" y="4125593"/>
            <a:ext cx="2212848" cy="20787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13"/>
          <p:cNvSpPr txBox="1"/>
          <p:nvPr>
            <p:ph idx="3" type="body"/>
          </p:nvPr>
        </p:nvSpPr>
        <p:spPr>
          <a:xfrm>
            <a:off x="3476242" y="4125593"/>
            <a:ext cx="2212848" cy="20787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13"/>
          <p:cNvSpPr txBox="1"/>
          <p:nvPr>
            <p:ph idx="4" type="body"/>
          </p:nvPr>
        </p:nvSpPr>
        <p:spPr>
          <a:xfrm>
            <a:off x="6523313" y="4125593"/>
            <a:ext cx="2212848" cy="20787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13"/>
          <p:cNvSpPr txBox="1"/>
          <p:nvPr>
            <p:ph idx="5" type="body"/>
          </p:nvPr>
        </p:nvSpPr>
        <p:spPr>
          <a:xfrm>
            <a:off x="9440420" y="4125593"/>
            <a:ext cx="2212848" cy="20787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400"/>
              <a:buFont typeface="Arial"/>
              <a:buNone/>
              <a:defRPr sz="14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13"/>
          <p:cNvSpPr/>
          <p:nvPr>
            <p:ph idx="6" type="pic"/>
          </p:nvPr>
        </p:nvSpPr>
        <p:spPr>
          <a:xfrm>
            <a:off x="1226439" y="3000910"/>
            <a:ext cx="820738" cy="820738"/>
          </a:xfrm>
          <a:prstGeom prst="rect">
            <a:avLst/>
          </a:prstGeom>
          <a:noFill/>
          <a:ln>
            <a:noFill/>
          </a:ln>
        </p:spPr>
      </p:sp>
      <p:sp>
        <p:nvSpPr>
          <p:cNvPr id="131" name="Google Shape;131;p13"/>
          <p:cNvSpPr/>
          <p:nvPr>
            <p:ph idx="7" type="pic"/>
          </p:nvPr>
        </p:nvSpPr>
        <p:spPr>
          <a:xfrm>
            <a:off x="4172297" y="3000910"/>
            <a:ext cx="820738" cy="820738"/>
          </a:xfrm>
          <a:prstGeom prst="rect">
            <a:avLst/>
          </a:prstGeom>
          <a:noFill/>
          <a:ln>
            <a:noFill/>
          </a:ln>
        </p:spPr>
      </p:sp>
      <p:sp>
        <p:nvSpPr>
          <p:cNvPr id="132" name="Google Shape;132;p13"/>
          <p:cNvSpPr/>
          <p:nvPr>
            <p:ph idx="8" type="pic"/>
          </p:nvPr>
        </p:nvSpPr>
        <p:spPr>
          <a:xfrm>
            <a:off x="7219368" y="3000910"/>
            <a:ext cx="820738" cy="820738"/>
          </a:xfrm>
          <a:prstGeom prst="rect">
            <a:avLst/>
          </a:prstGeom>
          <a:noFill/>
          <a:ln>
            <a:noFill/>
          </a:ln>
        </p:spPr>
      </p:sp>
      <p:sp>
        <p:nvSpPr>
          <p:cNvPr id="133" name="Google Shape;133;p13"/>
          <p:cNvSpPr/>
          <p:nvPr>
            <p:ph idx="9" type="pic"/>
          </p:nvPr>
        </p:nvSpPr>
        <p:spPr>
          <a:xfrm>
            <a:off x="10136475" y="3000910"/>
            <a:ext cx="820738" cy="820738"/>
          </a:xfrm>
          <a:prstGeom prst="rect">
            <a:avLst/>
          </a:prstGeom>
          <a:noFill/>
          <a:ln>
            <a:noFill/>
          </a:ln>
        </p:spPr>
      </p:sp>
      <p:sp>
        <p:nvSpPr>
          <p:cNvPr id="134" name="Google Shape;134;p13"/>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35" name="Google Shape;135;p13"/>
          <p:cNvCxnSpPr/>
          <p:nvPr/>
        </p:nvCxnSpPr>
        <p:spPr>
          <a:xfrm flipH="1" rot="10800000">
            <a:off x="-38981" y="2342781"/>
            <a:ext cx="12269960" cy="1"/>
          </a:xfrm>
          <a:prstGeom prst="straightConnector1">
            <a:avLst/>
          </a:prstGeom>
          <a:noFill/>
          <a:ln cap="flat" cmpd="sng" w="25400">
            <a:solidFill>
              <a:srgbClr val="2DCCD3"/>
            </a:solidFill>
            <a:prstDash val="solid"/>
            <a:round/>
            <a:headEnd len="sm" w="sm" type="none"/>
            <a:tailEnd len="sm" w="sm" type="none"/>
          </a:ln>
        </p:spPr>
      </p:cxnSp>
    </p:spTree>
  </p:cSld>
  <p:clrMapOvr>
    <a:masterClrMapping/>
  </p:clrMapOvr>
  <p:extLst>
    <p:ext uri="{DCECCB84-F9BA-43D5-87BE-67443E8EF086}">
      <p15:sldGuideLst>
        <p15:guide id="1" orient="horz" pos="1872">
          <p15:clr>
            <a:srgbClr val="FBAE40"/>
          </p15:clr>
        </p15:guide>
        <p15:guide id="2" pos="3840">
          <p15:clr>
            <a:srgbClr val="FBAE40"/>
          </p15:clr>
        </p15:guide>
        <p15:guide id="3" pos="1920">
          <p15:clr>
            <a:srgbClr val="FBAE40"/>
          </p15:clr>
        </p15:guide>
        <p15:guide id="4" pos="5760">
          <p15:clr>
            <a:srgbClr val="FBAE40"/>
          </p15:clr>
        </p15:guide>
        <p15:guide id="5" orient="horz" pos="2424">
          <p15:clr>
            <a:srgbClr val="FBAE40"/>
          </p15:clr>
        </p15:guide>
        <p15:guide id="6" orient="horz" pos="25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rvey Methodology">
  <p:cSld name="Survey Methodology">
    <p:spTree>
      <p:nvGrpSpPr>
        <p:cNvPr id="136" name="Shape 136"/>
        <p:cNvGrpSpPr/>
        <p:nvPr/>
      </p:nvGrpSpPr>
      <p:grpSpPr>
        <a:xfrm>
          <a:off x="0" y="0"/>
          <a:ext cx="0" cy="0"/>
          <a:chOff x="0" y="0"/>
          <a:chExt cx="0" cy="0"/>
        </a:xfrm>
      </p:grpSpPr>
      <p:sp>
        <p:nvSpPr>
          <p:cNvPr id="137" name="Google Shape;137;p14"/>
          <p:cNvSpPr/>
          <p:nvPr/>
        </p:nvSpPr>
        <p:spPr>
          <a:xfrm>
            <a:off x="0" y="2342781"/>
            <a:ext cx="4671752" cy="4515219"/>
          </a:xfrm>
          <a:prstGeom prst="rect">
            <a:avLst/>
          </a:prstGeom>
          <a:solidFill>
            <a:srgbClr val="F4F4F4"/>
          </a:solidFill>
          <a:ln>
            <a:noFill/>
          </a:ln>
        </p:spPr>
        <p:txBody>
          <a:bodyPr anchorCtr="0" anchor="ctr" bIns="67700" lIns="67700" spcFirstLastPara="1" rIns="67700" wrap="square" tIns="67700">
            <a:noAutofit/>
          </a:bodyPr>
          <a:lstStyle/>
          <a:p>
            <a:pPr indent="0" lvl="0" marL="0" marR="0" rtl="0" algn="ctr">
              <a:spcBef>
                <a:spcPts val="0"/>
              </a:spcBef>
              <a:spcAft>
                <a:spcPts val="0"/>
              </a:spcAft>
              <a:buNone/>
            </a:pPr>
            <a:r>
              <a:t/>
            </a:r>
            <a:endParaRPr sz="4266">
              <a:solidFill>
                <a:schemeClr val="dk1"/>
              </a:solidFill>
              <a:latin typeface="Arial"/>
              <a:ea typeface="Arial"/>
              <a:cs typeface="Arial"/>
              <a:sym typeface="Arial"/>
            </a:endParaRPr>
          </a:p>
        </p:txBody>
      </p:sp>
      <p:sp>
        <p:nvSpPr>
          <p:cNvPr id="138" name="Google Shape;138;p14"/>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14"/>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0" name="Google Shape;140;p14"/>
          <p:cNvSpPr txBox="1"/>
          <p:nvPr>
            <p:ph idx="1" type="body"/>
          </p:nvPr>
        </p:nvSpPr>
        <p:spPr>
          <a:xfrm>
            <a:off x="457200" y="1371601"/>
            <a:ext cx="8836702" cy="6722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14"/>
          <p:cNvSpPr txBox="1"/>
          <p:nvPr>
            <p:ph idx="2" type="body"/>
          </p:nvPr>
        </p:nvSpPr>
        <p:spPr>
          <a:xfrm>
            <a:off x="1200524" y="3939833"/>
            <a:ext cx="3227388" cy="4127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Font typeface="Arial"/>
              <a:buNone/>
              <a:defRPr sz="16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14"/>
          <p:cNvSpPr txBox="1"/>
          <p:nvPr>
            <p:ph idx="3" type="body"/>
          </p:nvPr>
        </p:nvSpPr>
        <p:spPr>
          <a:xfrm>
            <a:off x="1200524" y="4695913"/>
            <a:ext cx="3227388" cy="4127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Font typeface="Arial"/>
              <a:buNone/>
              <a:defRPr sz="16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14"/>
          <p:cNvSpPr txBox="1"/>
          <p:nvPr>
            <p:ph idx="4" type="body"/>
          </p:nvPr>
        </p:nvSpPr>
        <p:spPr>
          <a:xfrm>
            <a:off x="5128952" y="2890380"/>
            <a:ext cx="6008740" cy="319239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14"/>
          <p:cNvSpPr txBox="1"/>
          <p:nvPr>
            <p:ph idx="5" type="body"/>
          </p:nvPr>
        </p:nvSpPr>
        <p:spPr>
          <a:xfrm>
            <a:off x="1200524" y="5455322"/>
            <a:ext cx="3227388" cy="4127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Font typeface="Arial"/>
              <a:buNone/>
              <a:defRPr sz="16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14"/>
          <p:cNvSpPr txBox="1"/>
          <p:nvPr>
            <p:ph idx="6" type="body"/>
          </p:nvPr>
        </p:nvSpPr>
        <p:spPr>
          <a:xfrm>
            <a:off x="1200524" y="3177160"/>
            <a:ext cx="3227388" cy="4127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Font typeface="Arial"/>
              <a:buNone/>
              <a:defRPr sz="16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14"/>
          <p:cNvSpPr txBox="1"/>
          <p:nvPr>
            <p:ph idx="7" type="body"/>
          </p:nvPr>
        </p:nvSpPr>
        <p:spPr>
          <a:xfrm>
            <a:off x="1200524" y="6209192"/>
            <a:ext cx="3227388" cy="3873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Font typeface="Arial"/>
              <a:buNone/>
              <a:defRPr sz="1600"/>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14"/>
          <p:cNvSpPr txBox="1"/>
          <p:nvPr/>
        </p:nvSpPr>
        <p:spPr>
          <a:xfrm>
            <a:off x="1200524" y="2838140"/>
            <a:ext cx="322804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a:solidFill>
                  <a:srgbClr val="2E393F"/>
                </a:solidFill>
                <a:latin typeface="Arial"/>
                <a:ea typeface="Arial"/>
                <a:cs typeface="Arial"/>
                <a:sym typeface="Arial"/>
              </a:rPr>
              <a:t>LOI</a:t>
            </a:r>
            <a:endParaRPr/>
          </a:p>
        </p:txBody>
      </p:sp>
      <p:sp>
        <p:nvSpPr>
          <p:cNvPr id="148" name="Google Shape;148;p14"/>
          <p:cNvSpPr txBox="1"/>
          <p:nvPr/>
        </p:nvSpPr>
        <p:spPr>
          <a:xfrm>
            <a:off x="1200524" y="4356470"/>
            <a:ext cx="322804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a:solidFill>
                  <a:srgbClr val="2E393F"/>
                </a:solidFill>
                <a:latin typeface="Arial"/>
                <a:ea typeface="Arial"/>
                <a:cs typeface="Arial"/>
                <a:sym typeface="Arial"/>
              </a:rPr>
              <a:t>SURVEY FIELDED</a:t>
            </a:r>
            <a:endParaRPr/>
          </a:p>
        </p:txBody>
      </p:sp>
      <p:sp>
        <p:nvSpPr>
          <p:cNvPr id="149" name="Google Shape;149;p14"/>
          <p:cNvSpPr txBox="1"/>
          <p:nvPr/>
        </p:nvSpPr>
        <p:spPr>
          <a:xfrm>
            <a:off x="1200524" y="5870638"/>
            <a:ext cx="322804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a:solidFill>
                  <a:srgbClr val="2E393F"/>
                </a:solidFill>
                <a:latin typeface="Arial"/>
                <a:ea typeface="Arial"/>
                <a:cs typeface="Arial"/>
                <a:sym typeface="Arial"/>
              </a:rPr>
              <a:t>RESPONSES</a:t>
            </a:r>
            <a:endParaRPr/>
          </a:p>
        </p:txBody>
      </p:sp>
      <p:sp>
        <p:nvSpPr>
          <p:cNvPr id="150" name="Google Shape;150;p14"/>
          <p:cNvSpPr txBox="1"/>
          <p:nvPr/>
        </p:nvSpPr>
        <p:spPr>
          <a:xfrm>
            <a:off x="1200524" y="5112271"/>
            <a:ext cx="322804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a:solidFill>
                  <a:srgbClr val="2E393F"/>
                </a:solidFill>
                <a:latin typeface="Arial"/>
                <a:ea typeface="Arial"/>
                <a:cs typeface="Arial"/>
                <a:sym typeface="Arial"/>
              </a:rPr>
              <a:t>PANELISTS</a:t>
            </a:r>
            <a:endParaRPr/>
          </a:p>
        </p:txBody>
      </p:sp>
      <p:sp>
        <p:nvSpPr>
          <p:cNvPr id="151" name="Google Shape;151;p14"/>
          <p:cNvSpPr txBox="1"/>
          <p:nvPr/>
        </p:nvSpPr>
        <p:spPr>
          <a:xfrm>
            <a:off x="1200524" y="3597643"/>
            <a:ext cx="322804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a:solidFill>
                  <a:srgbClr val="2E393F"/>
                </a:solidFill>
                <a:latin typeface="Arial"/>
                <a:ea typeface="Arial"/>
                <a:cs typeface="Arial"/>
                <a:sym typeface="Arial"/>
              </a:rPr>
              <a:t>SURVEY TYPE</a:t>
            </a:r>
            <a:endParaRPr/>
          </a:p>
        </p:txBody>
      </p:sp>
      <p:grpSp>
        <p:nvGrpSpPr>
          <p:cNvPr id="152" name="Google Shape;152;p14"/>
          <p:cNvGrpSpPr/>
          <p:nvPr/>
        </p:nvGrpSpPr>
        <p:grpSpPr>
          <a:xfrm>
            <a:off x="549753" y="2962929"/>
            <a:ext cx="650771" cy="3153570"/>
            <a:chOff x="549753" y="2962929"/>
            <a:chExt cx="650771" cy="3153570"/>
          </a:xfrm>
        </p:grpSpPr>
        <p:sp>
          <p:nvSpPr>
            <p:cNvPr id="153" name="Google Shape;153;p14"/>
            <p:cNvSpPr/>
            <p:nvPr/>
          </p:nvSpPr>
          <p:spPr>
            <a:xfrm>
              <a:off x="549753" y="2962929"/>
              <a:ext cx="147380" cy="147380"/>
            </a:xfrm>
            <a:prstGeom prst="ellipse">
              <a:avLst/>
            </a:prstGeom>
            <a:solidFill>
              <a:schemeClr val="accent2"/>
            </a:solidFill>
            <a:ln cap="flat" cmpd="sng" w="12700">
              <a:solidFill>
                <a:srgbClr val="2DC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54" name="Google Shape;154;p14"/>
            <p:cNvCxnSpPr/>
            <p:nvPr/>
          </p:nvCxnSpPr>
          <p:spPr>
            <a:xfrm flipH="1">
              <a:off x="662233" y="5286044"/>
              <a:ext cx="538291" cy="1"/>
            </a:xfrm>
            <a:prstGeom prst="straightConnector1">
              <a:avLst/>
            </a:prstGeom>
            <a:solidFill>
              <a:schemeClr val="accent4"/>
            </a:solidFill>
            <a:ln cap="flat" cmpd="sng" w="12700">
              <a:solidFill>
                <a:srgbClr val="2DCCD3"/>
              </a:solidFill>
              <a:prstDash val="dot"/>
              <a:miter lim="800000"/>
              <a:headEnd len="sm" w="sm" type="none"/>
              <a:tailEnd len="sm" w="sm" type="none"/>
            </a:ln>
          </p:spPr>
        </p:cxnSp>
        <p:cxnSp>
          <p:nvCxnSpPr>
            <p:cNvPr id="155" name="Google Shape;155;p14"/>
            <p:cNvCxnSpPr/>
            <p:nvPr/>
          </p:nvCxnSpPr>
          <p:spPr>
            <a:xfrm flipH="1">
              <a:off x="658534" y="3036619"/>
              <a:ext cx="538291" cy="1"/>
            </a:xfrm>
            <a:prstGeom prst="straightConnector1">
              <a:avLst/>
            </a:prstGeom>
            <a:noFill/>
            <a:ln cap="flat" cmpd="sng" w="12700">
              <a:solidFill>
                <a:srgbClr val="2DCCD3"/>
              </a:solidFill>
              <a:prstDash val="dot"/>
              <a:miter lim="800000"/>
              <a:headEnd len="sm" w="sm" type="none"/>
              <a:tailEnd len="sm" w="sm" type="none"/>
            </a:ln>
          </p:spPr>
        </p:cxnSp>
        <p:cxnSp>
          <p:nvCxnSpPr>
            <p:cNvPr id="156" name="Google Shape;156;p14"/>
            <p:cNvCxnSpPr/>
            <p:nvPr/>
          </p:nvCxnSpPr>
          <p:spPr>
            <a:xfrm flipH="1">
              <a:off x="657905" y="3769989"/>
              <a:ext cx="538291" cy="1"/>
            </a:xfrm>
            <a:prstGeom prst="straightConnector1">
              <a:avLst/>
            </a:prstGeom>
            <a:solidFill>
              <a:schemeClr val="accent4"/>
            </a:solidFill>
            <a:ln cap="flat" cmpd="sng" w="12700">
              <a:solidFill>
                <a:srgbClr val="2DCCD3"/>
              </a:solidFill>
              <a:prstDash val="dot"/>
              <a:miter lim="800000"/>
              <a:headEnd len="sm" w="sm" type="none"/>
              <a:tailEnd len="sm" w="sm" type="none"/>
            </a:ln>
          </p:spPr>
        </p:cxnSp>
        <p:cxnSp>
          <p:nvCxnSpPr>
            <p:cNvPr id="157" name="Google Shape;157;p14"/>
            <p:cNvCxnSpPr/>
            <p:nvPr/>
          </p:nvCxnSpPr>
          <p:spPr>
            <a:xfrm flipH="1">
              <a:off x="625828" y="3036619"/>
              <a:ext cx="1" cy="3013923"/>
            </a:xfrm>
            <a:prstGeom prst="straightConnector1">
              <a:avLst/>
            </a:prstGeom>
            <a:noFill/>
            <a:ln cap="flat" cmpd="sng" w="12700">
              <a:solidFill>
                <a:srgbClr val="2DCCD3"/>
              </a:solidFill>
              <a:prstDash val="solid"/>
              <a:miter lim="800000"/>
              <a:headEnd len="sm" w="sm" type="none"/>
              <a:tailEnd len="sm" w="sm" type="none"/>
            </a:ln>
          </p:spPr>
        </p:cxnSp>
        <p:cxnSp>
          <p:nvCxnSpPr>
            <p:cNvPr id="158" name="Google Shape;158;p14"/>
            <p:cNvCxnSpPr/>
            <p:nvPr/>
          </p:nvCxnSpPr>
          <p:spPr>
            <a:xfrm flipH="1">
              <a:off x="657905" y="4523847"/>
              <a:ext cx="538291" cy="1"/>
            </a:xfrm>
            <a:prstGeom prst="straightConnector1">
              <a:avLst/>
            </a:prstGeom>
            <a:solidFill>
              <a:schemeClr val="accent4"/>
            </a:solidFill>
            <a:ln cap="flat" cmpd="sng" w="12700">
              <a:solidFill>
                <a:srgbClr val="2DCCD3"/>
              </a:solidFill>
              <a:prstDash val="dot"/>
              <a:miter lim="800000"/>
              <a:headEnd len="sm" w="sm" type="none"/>
              <a:tailEnd len="sm" w="sm" type="none"/>
            </a:ln>
          </p:spPr>
        </p:cxnSp>
        <p:cxnSp>
          <p:nvCxnSpPr>
            <p:cNvPr id="159" name="Google Shape;159;p14"/>
            <p:cNvCxnSpPr/>
            <p:nvPr/>
          </p:nvCxnSpPr>
          <p:spPr>
            <a:xfrm flipH="1">
              <a:off x="662233" y="6050542"/>
              <a:ext cx="538291" cy="1"/>
            </a:xfrm>
            <a:prstGeom prst="straightConnector1">
              <a:avLst/>
            </a:prstGeom>
            <a:solidFill>
              <a:schemeClr val="accent4"/>
            </a:solidFill>
            <a:ln cap="flat" cmpd="sng" w="12700">
              <a:solidFill>
                <a:srgbClr val="2DCCD3"/>
              </a:solidFill>
              <a:prstDash val="dot"/>
              <a:miter lim="800000"/>
              <a:headEnd len="sm" w="sm" type="none"/>
              <a:tailEnd len="sm" w="sm" type="none"/>
            </a:ln>
          </p:spPr>
        </p:cxnSp>
        <p:sp>
          <p:nvSpPr>
            <p:cNvPr id="160" name="Google Shape;160;p14"/>
            <p:cNvSpPr/>
            <p:nvPr/>
          </p:nvSpPr>
          <p:spPr>
            <a:xfrm>
              <a:off x="549753" y="3688566"/>
              <a:ext cx="147380" cy="147380"/>
            </a:xfrm>
            <a:prstGeom prst="ellipse">
              <a:avLst/>
            </a:prstGeom>
            <a:solidFill>
              <a:schemeClr val="accent2"/>
            </a:solidFill>
            <a:ln cap="flat" cmpd="sng" w="12700">
              <a:solidFill>
                <a:srgbClr val="2DC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1" name="Google Shape;161;p14"/>
            <p:cNvSpPr/>
            <p:nvPr/>
          </p:nvSpPr>
          <p:spPr>
            <a:xfrm>
              <a:off x="549753" y="4447857"/>
              <a:ext cx="147380" cy="147380"/>
            </a:xfrm>
            <a:prstGeom prst="ellipse">
              <a:avLst/>
            </a:prstGeom>
            <a:solidFill>
              <a:schemeClr val="accent2"/>
            </a:solidFill>
            <a:ln cap="flat" cmpd="sng" w="12700">
              <a:solidFill>
                <a:srgbClr val="2DC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2" name="Google Shape;162;p14"/>
            <p:cNvSpPr/>
            <p:nvPr/>
          </p:nvSpPr>
          <p:spPr>
            <a:xfrm>
              <a:off x="549753" y="5204621"/>
              <a:ext cx="147380" cy="147380"/>
            </a:xfrm>
            <a:prstGeom prst="ellipse">
              <a:avLst/>
            </a:prstGeom>
            <a:solidFill>
              <a:schemeClr val="accent2"/>
            </a:solidFill>
            <a:ln cap="flat" cmpd="sng" w="12700">
              <a:solidFill>
                <a:srgbClr val="2DC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3" name="Google Shape;163;p14"/>
            <p:cNvSpPr/>
            <p:nvPr/>
          </p:nvSpPr>
          <p:spPr>
            <a:xfrm>
              <a:off x="549753" y="5969119"/>
              <a:ext cx="147380" cy="147380"/>
            </a:xfrm>
            <a:prstGeom prst="ellipse">
              <a:avLst/>
            </a:prstGeom>
            <a:solidFill>
              <a:schemeClr val="accent2"/>
            </a:solidFill>
            <a:ln cap="flat" cmpd="sng" w="12700">
              <a:solidFill>
                <a:srgbClr val="2DCCD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cxnSp>
        <p:nvCxnSpPr>
          <p:cNvPr id="164" name="Google Shape;164;p14"/>
          <p:cNvCxnSpPr/>
          <p:nvPr/>
        </p:nvCxnSpPr>
        <p:spPr>
          <a:xfrm flipH="1" rot="10800000">
            <a:off x="-38981" y="2342781"/>
            <a:ext cx="12269960" cy="1"/>
          </a:xfrm>
          <a:prstGeom prst="straightConnector1">
            <a:avLst/>
          </a:prstGeom>
          <a:noFill/>
          <a:ln cap="flat" cmpd="sng" w="25400">
            <a:solidFill>
              <a:srgbClr val="2DCCD3"/>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and objectives">
  <p:cSld name="Background and objectives">
    <p:spTree>
      <p:nvGrpSpPr>
        <p:cNvPr id="165" name="Shape 165"/>
        <p:cNvGrpSpPr/>
        <p:nvPr/>
      </p:nvGrpSpPr>
      <p:grpSpPr>
        <a:xfrm>
          <a:off x="0" y="0"/>
          <a:ext cx="0" cy="0"/>
          <a:chOff x="0" y="0"/>
          <a:chExt cx="0" cy="0"/>
        </a:xfrm>
      </p:grpSpPr>
      <p:sp>
        <p:nvSpPr>
          <p:cNvPr id="166" name="Google Shape;166;p15"/>
          <p:cNvSpPr/>
          <p:nvPr/>
        </p:nvSpPr>
        <p:spPr>
          <a:xfrm>
            <a:off x="4942" y="2342782"/>
            <a:ext cx="4077549" cy="4530684"/>
          </a:xfrm>
          <a:prstGeom prst="rect">
            <a:avLst/>
          </a:prstGeom>
          <a:solidFill>
            <a:srgbClr val="F4F4F4"/>
          </a:solidFill>
          <a:ln>
            <a:noFill/>
          </a:ln>
        </p:spPr>
        <p:txBody>
          <a:bodyPr anchorCtr="0" anchor="ctr" bIns="45700" lIns="60925" spcFirstLastPara="1" rIns="60925" wrap="square" tIns="45700">
            <a:noAutofit/>
          </a:bodyPr>
          <a:lstStyle/>
          <a:p>
            <a:pPr indent="0" lvl="0" marL="0" marR="0" rtl="0" algn="l">
              <a:spcBef>
                <a:spcPts val="0"/>
              </a:spcBef>
              <a:spcAft>
                <a:spcPts val="0"/>
              </a:spcAft>
              <a:buNone/>
            </a:pPr>
            <a:r>
              <a:t/>
            </a:r>
            <a:endParaRPr sz="3199">
              <a:solidFill>
                <a:schemeClr val="dk1"/>
              </a:solidFill>
              <a:latin typeface="Arial"/>
              <a:ea typeface="Arial"/>
              <a:cs typeface="Arial"/>
              <a:sym typeface="Arial"/>
            </a:endParaRPr>
          </a:p>
        </p:txBody>
      </p:sp>
      <p:sp>
        <p:nvSpPr>
          <p:cNvPr id="167" name="Google Shape;167;p15"/>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15"/>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9" name="Google Shape;169;p15"/>
          <p:cNvSpPr txBox="1"/>
          <p:nvPr>
            <p:ph idx="1" type="body"/>
          </p:nvPr>
        </p:nvSpPr>
        <p:spPr>
          <a:xfrm>
            <a:off x="457200" y="1371601"/>
            <a:ext cx="10258926" cy="6771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solidFill>
                  <a:srgbClr val="2E393F"/>
                </a:solidFill>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15"/>
          <p:cNvSpPr txBox="1"/>
          <p:nvPr>
            <p:ph idx="2" type="body"/>
          </p:nvPr>
        </p:nvSpPr>
        <p:spPr>
          <a:xfrm>
            <a:off x="457200" y="2977672"/>
            <a:ext cx="3408947" cy="316388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15"/>
          <p:cNvSpPr txBox="1"/>
          <p:nvPr>
            <p:ph idx="3" type="body"/>
          </p:nvPr>
        </p:nvSpPr>
        <p:spPr>
          <a:xfrm>
            <a:off x="4398783" y="2977673"/>
            <a:ext cx="6317343" cy="316388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15"/>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73" name="Google Shape;173;p15"/>
          <p:cNvCxnSpPr/>
          <p:nvPr/>
        </p:nvCxnSpPr>
        <p:spPr>
          <a:xfrm flipH="1" rot="10800000">
            <a:off x="-38981" y="2342781"/>
            <a:ext cx="12269960" cy="1"/>
          </a:xfrm>
          <a:prstGeom prst="straightConnector1">
            <a:avLst/>
          </a:prstGeom>
          <a:noFill/>
          <a:ln cap="flat" cmpd="sng" w="25400">
            <a:solidFill>
              <a:srgbClr val="2DCCD3"/>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dings / 1 chart">
  <p:cSld name="Findings / 1 chart">
    <p:spTree>
      <p:nvGrpSpPr>
        <p:cNvPr id="174" name="Shape 174"/>
        <p:cNvGrpSpPr/>
        <p:nvPr/>
      </p:nvGrpSpPr>
      <p:grpSpPr>
        <a:xfrm>
          <a:off x="0" y="0"/>
          <a:ext cx="0" cy="0"/>
          <a:chOff x="0" y="0"/>
          <a:chExt cx="0" cy="0"/>
        </a:xfrm>
      </p:grpSpPr>
      <p:sp>
        <p:nvSpPr>
          <p:cNvPr id="175" name="Google Shape;175;p16"/>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16"/>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7" name="Google Shape;177;p16"/>
          <p:cNvSpPr/>
          <p:nvPr>
            <p:ph idx="2" type="chart"/>
          </p:nvPr>
        </p:nvSpPr>
        <p:spPr>
          <a:xfrm>
            <a:off x="457200" y="2743200"/>
            <a:ext cx="10258425" cy="34337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8" name="Google Shape;178;p16"/>
          <p:cNvSpPr txBox="1"/>
          <p:nvPr>
            <p:ph idx="1" type="body"/>
          </p:nvPr>
        </p:nvSpPr>
        <p:spPr>
          <a:xfrm>
            <a:off x="457200" y="1322387"/>
            <a:ext cx="10258425" cy="10033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16"/>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Findings / 2 charts">
  <p:cSld name="1_Findings / 2 charts">
    <p:spTree>
      <p:nvGrpSpPr>
        <p:cNvPr id="180" name="Shape 180"/>
        <p:cNvGrpSpPr/>
        <p:nvPr/>
      </p:nvGrpSpPr>
      <p:grpSpPr>
        <a:xfrm>
          <a:off x="0" y="0"/>
          <a:ext cx="0" cy="0"/>
          <a:chOff x="0" y="0"/>
          <a:chExt cx="0" cy="0"/>
        </a:xfrm>
      </p:grpSpPr>
      <p:sp>
        <p:nvSpPr>
          <p:cNvPr id="181" name="Google Shape;181;p17"/>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17"/>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3" name="Google Shape;183;p17"/>
          <p:cNvSpPr/>
          <p:nvPr>
            <p:ph idx="2" type="chart"/>
          </p:nvPr>
        </p:nvSpPr>
        <p:spPr>
          <a:xfrm>
            <a:off x="457200" y="2743200"/>
            <a:ext cx="5173579" cy="34337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4" name="Google Shape;184;p17"/>
          <p:cNvSpPr txBox="1"/>
          <p:nvPr>
            <p:ph idx="1" type="body"/>
          </p:nvPr>
        </p:nvSpPr>
        <p:spPr>
          <a:xfrm>
            <a:off x="457200" y="1322387"/>
            <a:ext cx="10258425" cy="10033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17"/>
          <p:cNvSpPr/>
          <p:nvPr>
            <p:ph idx="3" type="chart"/>
          </p:nvPr>
        </p:nvSpPr>
        <p:spPr>
          <a:xfrm>
            <a:off x="6539865" y="2743200"/>
            <a:ext cx="5173579" cy="34337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6" name="Google Shape;186;p17"/>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dings / 3 charts">
  <p:cSld name="Findings / 3 charts">
    <p:spTree>
      <p:nvGrpSpPr>
        <p:cNvPr id="187" name="Shape 187"/>
        <p:cNvGrpSpPr/>
        <p:nvPr/>
      </p:nvGrpSpPr>
      <p:grpSpPr>
        <a:xfrm>
          <a:off x="0" y="0"/>
          <a:ext cx="0" cy="0"/>
          <a:chOff x="0" y="0"/>
          <a:chExt cx="0" cy="0"/>
        </a:xfrm>
      </p:grpSpPr>
      <p:sp>
        <p:nvSpPr>
          <p:cNvPr id="188" name="Google Shape;188;p18"/>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18"/>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0" name="Google Shape;190;p18"/>
          <p:cNvSpPr/>
          <p:nvPr>
            <p:ph idx="2" type="chart"/>
          </p:nvPr>
        </p:nvSpPr>
        <p:spPr>
          <a:xfrm>
            <a:off x="457200" y="2743200"/>
            <a:ext cx="5173579" cy="34337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1" name="Google Shape;191;p18"/>
          <p:cNvSpPr txBox="1"/>
          <p:nvPr>
            <p:ph idx="1" type="body"/>
          </p:nvPr>
        </p:nvSpPr>
        <p:spPr>
          <a:xfrm>
            <a:off x="457200" y="1322387"/>
            <a:ext cx="10258425" cy="10033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18"/>
          <p:cNvSpPr/>
          <p:nvPr>
            <p:ph idx="3" type="chart"/>
          </p:nvPr>
        </p:nvSpPr>
        <p:spPr>
          <a:xfrm>
            <a:off x="6539865" y="2743201"/>
            <a:ext cx="5173579" cy="154004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3" name="Google Shape;193;p18"/>
          <p:cNvSpPr/>
          <p:nvPr>
            <p:ph idx="4" type="chart"/>
          </p:nvPr>
        </p:nvSpPr>
        <p:spPr>
          <a:xfrm>
            <a:off x="6539865" y="4636921"/>
            <a:ext cx="5173579" cy="154004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4" name="Google Shape;194;p18"/>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dings / 4 charts">
  <p:cSld name="Findings / 4 charts">
    <p:spTree>
      <p:nvGrpSpPr>
        <p:cNvPr id="195" name="Shape 195"/>
        <p:cNvGrpSpPr/>
        <p:nvPr/>
      </p:nvGrpSpPr>
      <p:grpSpPr>
        <a:xfrm>
          <a:off x="0" y="0"/>
          <a:ext cx="0" cy="0"/>
          <a:chOff x="0" y="0"/>
          <a:chExt cx="0" cy="0"/>
        </a:xfrm>
      </p:grpSpPr>
      <p:sp>
        <p:nvSpPr>
          <p:cNvPr id="196" name="Google Shape;196;p19"/>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19"/>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8" name="Google Shape;198;p19"/>
          <p:cNvSpPr txBox="1"/>
          <p:nvPr>
            <p:ph idx="1" type="body"/>
          </p:nvPr>
        </p:nvSpPr>
        <p:spPr>
          <a:xfrm>
            <a:off x="457200" y="1322387"/>
            <a:ext cx="10258425" cy="10033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800"/>
              <a:buFont typeface="Arial"/>
              <a:buNone/>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19"/>
          <p:cNvSpPr/>
          <p:nvPr>
            <p:ph idx="2" type="chart"/>
          </p:nvPr>
        </p:nvSpPr>
        <p:spPr>
          <a:xfrm>
            <a:off x="6539865" y="2743201"/>
            <a:ext cx="5173579" cy="154004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0" name="Google Shape;200;p19"/>
          <p:cNvSpPr/>
          <p:nvPr>
            <p:ph idx="3" type="chart"/>
          </p:nvPr>
        </p:nvSpPr>
        <p:spPr>
          <a:xfrm>
            <a:off x="6539865" y="4636921"/>
            <a:ext cx="5173579" cy="154004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1" name="Google Shape;201;p19"/>
          <p:cNvSpPr/>
          <p:nvPr>
            <p:ph idx="4" type="chart"/>
          </p:nvPr>
        </p:nvSpPr>
        <p:spPr>
          <a:xfrm>
            <a:off x="457200" y="2743201"/>
            <a:ext cx="5173579" cy="154004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2" name="Google Shape;202;p19"/>
          <p:cNvSpPr/>
          <p:nvPr>
            <p:ph idx="5" type="chart"/>
          </p:nvPr>
        </p:nvSpPr>
        <p:spPr>
          <a:xfrm>
            <a:off x="457200" y="4636921"/>
            <a:ext cx="5173579" cy="154004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lvl="1"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lvl="2"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lvl="3"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lvl="4"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3" name="Google Shape;203;p19"/>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4" name="Shape 204"/>
        <p:cNvGrpSpPr/>
        <p:nvPr/>
      </p:nvGrpSpPr>
      <p:grpSpPr>
        <a:xfrm>
          <a:off x="0" y="0"/>
          <a:ext cx="0" cy="0"/>
          <a:chOff x="0" y="0"/>
          <a:chExt cx="0" cy="0"/>
        </a:xfrm>
      </p:grpSpPr>
      <p:sp>
        <p:nvSpPr>
          <p:cNvPr id="205" name="Google Shape;205;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7" name="Google Shape;207;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 name="Google Shape;208;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9" name="Google Shape;209;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20"/>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1" name="Google Shape;211;p20"/>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2" name="Shape 212"/>
        <p:cNvGrpSpPr/>
        <p:nvPr/>
      </p:nvGrpSpPr>
      <p:grpSpPr>
        <a:xfrm>
          <a:off x="0" y="0"/>
          <a:ext cx="0" cy="0"/>
          <a:chOff x="0" y="0"/>
          <a:chExt cx="0" cy="0"/>
        </a:xfrm>
      </p:grpSpPr>
      <p:sp>
        <p:nvSpPr>
          <p:cNvPr id="213" name="Google Shape;213;p21"/>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1"/>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5" name="Google Shape;215;p21"/>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6" name="Shape 216"/>
        <p:cNvGrpSpPr/>
        <p:nvPr/>
      </p:nvGrpSpPr>
      <p:grpSpPr>
        <a:xfrm>
          <a:off x="0" y="0"/>
          <a:ext cx="0" cy="0"/>
          <a:chOff x="0" y="0"/>
          <a:chExt cx="0" cy="0"/>
        </a:xfrm>
      </p:grpSpPr>
      <p:sp>
        <p:nvSpPr>
          <p:cNvPr id="217" name="Google Shape;217;p22"/>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8" name="Google Shape;218;p22"/>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9" name="Shape 219"/>
        <p:cNvGrpSpPr/>
        <p:nvPr/>
      </p:nvGrpSpPr>
      <p:grpSpPr>
        <a:xfrm>
          <a:off x="0" y="0"/>
          <a:ext cx="0" cy="0"/>
          <a:chOff x="0" y="0"/>
          <a:chExt cx="0" cy="0"/>
        </a:xfrm>
      </p:grpSpPr>
      <p:sp>
        <p:nvSpPr>
          <p:cNvPr id="220" name="Google Shape;220;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SzPts val="3200"/>
              <a:buChar char="•"/>
              <a:defRPr sz="3200"/>
            </a:lvl1pPr>
            <a:lvl2pPr indent="-406400" lvl="1" marL="914400" algn="l">
              <a:lnSpc>
                <a:spcPct val="90000"/>
              </a:lnSpc>
              <a:spcBef>
                <a:spcPts val="500"/>
              </a:spcBef>
              <a:spcAft>
                <a:spcPts val="0"/>
              </a:spcAft>
              <a:buSzPts val="2800"/>
              <a:buChar char="•"/>
              <a:defRPr sz="2800"/>
            </a:lvl2pPr>
            <a:lvl3pPr indent="-381000" lvl="2" marL="1371600" algn="l">
              <a:lnSpc>
                <a:spcPct val="90000"/>
              </a:lnSpc>
              <a:spcBef>
                <a:spcPts val="500"/>
              </a:spcBef>
              <a:spcAft>
                <a:spcPts val="0"/>
              </a:spcAft>
              <a:buSzPts val="2400"/>
              <a:buChar char="•"/>
              <a:defRPr sz="2400"/>
            </a:lvl3pPr>
            <a:lvl4pPr indent="-355600" lvl="3" marL="1828800" algn="l">
              <a:lnSpc>
                <a:spcPct val="90000"/>
              </a:lnSpc>
              <a:spcBef>
                <a:spcPts val="500"/>
              </a:spcBef>
              <a:spcAft>
                <a:spcPts val="0"/>
              </a:spcAft>
              <a:buSzPts val="2000"/>
              <a:buChar char="•"/>
              <a:defRPr sz="2000"/>
            </a:lvl4pPr>
            <a:lvl5pPr indent="-355600" lvl="4" marL="2286000" algn="l">
              <a:lnSpc>
                <a:spcPct val="90000"/>
              </a:lnSpc>
              <a:spcBef>
                <a:spcPts val="500"/>
              </a:spcBef>
              <a:spcAft>
                <a:spcPts val="0"/>
              </a:spcAft>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2" name="Google Shape;222;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None/>
              <a:defRPr sz="1600"/>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23" name="Google Shape;223;p23"/>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24" name="Google Shape;224;p23"/>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5" name="Shape 225"/>
        <p:cNvGrpSpPr/>
        <p:nvPr/>
      </p:nvGrpSpPr>
      <p:grpSpPr>
        <a:xfrm>
          <a:off x="0" y="0"/>
          <a:ext cx="0" cy="0"/>
          <a:chOff x="0" y="0"/>
          <a:chExt cx="0" cy="0"/>
        </a:xfrm>
      </p:grpSpPr>
      <p:sp>
        <p:nvSpPr>
          <p:cNvPr id="226" name="Google Shape;226;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E393F"/>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24"/>
          <p:cNvSpPr/>
          <p:nvPr>
            <p:ph idx="2" type="pic"/>
          </p:nvPr>
        </p:nvSpPr>
        <p:spPr>
          <a:xfrm>
            <a:off x="5183188" y="987425"/>
            <a:ext cx="6172200" cy="4873625"/>
          </a:xfrm>
          <a:prstGeom prst="rect">
            <a:avLst/>
          </a:prstGeom>
          <a:noFill/>
          <a:ln>
            <a:noFill/>
          </a:ln>
        </p:spPr>
      </p:sp>
      <p:sp>
        <p:nvSpPr>
          <p:cNvPr id="228" name="Google Shape;228;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None/>
              <a:defRPr sz="1600"/>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29" name="Google Shape;229;p24"/>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30" name="Google Shape;230;p24"/>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1" name="Shape 231"/>
        <p:cNvGrpSpPr/>
        <p:nvPr/>
      </p:nvGrpSpPr>
      <p:grpSpPr>
        <a:xfrm>
          <a:off x="0" y="0"/>
          <a:ext cx="0" cy="0"/>
          <a:chOff x="0" y="0"/>
          <a:chExt cx="0" cy="0"/>
        </a:xfrm>
      </p:grpSpPr>
      <p:sp>
        <p:nvSpPr>
          <p:cNvPr id="232" name="Google Shape;232;p25"/>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p25"/>
          <p:cNvSpPr txBox="1"/>
          <p:nvPr>
            <p:ph idx="1" type="body"/>
          </p:nvPr>
        </p:nvSpPr>
        <p:spPr>
          <a:xfrm rot="5400000">
            <a:off x="3539331" y="-1710531"/>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 name="Google Shape;234;p25"/>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35" name="Google Shape;235;p25"/>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6" name="Shape 236"/>
        <p:cNvGrpSpPr/>
        <p:nvPr/>
      </p:nvGrpSpPr>
      <p:grpSpPr>
        <a:xfrm>
          <a:off x="0" y="0"/>
          <a:ext cx="0" cy="0"/>
          <a:chOff x="0" y="0"/>
          <a:chExt cx="0" cy="0"/>
        </a:xfrm>
      </p:grpSpPr>
      <p:sp>
        <p:nvSpPr>
          <p:cNvPr id="237" name="Google Shape;237;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E39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 name="Google Shape;239;p26"/>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0" name="Google Shape;240;p26"/>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7"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E393F"/>
              </a:buClr>
              <a:buSzPts val="3200"/>
              <a:buFont typeface="Arial"/>
              <a:buNone/>
              <a:defRPr b="0" i="0" sz="3200" u="none" cap="none" strike="noStrike">
                <a:solidFill>
                  <a:srgbClr val="2E39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371600"/>
            <a:ext cx="10515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accent2"/>
              </a:buClr>
              <a:buSzPts val="1800"/>
              <a:buFont typeface="Arial"/>
              <a:buChar char="•"/>
              <a:defRPr b="0" i="0" sz="1800" u="none" cap="none" strike="noStrike">
                <a:solidFill>
                  <a:srgbClr val="2E393F"/>
                </a:solidFill>
                <a:latin typeface="Arial"/>
                <a:ea typeface="Arial"/>
                <a:cs typeface="Arial"/>
                <a:sym typeface="Arial"/>
              </a:defRPr>
            </a:lvl1pPr>
            <a:lvl2pPr indent="-330200" lvl="1" marL="914400" marR="0" rtl="0" algn="l">
              <a:lnSpc>
                <a:spcPct val="90000"/>
              </a:lnSpc>
              <a:spcBef>
                <a:spcPts val="500"/>
              </a:spcBef>
              <a:spcAft>
                <a:spcPts val="0"/>
              </a:spcAft>
              <a:buClr>
                <a:schemeClr val="accent2"/>
              </a:buClr>
              <a:buSzPts val="1600"/>
              <a:buFont typeface="Arial"/>
              <a:buChar char="•"/>
              <a:defRPr b="0" i="0" sz="1600" u="none" cap="none" strike="noStrike">
                <a:solidFill>
                  <a:srgbClr val="2E393F"/>
                </a:solidFill>
                <a:latin typeface="Arial"/>
                <a:ea typeface="Arial"/>
                <a:cs typeface="Arial"/>
                <a:sym typeface="Arial"/>
              </a:defRPr>
            </a:lvl2pPr>
            <a:lvl3pPr indent="-317500" lvl="2" marL="1371600"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3pPr>
            <a:lvl4pPr indent="-317500" lvl="3" marL="1828800"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4pPr>
            <a:lvl5pPr indent="-317500" lvl="4" marL="2286000" marR="0" rtl="0" algn="l">
              <a:lnSpc>
                <a:spcPct val="90000"/>
              </a:lnSpc>
              <a:spcBef>
                <a:spcPts val="500"/>
              </a:spcBef>
              <a:spcAft>
                <a:spcPts val="0"/>
              </a:spcAft>
              <a:buClr>
                <a:schemeClr val="accent2"/>
              </a:buClr>
              <a:buSzPts val="1400"/>
              <a:buFont typeface="Arial"/>
              <a:buChar char="•"/>
              <a:defRPr b="0" i="0" sz="1400" u="none" cap="none" strike="noStrike">
                <a:solidFill>
                  <a:srgbClr val="2E393F"/>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2E393F"/>
                </a:solidFill>
                <a:latin typeface="Arial"/>
                <a:ea typeface="Arial"/>
                <a:cs typeface="Arial"/>
                <a:sym typeface="Arial"/>
              </a:defRPr>
            </a:lvl1pPr>
            <a:lvl2pPr indent="0" lvl="1" marL="0" marR="0" rtl="0" algn="r">
              <a:spcBef>
                <a:spcPts val="0"/>
              </a:spcBef>
              <a:buNone/>
              <a:defRPr b="0" i="0" sz="1200" u="none" cap="none" strike="noStrike">
                <a:solidFill>
                  <a:srgbClr val="2E393F"/>
                </a:solidFill>
                <a:latin typeface="Arial"/>
                <a:ea typeface="Arial"/>
                <a:cs typeface="Arial"/>
                <a:sym typeface="Arial"/>
              </a:defRPr>
            </a:lvl2pPr>
            <a:lvl3pPr indent="0" lvl="2" marL="0" marR="0" rtl="0" algn="r">
              <a:spcBef>
                <a:spcPts val="0"/>
              </a:spcBef>
              <a:buNone/>
              <a:defRPr b="0" i="0" sz="1200" u="none" cap="none" strike="noStrike">
                <a:solidFill>
                  <a:srgbClr val="2E393F"/>
                </a:solidFill>
                <a:latin typeface="Arial"/>
                <a:ea typeface="Arial"/>
                <a:cs typeface="Arial"/>
                <a:sym typeface="Arial"/>
              </a:defRPr>
            </a:lvl3pPr>
            <a:lvl4pPr indent="0" lvl="3" marL="0" marR="0" rtl="0" algn="r">
              <a:spcBef>
                <a:spcPts val="0"/>
              </a:spcBef>
              <a:buNone/>
              <a:defRPr b="0" i="0" sz="1200" u="none" cap="none" strike="noStrike">
                <a:solidFill>
                  <a:srgbClr val="2E393F"/>
                </a:solidFill>
                <a:latin typeface="Arial"/>
                <a:ea typeface="Arial"/>
                <a:cs typeface="Arial"/>
                <a:sym typeface="Arial"/>
              </a:defRPr>
            </a:lvl4pPr>
            <a:lvl5pPr indent="0" lvl="4" marL="0" marR="0" rtl="0" algn="r">
              <a:spcBef>
                <a:spcPts val="0"/>
              </a:spcBef>
              <a:buNone/>
              <a:defRPr b="0" i="0" sz="1200" u="none" cap="none" strike="noStrike">
                <a:solidFill>
                  <a:srgbClr val="2E393F"/>
                </a:solidFill>
                <a:latin typeface="Arial"/>
                <a:ea typeface="Arial"/>
                <a:cs typeface="Arial"/>
                <a:sym typeface="Arial"/>
              </a:defRPr>
            </a:lvl5pPr>
            <a:lvl6pPr indent="0" lvl="5" marL="0" marR="0" rtl="0" algn="r">
              <a:spcBef>
                <a:spcPts val="0"/>
              </a:spcBef>
              <a:buNone/>
              <a:defRPr b="0" i="0" sz="1200" u="none" cap="none" strike="noStrike">
                <a:solidFill>
                  <a:srgbClr val="2E393F"/>
                </a:solidFill>
                <a:latin typeface="Arial"/>
                <a:ea typeface="Arial"/>
                <a:cs typeface="Arial"/>
                <a:sym typeface="Arial"/>
              </a:defRPr>
            </a:lvl6pPr>
            <a:lvl7pPr indent="0" lvl="6" marL="0" marR="0" rtl="0" algn="r">
              <a:spcBef>
                <a:spcPts val="0"/>
              </a:spcBef>
              <a:buNone/>
              <a:defRPr b="0" i="0" sz="1200" u="none" cap="none" strike="noStrike">
                <a:solidFill>
                  <a:srgbClr val="2E393F"/>
                </a:solidFill>
                <a:latin typeface="Arial"/>
                <a:ea typeface="Arial"/>
                <a:cs typeface="Arial"/>
                <a:sym typeface="Arial"/>
              </a:defRPr>
            </a:lvl7pPr>
            <a:lvl8pPr indent="0" lvl="7" marL="0" marR="0" rtl="0" algn="r">
              <a:spcBef>
                <a:spcPts val="0"/>
              </a:spcBef>
              <a:buNone/>
              <a:defRPr b="0" i="0" sz="1200" u="none" cap="none" strike="noStrike">
                <a:solidFill>
                  <a:srgbClr val="2E393F"/>
                </a:solidFill>
                <a:latin typeface="Arial"/>
                <a:ea typeface="Arial"/>
                <a:cs typeface="Arial"/>
                <a:sym typeface="Arial"/>
              </a:defRPr>
            </a:lvl8pPr>
            <a:lvl9pPr indent="0" lvl="8" marL="0" marR="0" rtl="0" algn="r">
              <a:spcBef>
                <a:spcPts val="0"/>
              </a:spcBef>
              <a:buNone/>
              <a:defRPr b="0" i="0" sz="1200" u="none" cap="none" strike="noStrike">
                <a:solidFill>
                  <a:srgbClr val="2E39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1"/>
          <p:cNvSpPr txBox="1"/>
          <p:nvPr>
            <p:ph idx="11" type="ftr"/>
          </p:nvPr>
        </p:nvSpPr>
        <p:spPr>
          <a:xfrm>
            <a:off x="457200" y="6356350"/>
            <a:ext cx="411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nvSpPr>
        <p:spPr>
          <a:xfrm>
            <a:off x="10972800" y="351532"/>
            <a:ext cx="3240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2E393F"/>
                </a:solidFill>
                <a:latin typeface="Arial"/>
                <a:ea typeface="Arial"/>
                <a:cs typeface="Arial"/>
                <a:sym typeface="Arial"/>
              </a:rPr>
              <a:t>+</a:t>
            </a:r>
            <a:endParaRPr/>
          </a:p>
        </p:txBody>
      </p:sp>
      <p:pic>
        <p:nvPicPr>
          <p:cNvPr id="15" name="Google Shape;15;p1"/>
          <p:cNvPicPr preferRelativeResize="0"/>
          <p:nvPr/>
        </p:nvPicPr>
        <p:blipFill rotWithShape="1">
          <a:blip r:embed="rId1">
            <a:alphaModFix/>
          </a:blip>
          <a:srcRect b="0" l="0" r="0" t="0"/>
          <a:stretch/>
        </p:blipFill>
        <p:spPr>
          <a:xfrm>
            <a:off x="11237246" y="411857"/>
            <a:ext cx="872189" cy="248682"/>
          </a:xfrm>
          <a:prstGeom prst="rect">
            <a:avLst/>
          </a:prstGeom>
          <a:noFill/>
          <a:ln>
            <a:noFill/>
          </a:ln>
        </p:spPr>
      </p:pic>
      <p:sp>
        <p:nvSpPr>
          <p:cNvPr id="16" name="Google Shape;16;p1"/>
          <p:cNvSpPr/>
          <p:nvPr/>
        </p:nvSpPr>
        <p:spPr>
          <a:xfrm>
            <a:off x="10319657" y="274832"/>
            <a:ext cx="653143" cy="521948"/>
          </a:xfrm>
          <a:prstGeom prst="rect">
            <a:avLst/>
          </a:prstGeom>
          <a:solidFill>
            <a:schemeClr val="accent1"/>
          </a:solidFill>
          <a:ln cap="flat" cmpd="sng" w="12700">
            <a:solidFill>
              <a:srgbClr val="6E9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50">
                <a:solidFill>
                  <a:schemeClr val="lt1"/>
                </a:solidFill>
                <a:latin typeface="Arial"/>
                <a:ea typeface="Arial"/>
                <a:cs typeface="Arial"/>
                <a:sym typeface="Arial"/>
              </a:rPr>
              <a:t>Insert client logo</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96">
          <p15:clr>
            <a:srgbClr val="F26B43"/>
          </p15:clr>
        </p15:guide>
        <p15:guide id="2" pos="7584">
          <p15:clr>
            <a:srgbClr val="F26B43"/>
          </p15:clr>
        </p15:guide>
        <p15:guide id="3" orient="horz" pos="96">
          <p15:clr>
            <a:srgbClr val="F26B43"/>
          </p15:clr>
        </p15:guide>
        <p15:guide id="4" orient="horz" pos="4248">
          <p15:clr>
            <a:srgbClr val="F26B43"/>
          </p15:clr>
        </p15:guide>
        <p15:guide id="5" pos="288">
          <p15:clr>
            <a:srgbClr val="F26B43"/>
          </p15:clr>
        </p15:guide>
        <p15:guide id="6" orient="horz" pos="720">
          <p15:clr>
            <a:srgbClr val="F26B43"/>
          </p15:clr>
        </p15:guide>
        <p15:guide id="7"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5.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6" name="Google Shape;246;p27"/>
          <p:cNvSpPr txBox="1"/>
          <p:nvPr>
            <p:ph idx="1" type="body"/>
          </p:nvPr>
        </p:nvSpPr>
        <p:spPr>
          <a:xfrm>
            <a:off x="670219" y="4637095"/>
            <a:ext cx="6600011" cy="1477328"/>
          </a:xfrm>
          <a:prstGeom prst="rect">
            <a:avLst/>
          </a:prstGeom>
          <a:noFill/>
          <a:ln>
            <a:noFill/>
          </a:ln>
        </p:spPr>
        <p:txBody>
          <a:bodyPr anchorCtr="0" anchor="b" bIns="0" lIns="0" spcFirstLastPara="1" rIns="0" wrap="square" tIns="0">
            <a:spAutoFit/>
          </a:bodyPr>
          <a:lstStyle/>
          <a:p>
            <a:pPr indent="0" lvl="0" marL="0" rtl="0" algn="l">
              <a:lnSpc>
                <a:spcPct val="100000"/>
              </a:lnSpc>
              <a:spcBef>
                <a:spcPts val="0"/>
              </a:spcBef>
              <a:spcAft>
                <a:spcPts val="0"/>
              </a:spcAft>
              <a:buSzPts val="4800"/>
              <a:buFont typeface="Arial"/>
              <a:buNone/>
            </a:pPr>
            <a:r>
              <a:rPr lang="en-US"/>
              <a:t>MaxDiff Analysis Example Report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3200"/>
              <a:buFont typeface="Arial"/>
              <a:buNone/>
            </a:pPr>
            <a:r>
              <a:rPr lang="en-US"/>
              <a:t>Table of Contents</a:t>
            </a:r>
            <a:endParaRPr/>
          </a:p>
        </p:txBody>
      </p:sp>
      <p:sp>
        <p:nvSpPr>
          <p:cNvPr id="252" name="Google Shape;252;p28"/>
          <p:cNvSpPr txBox="1"/>
          <p:nvPr>
            <p:ph idx="1" type="body"/>
          </p:nvPr>
        </p:nvSpPr>
        <p:spPr>
          <a:xfrm>
            <a:off x="457200" y="13716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SzPts val="1800"/>
              <a:buChar char="•"/>
            </a:pPr>
            <a:r>
              <a:rPr lang="en-US"/>
              <a:t>Background &amp; Methodology</a:t>
            </a:r>
            <a:endParaRPr/>
          </a:p>
          <a:p>
            <a:pPr indent="-228600" lvl="0" marL="228600" rtl="0" algn="l">
              <a:lnSpc>
                <a:spcPct val="150000"/>
              </a:lnSpc>
              <a:spcBef>
                <a:spcPts val="1500"/>
              </a:spcBef>
              <a:spcAft>
                <a:spcPts val="0"/>
              </a:spcAft>
              <a:buSzPts val="1800"/>
              <a:buChar char="•"/>
            </a:pPr>
            <a:r>
              <a:rPr lang="en-US"/>
              <a:t>Key Findings </a:t>
            </a:r>
            <a:endParaRPr/>
          </a:p>
          <a:p>
            <a:pPr indent="-228600" lvl="0" marL="228600" rtl="0" algn="l">
              <a:lnSpc>
                <a:spcPct val="150000"/>
              </a:lnSpc>
              <a:spcBef>
                <a:spcPts val="1500"/>
              </a:spcBef>
              <a:spcAft>
                <a:spcPts val="0"/>
              </a:spcAft>
              <a:buSzPts val="1800"/>
              <a:buChar char="•"/>
            </a:pPr>
            <a:r>
              <a:rPr lang="en-US"/>
              <a:t>Detailed Findings </a:t>
            </a:r>
            <a:endParaRPr/>
          </a:p>
          <a:p>
            <a:pPr indent="-228600" lvl="0" marL="228600" rtl="0" algn="l">
              <a:lnSpc>
                <a:spcPct val="150000"/>
              </a:lnSpc>
              <a:spcBef>
                <a:spcPts val="1500"/>
              </a:spcBef>
              <a:spcAft>
                <a:spcPts val="0"/>
              </a:spcAft>
              <a:buSzPts val="1800"/>
              <a:buChar char="•"/>
            </a:pPr>
            <a:r>
              <a:rPr lang="en-US"/>
              <a:t>Demographic Profile</a:t>
            </a:r>
            <a:endParaRPr/>
          </a:p>
          <a:p>
            <a:pPr indent="-228600" lvl="0" marL="228600" rtl="0" algn="l">
              <a:lnSpc>
                <a:spcPct val="150000"/>
              </a:lnSpc>
              <a:spcBef>
                <a:spcPts val="1500"/>
              </a:spcBef>
              <a:spcAft>
                <a:spcPts val="0"/>
              </a:spcAft>
              <a:buSzPts val="1800"/>
              <a:buChar char="•"/>
            </a:pPr>
            <a:r>
              <a:rPr lang="en-US"/>
              <a:t>Appendix</a:t>
            </a:r>
            <a:endParaRPr/>
          </a:p>
        </p:txBody>
      </p:sp>
      <p:sp>
        <p:nvSpPr>
          <p:cNvPr id="253" name="Google Shape;253;p28"/>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4" name="Google Shape;254;p28"/>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MaxDiff Messaging Study</a:t>
            </a:r>
            <a:endParaRPr/>
          </a:p>
        </p:txBody>
      </p:sp>
      <p:sp>
        <p:nvSpPr>
          <p:cNvPr id="255" name="Google Shape;255;p28"/>
          <p:cNvSpPr/>
          <p:nvPr/>
        </p:nvSpPr>
        <p:spPr>
          <a:xfrm>
            <a:off x="545249" y="1432048"/>
            <a:ext cx="96436" cy="428625"/>
          </a:xfrm>
          <a:prstGeom prst="rect">
            <a:avLst/>
          </a:prstGeom>
          <a:solidFill>
            <a:srgbClr val="97D60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sp>
        <p:nvSpPr>
          <p:cNvPr id="256" name="Google Shape;256;p28"/>
          <p:cNvSpPr/>
          <p:nvPr/>
        </p:nvSpPr>
        <p:spPr>
          <a:xfrm>
            <a:off x="545249" y="2019378"/>
            <a:ext cx="96436" cy="428625"/>
          </a:xfrm>
          <a:prstGeom prst="rect">
            <a:avLst/>
          </a:prstGeom>
          <a:solidFill>
            <a:srgbClr val="157BD2"/>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sp>
        <p:nvSpPr>
          <p:cNvPr id="257" name="Google Shape;257;p28"/>
          <p:cNvSpPr/>
          <p:nvPr/>
        </p:nvSpPr>
        <p:spPr>
          <a:xfrm>
            <a:off x="545249" y="2646101"/>
            <a:ext cx="96436" cy="428625"/>
          </a:xfrm>
          <a:prstGeom prst="rect">
            <a:avLst/>
          </a:prstGeom>
          <a:solidFill>
            <a:srgbClr val="464E8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sp>
        <p:nvSpPr>
          <p:cNvPr id="258" name="Google Shape;258;p28"/>
          <p:cNvSpPr/>
          <p:nvPr/>
        </p:nvSpPr>
        <p:spPr>
          <a:xfrm>
            <a:off x="545249" y="3219943"/>
            <a:ext cx="96436" cy="428625"/>
          </a:xfrm>
          <a:prstGeom prst="rect">
            <a:avLst/>
          </a:prstGeom>
          <a:solidFill>
            <a:srgbClr val="2DCDD3"/>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sp>
        <p:nvSpPr>
          <p:cNvPr id="259" name="Google Shape;259;p28"/>
          <p:cNvSpPr/>
          <p:nvPr/>
        </p:nvSpPr>
        <p:spPr>
          <a:xfrm>
            <a:off x="537487" y="3843810"/>
            <a:ext cx="96436" cy="428625"/>
          </a:xfrm>
          <a:prstGeom prst="rect">
            <a:avLst/>
          </a:prstGeom>
          <a:solidFill>
            <a:srgbClr val="7F7F7F"/>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9"/>
          <p:cNvSpPr txBox="1"/>
          <p:nvPr>
            <p:ph type="title"/>
          </p:nvPr>
        </p:nvSpPr>
        <p:spPr>
          <a:xfrm>
            <a:off x="2424587" y="0"/>
            <a:ext cx="7342825"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lang="en-US" sz="5400">
                <a:solidFill>
                  <a:schemeClr val="dk1"/>
                </a:solidFill>
              </a:rPr>
              <a:t>Background &amp; Methodology</a:t>
            </a:r>
            <a:endParaRPr/>
          </a:p>
        </p:txBody>
      </p:sp>
      <p:sp>
        <p:nvSpPr>
          <p:cNvPr id="265" name="Google Shape;265;p29"/>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0"/>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3200"/>
              <a:buFont typeface="Arial"/>
              <a:buNone/>
            </a:pPr>
            <a:r>
              <a:rPr lang="en-US"/>
              <a:t>Background &amp; Approach</a:t>
            </a:r>
            <a:endParaRPr/>
          </a:p>
        </p:txBody>
      </p:sp>
      <p:sp>
        <p:nvSpPr>
          <p:cNvPr id="272" name="Google Shape;272;p30"/>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3" name="Google Shape;273;p30"/>
          <p:cNvSpPr txBox="1"/>
          <p:nvPr>
            <p:ph idx="1" type="body"/>
          </p:nvPr>
        </p:nvSpPr>
        <p:spPr>
          <a:xfrm>
            <a:off x="457200" y="1161288"/>
            <a:ext cx="11558016" cy="116855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r>
              <a:rPr lang="en-US" sz="1600"/>
              <a:t>The purpose of this study is to optimize claims messaging for current and prospective customer in order to accelerate acquisition and improve retention.</a:t>
            </a:r>
            <a:endParaRPr/>
          </a:p>
        </p:txBody>
      </p:sp>
      <p:sp>
        <p:nvSpPr>
          <p:cNvPr id="274" name="Google Shape;274;p30"/>
          <p:cNvSpPr txBox="1"/>
          <p:nvPr>
            <p:ph idx="2" type="body"/>
          </p:nvPr>
        </p:nvSpPr>
        <p:spPr>
          <a:xfrm>
            <a:off x="602975" y="4014522"/>
            <a:ext cx="3383643" cy="21770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400"/>
              <a:buFont typeface="Arial"/>
              <a:buNone/>
            </a:pPr>
            <a:r>
              <a:rPr lang="en-US"/>
              <a:t>Total sample size: n=2174</a:t>
            </a:r>
            <a:endParaRPr/>
          </a:p>
          <a:p>
            <a:pPr indent="0" lvl="0" marL="0" rtl="0" algn="l">
              <a:lnSpc>
                <a:spcPct val="90000"/>
              </a:lnSpc>
              <a:spcBef>
                <a:spcPts val="1500"/>
              </a:spcBef>
              <a:spcAft>
                <a:spcPts val="0"/>
              </a:spcAft>
              <a:buSzPts val="1400"/>
              <a:buFont typeface="Arial"/>
              <a:buNone/>
            </a:pPr>
            <a:r>
              <a:rPr lang="en-US"/>
              <a:t>This fielded from December 2-12, 2019</a:t>
            </a:r>
            <a:endParaRPr/>
          </a:p>
          <a:p>
            <a:pPr indent="0" lvl="0" marL="0" rtl="0" algn="l">
              <a:lnSpc>
                <a:spcPct val="90000"/>
              </a:lnSpc>
              <a:spcBef>
                <a:spcPts val="1500"/>
              </a:spcBef>
              <a:spcAft>
                <a:spcPts val="0"/>
              </a:spcAft>
              <a:buSzPts val="1400"/>
              <a:buFont typeface="Arial"/>
              <a:buNone/>
            </a:pPr>
            <a:r>
              <a:rPr lang="en-US"/>
              <a:t>Respondents were…</a:t>
            </a:r>
            <a:endParaRPr/>
          </a:p>
          <a:p>
            <a:pPr indent="-225424" lvl="1" marL="461963" rtl="0" algn="l">
              <a:lnSpc>
                <a:spcPct val="100000"/>
              </a:lnSpc>
              <a:spcBef>
                <a:spcPts val="900"/>
              </a:spcBef>
              <a:spcAft>
                <a:spcPts val="0"/>
              </a:spcAft>
              <a:buSzPts val="1300"/>
              <a:buChar char="•"/>
            </a:pPr>
            <a:r>
              <a:rPr i="1" lang="en-US" sz="1300"/>
              <a:t>Customers (1471) </a:t>
            </a:r>
            <a:endParaRPr/>
          </a:p>
          <a:p>
            <a:pPr indent="-225424" lvl="1" marL="461963" rtl="0" algn="l">
              <a:lnSpc>
                <a:spcPct val="100000"/>
              </a:lnSpc>
              <a:spcBef>
                <a:spcPts val="900"/>
              </a:spcBef>
              <a:spcAft>
                <a:spcPts val="0"/>
              </a:spcAft>
              <a:buSzPts val="1300"/>
              <a:buChar char="•"/>
            </a:pPr>
            <a:r>
              <a:rPr i="1" lang="en-US" sz="1300"/>
              <a:t>Prospects (617)</a:t>
            </a:r>
            <a:endParaRPr/>
          </a:p>
          <a:p>
            <a:pPr indent="-225424" lvl="1" marL="461963" rtl="0" algn="l">
              <a:lnSpc>
                <a:spcPct val="100000"/>
              </a:lnSpc>
              <a:spcBef>
                <a:spcPts val="900"/>
              </a:spcBef>
              <a:spcAft>
                <a:spcPts val="0"/>
              </a:spcAft>
              <a:buSzPts val="1300"/>
              <a:buChar char="•"/>
            </a:pPr>
            <a:r>
              <a:rPr i="1" lang="en-US" sz="1300"/>
              <a:t>Non-Members (67)</a:t>
            </a:r>
            <a:endParaRPr/>
          </a:p>
        </p:txBody>
      </p:sp>
      <p:sp>
        <p:nvSpPr>
          <p:cNvPr id="275" name="Google Shape;275;p30"/>
          <p:cNvSpPr txBox="1"/>
          <p:nvPr>
            <p:ph idx="3" type="body"/>
          </p:nvPr>
        </p:nvSpPr>
        <p:spPr>
          <a:xfrm>
            <a:off x="9019225" y="4014522"/>
            <a:ext cx="2487955" cy="2091502"/>
          </a:xfrm>
          <a:prstGeom prst="rect">
            <a:avLst/>
          </a:prstGeom>
          <a:noFill/>
          <a:ln>
            <a:noFill/>
          </a:ln>
        </p:spPr>
        <p:txBody>
          <a:bodyPr anchorCtr="0" anchor="t" bIns="45700" lIns="91425" spcFirstLastPara="1" rIns="91425" wrap="square" tIns="45700">
            <a:noAutofit/>
          </a:bodyPr>
          <a:lstStyle/>
          <a:p>
            <a:pPr indent="-285750" lvl="0" marL="285750" rtl="0" algn="l">
              <a:lnSpc>
                <a:spcPct val="150000"/>
              </a:lnSpc>
              <a:spcBef>
                <a:spcPts val="0"/>
              </a:spcBef>
              <a:spcAft>
                <a:spcPts val="0"/>
              </a:spcAft>
              <a:buSzPts val="1800"/>
              <a:buFont typeface="Arial"/>
              <a:buChar char="•"/>
            </a:pPr>
            <a:r>
              <a:rPr b="1" lang="en-US" sz="1800"/>
              <a:t>Screener</a:t>
            </a:r>
            <a:endParaRPr/>
          </a:p>
          <a:p>
            <a:pPr indent="-285750" lvl="0" marL="285750" rtl="0" algn="l">
              <a:lnSpc>
                <a:spcPct val="150000"/>
              </a:lnSpc>
              <a:spcBef>
                <a:spcPts val="400"/>
              </a:spcBef>
              <a:spcAft>
                <a:spcPts val="0"/>
              </a:spcAft>
              <a:buSzPts val="1800"/>
              <a:buFont typeface="Arial"/>
              <a:buChar char="•"/>
            </a:pPr>
            <a:r>
              <a:rPr b="1" lang="en-US" sz="1800"/>
              <a:t>MaxDiff</a:t>
            </a:r>
            <a:endParaRPr/>
          </a:p>
          <a:p>
            <a:pPr indent="-285750" lvl="0" marL="285750" rtl="0" algn="l">
              <a:lnSpc>
                <a:spcPct val="150000"/>
              </a:lnSpc>
              <a:spcBef>
                <a:spcPts val="400"/>
              </a:spcBef>
              <a:spcAft>
                <a:spcPts val="0"/>
              </a:spcAft>
              <a:buSzPts val="1800"/>
              <a:buFont typeface="Arial"/>
              <a:buChar char="•"/>
            </a:pPr>
            <a:r>
              <a:rPr b="1" lang="en-US" sz="1800"/>
              <a:t>Claim Attributes</a:t>
            </a:r>
            <a:endParaRPr/>
          </a:p>
          <a:p>
            <a:pPr indent="-285750" lvl="0" marL="285750" rtl="0" algn="l">
              <a:lnSpc>
                <a:spcPct val="150000"/>
              </a:lnSpc>
              <a:spcBef>
                <a:spcPts val="400"/>
              </a:spcBef>
              <a:spcAft>
                <a:spcPts val="0"/>
              </a:spcAft>
              <a:buSzPts val="1800"/>
              <a:buFont typeface="Arial"/>
              <a:buChar char="•"/>
            </a:pPr>
            <a:r>
              <a:rPr b="1" lang="en-US" sz="1800"/>
              <a:t>Demographics</a:t>
            </a:r>
            <a:endParaRPr/>
          </a:p>
        </p:txBody>
      </p:sp>
      <p:sp>
        <p:nvSpPr>
          <p:cNvPr id="276" name="Google Shape;276;p30"/>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MaxDiff Messaging Study</a:t>
            </a:r>
            <a:endParaRPr/>
          </a:p>
        </p:txBody>
      </p:sp>
      <p:pic>
        <p:nvPicPr>
          <p:cNvPr id="277" name="Google Shape;277;p30"/>
          <p:cNvPicPr preferRelativeResize="0"/>
          <p:nvPr/>
        </p:nvPicPr>
        <p:blipFill rotWithShape="1">
          <a:blip r:embed="rId3">
            <a:alphaModFix amt="70000"/>
          </a:blip>
          <a:srcRect b="0" l="0" r="0" t="0"/>
          <a:stretch/>
        </p:blipFill>
        <p:spPr>
          <a:xfrm>
            <a:off x="2420347" y="3053874"/>
            <a:ext cx="1298645" cy="826410"/>
          </a:xfrm>
          <a:prstGeom prst="rect">
            <a:avLst/>
          </a:prstGeom>
          <a:noFill/>
          <a:ln>
            <a:noFill/>
          </a:ln>
        </p:spPr>
      </p:pic>
      <p:sp>
        <p:nvSpPr>
          <p:cNvPr id="278" name="Google Shape;278;p30"/>
          <p:cNvSpPr/>
          <p:nvPr/>
        </p:nvSpPr>
        <p:spPr>
          <a:xfrm>
            <a:off x="9262354" y="2756715"/>
            <a:ext cx="2643188" cy="82641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203D98"/>
                </a:solidFill>
                <a:latin typeface="Arial"/>
                <a:ea typeface="Arial"/>
                <a:cs typeface="Arial"/>
                <a:sym typeface="Arial"/>
              </a:rPr>
              <a:t>Survey </a:t>
            </a:r>
            <a:endParaRPr/>
          </a:p>
          <a:p>
            <a:pPr indent="0" lvl="0" marL="0" marR="0" rtl="0" algn="l">
              <a:spcBef>
                <a:spcPts val="0"/>
              </a:spcBef>
              <a:spcAft>
                <a:spcPts val="0"/>
              </a:spcAft>
              <a:buNone/>
            </a:pPr>
            <a:r>
              <a:rPr b="1" lang="en-US" sz="2400">
                <a:solidFill>
                  <a:srgbClr val="203D98"/>
                </a:solidFill>
                <a:latin typeface="Arial"/>
                <a:ea typeface="Arial"/>
                <a:cs typeface="Arial"/>
                <a:sym typeface="Arial"/>
              </a:rPr>
              <a:t>Flow</a:t>
            </a:r>
            <a:endParaRPr/>
          </a:p>
        </p:txBody>
      </p:sp>
      <p:sp>
        <p:nvSpPr>
          <p:cNvPr id="279" name="Google Shape;279;p30"/>
          <p:cNvSpPr/>
          <p:nvPr/>
        </p:nvSpPr>
        <p:spPr>
          <a:xfrm>
            <a:off x="4875905" y="2756715"/>
            <a:ext cx="3486065" cy="82641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203D98"/>
                </a:solidFill>
                <a:latin typeface="Arial"/>
                <a:ea typeface="Arial"/>
                <a:cs typeface="Arial"/>
                <a:sym typeface="Arial"/>
              </a:rPr>
              <a:t>MaxDiff </a:t>
            </a:r>
            <a:endParaRPr/>
          </a:p>
          <a:p>
            <a:pPr indent="0" lvl="0" marL="0" marR="0" rtl="0" algn="l">
              <a:spcBef>
                <a:spcPts val="0"/>
              </a:spcBef>
              <a:spcAft>
                <a:spcPts val="0"/>
              </a:spcAft>
              <a:buNone/>
            </a:pPr>
            <a:r>
              <a:rPr b="1" lang="en-US" sz="2400">
                <a:solidFill>
                  <a:srgbClr val="203D98"/>
                </a:solidFill>
                <a:latin typeface="Arial"/>
                <a:ea typeface="Arial"/>
                <a:cs typeface="Arial"/>
                <a:sym typeface="Arial"/>
              </a:rPr>
              <a:t>Approach</a:t>
            </a:r>
            <a:endParaRPr/>
          </a:p>
        </p:txBody>
      </p:sp>
      <p:sp>
        <p:nvSpPr>
          <p:cNvPr id="280" name="Google Shape;280;p30"/>
          <p:cNvSpPr/>
          <p:nvPr/>
        </p:nvSpPr>
        <p:spPr>
          <a:xfrm>
            <a:off x="973202" y="2756715"/>
            <a:ext cx="2643188" cy="82641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203D98"/>
                </a:solidFill>
                <a:latin typeface="Arial"/>
                <a:ea typeface="Arial"/>
                <a:cs typeface="Arial"/>
                <a:sym typeface="Arial"/>
              </a:rPr>
              <a:t>Sample</a:t>
            </a:r>
            <a:endParaRPr/>
          </a:p>
        </p:txBody>
      </p:sp>
      <p:sp>
        <p:nvSpPr>
          <p:cNvPr id="281" name="Google Shape;281;p30"/>
          <p:cNvSpPr/>
          <p:nvPr/>
        </p:nvSpPr>
        <p:spPr>
          <a:xfrm rot="5400000">
            <a:off x="7373152" y="5011152"/>
            <a:ext cx="2636874" cy="461259"/>
          </a:xfrm>
          <a:prstGeom prst="rightArrow">
            <a:avLst>
              <a:gd fmla="val 50000" name="adj1"/>
              <a:gd fmla="val 50000" name="adj2"/>
            </a:avLst>
          </a:prstGeom>
          <a:gradFill>
            <a:gsLst>
              <a:gs pos="0">
                <a:srgbClr val="FAFFEF"/>
              </a:gs>
              <a:gs pos="100000">
                <a:srgbClr val="0C008D"/>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2" name="Google Shape;282;p30"/>
          <p:cNvSpPr/>
          <p:nvPr/>
        </p:nvSpPr>
        <p:spPr>
          <a:xfrm>
            <a:off x="4305577" y="5822277"/>
            <a:ext cx="3504077" cy="73866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i="1" lang="en-US" sz="1400">
                <a:solidFill>
                  <a:srgbClr val="2E393F"/>
                </a:solidFill>
                <a:latin typeface="Arial"/>
                <a:ea typeface="Arial"/>
                <a:cs typeface="Arial"/>
                <a:sym typeface="Arial"/>
              </a:rPr>
              <a:t>It informs on the relative importance of a product or service’s feature in influencing your customers.</a:t>
            </a:r>
            <a:endParaRPr i="1" sz="1400">
              <a:solidFill>
                <a:schemeClr val="dk1"/>
              </a:solidFill>
              <a:latin typeface="Arial"/>
              <a:ea typeface="Arial"/>
              <a:cs typeface="Arial"/>
              <a:sym typeface="Arial"/>
            </a:endParaRPr>
          </a:p>
        </p:txBody>
      </p:sp>
      <p:sp>
        <p:nvSpPr>
          <p:cNvPr id="283" name="Google Shape;283;p30"/>
          <p:cNvSpPr/>
          <p:nvPr/>
        </p:nvSpPr>
        <p:spPr>
          <a:xfrm>
            <a:off x="4323589" y="4014522"/>
            <a:ext cx="3610354" cy="175432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MaxDiff (Maximum Difference) </a:t>
            </a:r>
            <a:endParaRPr/>
          </a:p>
          <a:p>
            <a:pPr indent="0" lvl="0" marL="0" marR="0" rtl="0" algn="ctr">
              <a:spcBef>
                <a:spcPts val="0"/>
              </a:spcBef>
              <a:spcAft>
                <a:spcPts val="0"/>
              </a:spcAft>
              <a:buNone/>
            </a:pPr>
            <a:r>
              <a:rPr b="1" lang="en-US" sz="1800">
                <a:solidFill>
                  <a:schemeClr val="dk1"/>
                </a:solidFill>
                <a:latin typeface="Arial"/>
                <a:ea typeface="Arial"/>
                <a:cs typeface="Arial"/>
                <a:sym typeface="Arial"/>
              </a:rPr>
              <a:t>is an advanced survey research technique that is used to obtain preference and importance scores for multiple items. </a:t>
            </a:r>
            <a:endParaRPr/>
          </a:p>
        </p:txBody>
      </p:sp>
      <p:pic>
        <p:nvPicPr>
          <p:cNvPr id="284" name="Google Shape;284;p30"/>
          <p:cNvPicPr preferRelativeResize="0"/>
          <p:nvPr/>
        </p:nvPicPr>
        <p:blipFill rotWithShape="1">
          <a:blip r:embed="rId4">
            <a:alphaModFix/>
          </a:blip>
          <a:srcRect b="0" l="0" r="0" t="0"/>
          <a:stretch/>
        </p:blipFill>
        <p:spPr>
          <a:xfrm>
            <a:off x="6631614" y="3169920"/>
            <a:ext cx="926978" cy="661128"/>
          </a:xfrm>
          <a:prstGeom prst="rect">
            <a:avLst/>
          </a:prstGeom>
          <a:noFill/>
          <a:ln>
            <a:noFill/>
          </a:ln>
        </p:spPr>
      </p:pic>
      <p:pic>
        <p:nvPicPr>
          <p:cNvPr id="285" name="Google Shape;285;p30"/>
          <p:cNvPicPr preferRelativeResize="0"/>
          <p:nvPr/>
        </p:nvPicPr>
        <p:blipFill rotWithShape="1">
          <a:blip r:embed="rId5">
            <a:alphaModFix/>
          </a:blip>
          <a:srcRect b="0" l="0" r="0" t="0"/>
          <a:stretch/>
        </p:blipFill>
        <p:spPr>
          <a:xfrm>
            <a:off x="10608491" y="3284267"/>
            <a:ext cx="666101" cy="4640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1"/>
          <p:cNvSpPr/>
          <p:nvPr/>
        </p:nvSpPr>
        <p:spPr>
          <a:xfrm>
            <a:off x="0" y="0"/>
            <a:ext cx="6297386"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1" name="Google Shape;291;p31"/>
          <p:cNvSpPr txBox="1"/>
          <p:nvPr>
            <p:ph type="title"/>
          </p:nvPr>
        </p:nvSpPr>
        <p:spPr>
          <a:xfrm>
            <a:off x="454126" y="164810"/>
            <a:ext cx="8385858"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3200"/>
              <a:buFont typeface="Arial"/>
              <a:buNone/>
            </a:pPr>
            <a:r>
              <a:rPr lang="en-US"/>
              <a:t>MaxDiff Methodology </a:t>
            </a:r>
            <a:endParaRPr/>
          </a:p>
        </p:txBody>
      </p:sp>
      <p:sp>
        <p:nvSpPr>
          <p:cNvPr id="292" name="Google Shape;292;p31"/>
          <p:cNvSpPr txBox="1"/>
          <p:nvPr>
            <p:ph idx="1" type="body"/>
          </p:nvPr>
        </p:nvSpPr>
        <p:spPr>
          <a:xfrm>
            <a:off x="601369" y="1799044"/>
            <a:ext cx="5043433" cy="1137318"/>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SzPts val="1800"/>
              <a:buNone/>
            </a:pPr>
            <a:r>
              <a:rPr i="1" lang="en-US">
                <a:solidFill>
                  <a:schemeClr val="accent3"/>
                </a:solidFill>
              </a:rPr>
              <a:t>MaxDiff presents respondents with samples of the full list of items you wish to assess, then has them mark the items they prefer the most and the items they prefer the least in each set.</a:t>
            </a:r>
            <a:endParaRPr/>
          </a:p>
          <a:p>
            <a:pPr indent="-114300" lvl="0" marL="228600" rtl="0" algn="l">
              <a:lnSpc>
                <a:spcPct val="150000"/>
              </a:lnSpc>
              <a:spcBef>
                <a:spcPts val="1500"/>
              </a:spcBef>
              <a:spcAft>
                <a:spcPts val="0"/>
              </a:spcAft>
              <a:buSzPts val="1800"/>
              <a:buNone/>
            </a:pPr>
            <a:r>
              <a:t/>
            </a:r>
            <a:endParaRPr/>
          </a:p>
        </p:txBody>
      </p:sp>
      <p:sp>
        <p:nvSpPr>
          <p:cNvPr id="293" name="Google Shape;293;p31"/>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4" name="Google Shape;294;p31"/>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MaxDiff Messaging Study</a:t>
            </a:r>
            <a:endParaRPr/>
          </a:p>
        </p:txBody>
      </p:sp>
      <p:cxnSp>
        <p:nvCxnSpPr>
          <p:cNvPr id="295" name="Google Shape;295;p31"/>
          <p:cNvCxnSpPr/>
          <p:nvPr/>
        </p:nvCxnSpPr>
        <p:spPr>
          <a:xfrm>
            <a:off x="6297386" y="0"/>
            <a:ext cx="0" cy="6858000"/>
          </a:xfrm>
          <a:prstGeom prst="straightConnector1">
            <a:avLst/>
          </a:prstGeom>
          <a:noFill/>
          <a:ln cap="flat" cmpd="sng" w="28575">
            <a:solidFill>
              <a:srgbClr val="7FE0E4"/>
            </a:solidFill>
            <a:prstDash val="solid"/>
            <a:miter lim="800000"/>
            <a:headEnd len="sm" w="sm" type="none"/>
            <a:tailEnd len="sm" w="sm" type="none"/>
          </a:ln>
        </p:spPr>
      </p:cxnSp>
      <p:sp>
        <p:nvSpPr>
          <p:cNvPr id="296" name="Google Shape;296;p31"/>
          <p:cNvSpPr/>
          <p:nvPr/>
        </p:nvSpPr>
        <p:spPr>
          <a:xfrm>
            <a:off x="759678" y="3922817"/>
            <a:ext cx="4866153" cy="2262671"/>
          </a:xfrm>
          <a:prstGeom prst="rect">
            <a:avLst/>
          </a:prstGeom>
          <a:noFill/>
          <a:ln>
            <a:noFill/>
          </a:ln>
        </p:spPr>
        <p:txBody>
          <a:bodyPr anchorCtr="0" anchor="t" bIns="45700" lIns="91425" spcFirstLastPara="1" rIns="91425" wrap="square" tIns="45700">
            <a:noAutofit/>
          </a:bodyPr>
          <a:lstStyle/>
          <a:p>
            <a:pPr indent="-285750" lvl="0" marL="285750" marR="0" rtl="0" algn="l">
              <a:lnSpc>
                <a:spcPct val="150000"/>
              </a:lnSpc>
              <a:spcBef>
                <a:spcPts val="0"/>
              </a:spcBef>
              <a:spcAft>
                <a:spcPts val="0"/>
              </a:spcAft>
              <a:buClr>
                <a:srgbClr val="003863"/>
              </a:buClr>
              <a:buSzPts val="1600"/>
              <a:buFont typeface="Arial"/>
              <a:buChar char="•"/>
            </a:pPr>
            <a:r>
              <a:rPr i="1" lang="en-US" sz="1600">
                <a:solidFill>
                  <a:srgbClr val="003863"/>
                </a:solidFill>
                <a:latin typeface="Arial"/>
                <a:ea typeface="Arial"/>
                <a:cs typeface="Arial"/>
                <a:sym typeface="Arial"/>
              </a:rPr>
              <a:t>Relies on paired comparisons</a:t>
            </a:r>
            <a:endParaRPr/>
          </a:p>
          <a:p>
            <a:pPr indent="-285750" lvl="0" marL="285750" marR="0" rtl="0" algn="l">
              <a:lnSpc>
                <a:spcPct val="150000"/>
              </a:lnSpc>
              <a:spcBef>
                <a:spcPts val="0"/>
              </a:spcBef>
              <a:spcAft>
                <a:spcPts val="0"/>
              </a:spcAft>
              <a:buClr>
                <a:srgbClr val="003863"/>
              </a:buClr>
              <a:buSzPts val="1600"/>
              <a:buFont typeface="Arial"/>
              <a:buChar char="•"/>
            </a:pPr>
            <a:r>
              <a:rPr i="1" lang="en-US" sz="1600">
                <a:solidFill>
                  <a:srgbClr val="003863"/>
                </a:solidFill>
                <a:latin typeface="Arial"/>
                <a:ea typeface="Arial"/>
                <a:cs typeface="Arial"/>
                <a:sym typeface="Arial"/>
              </a:rPr>
              <a:t>Seeks to find the maximum difference in preference </a:t>
            </a:r>
            <a:endParaRPr/>
          </a:p>
          <a:p>
            <a:pPr indent="-285750" lvl="0" marL="285750" marR="0" rtl="0" algn="l">
              <a:lnSpc>
                <a:spcPct val="150000"/>
              </a:lnSpc>
              <a:spcBef>
                <a:spcPts val="0"/>
              </a:spcBef>
              <a:spcAft>
                <a:spcPts val="0"/>
              </a:spcAft>
              <a:buClr>
                <a:srgbClr val="003863"/>
              </a:buClr>
              <a:buSzPts val="1600"/>
              <a:buFont typeface="Arial"/>
              <a:buChar char="•"/>
            </a:pPr>
            <a:r>
              <a:rPr i="1" lang="en-US" sz="1600">
                <a:solidFill>
                  <a:srgbClr val="003863"/>
                </a:solidFill>
                <a:latin typeface="Arial"/>
                <a:ea typeface="Arial"/>
                <a:cs typeface="Arial"/>
                <a:sym typeface="Arial"/>
              </a:rPr>
              <a:t>Identifies the features your program should be most focused on providing for customers, and which you can set aside.</a:t>
            </a:r>
            <a:endParaRPr/>
          </a:p>
        </p:txBody>
      </p:sp>
      <p:grpSp>
        <p:nvGrpSpPr>
          <p:cNvPr id="297" name="Google Shape;297;p31"/>
          <p:cNvGrpSpPr/>
          <p:nvPr/>
        </p:nvGrpSpPr>
        <p:grpSpPr>
          <a:xfrm>
            <a:off x="6676657" y="2062279"/>
            <a:ext cx="5076529" cy="3278668"/>
            <a:chOff x="6600825" y="1015579"/>
            <a:chExt cx="5076529" cy="3278668"/>
          </a:xfrm>
        </p:grpSpPr>
        <p:sp>
          <p:nvSpPr>
            <p:cNvPr id="298" name="Google Shape;298;p31"/>
            <p:cNvSpPr/>
            <p:nvPr/>
          </p:nvSpPr>
          <p:spPr>
            <a:xfrm>
              <a:off x="7892215" y="1723144"/>
              <a:ext cx="2468880" cy="45720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 Claim</a:t>
              </a:r>
              <a:endParaRPr/>
            </a:p>
          </p:txBody>
        </p:sp>
        <p:sp>
          <p:nvSpPr>
            <p:cNvPr id="299" name="Google Shape;299;p31"/>
            <p:cNvSpPr/>
            <p:nvPr/>
          </p:nvSpPr>
          <p:spPr>
            <a:xfrm>
              <a:off x="7917084" y="2336037"/>
              <a:ext cx="2468880" cy="457200"/>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Claim</a:t>
              </a:r>
              <a:endParaRPr/>
            </a:p>
          </p:txBody>
        </p:sp>
        <p:sp>
          <p:nvSpPr>
            <p:cNvPr id="300" name="Google Shape;300;p31"/>
            <p:cNvSpPr/>
            <p:nvPr/>
          </p:nvSpPr>
          <p:spPr>
            <a:xfrm>
              <a:off x="7917084" y="2975799"/>
              <a:ext cx="2468880" cy="457200"/>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Claim</a:t>
              </a:r>
              <a:endParaRPr/>
            </a:p>
          </p:txBody>
        </p:sp>
        <p:sp>
          <p:nvSpPr>
            <p:cNvPr id="301" name="Google Shape;301;p31"/>
            <p:cNvSpPr/>
            <p:nvPr/>
          </p:nvSpPr>
          <p:spPr>
            <a:xfrm>
              <a:off x="7917084" y="3641725"/>
              <a:ext cx="2468880" cy="45720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Claim</a:t>
              </a:r>
              <a:endParaRPr/>
            </a:p>
          </p:txBody>
        </p:sp>
        <p:sp>
          <p:nvSpPr>
            <p:cNvPr id="302" name="Google Shape;302;p31"/>
            <p:cNvSpPr/>
            <p:nvPr/>
          </p:nvSpPr>
          <p:spPr>
            <a:xfrm>
              <a:off x="10872788" y="1814584"/>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3" name="Google Shape;303;p31"/>
            <p:cNvSpPr/>
            <p:nvPr/>
          </p:nvSpPr>
          <p:spPr>
            <a:xfrm>
              <a:off x="7142544" y="1791655"/>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4" name="Google Shape;304;p31"/>
            <p:cNvSpPr/>
            <p:nvPr/>
          </p:nvSpPr>
          <p:spPr>
            <a:xfrm>
              <a:off x="7142544" y="2446899"/>
              <a:ext cx="274320" cy="27432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5" name="Google Shape;305;p31"/>
            <p:cNvSpPr/>
            <p:nvPr/>
          </p:nvSpPr>
          <p:spPr>
            <a:xfrm>
              <a:off x="10872788" y="2461710"/>
              <a:ext cx="274320" cy="27432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6" name="Google Shape;306;p31"/>
            <p:cNvSpPr/>
            <p:nvPr/>
          </p:nvSpPr>
          <p:spPr>
            <a:xfrm>
              <a:off x="7130110" y="3102143"/>
              <a:ext cx="274320" cy="27432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7" name="Google Shape;307;p31"/>
            <p:cNvSpPr/>
            <p:nvPr/>
          </p:nvSpPr>
          <p:spPr>
            <a:xfrm>
              <a:off x="10872788" y="3108836"/>
              <a:ext cx="274320" cy="27432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 name="Google Shape;308;p31"/>
            <p:cNvSpPr/>
            <p:nvPr/>
          </p:nvSpPr>
          <p:spPr>
            <a:xfrm>
              <a:off x="7142544" y="3757388"/>
              <a:ext cx="274320" cy="27432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9" name="Google Shape;309;p31"/>
            <p:cNvSpPr/>
            <p:nvPr/>
          </p:nvSpPr>
          <p:spPr>
            <a:xfrm>
              <a:off x="10866700" y="3755963"/>
              <a:ext cx="274320" cy="27432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0" name="Google Shape;310;p31"/>
            <p:cNvSpPr/>
            <p:nvPr/>
          </p:nvSpPr>
          <p:spPr>
            <a:xfrm>
              <a:off x="6600825" y="1172696"/>
              <a:ext cx="1291390" cy="31244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rgbClr val="003863"/>
                  </a:solidFill>
                  <a:latin typeface="Arial"/>
                  <a:ea typeface="Arial"/>
                  <a:cs typeface="Arial"/>
                  <a:sym typeface="Arial"/>
                </a:rPr>
                <a:t>Most</a:t>
              </a:r>
              <a:endParaRPr/>
            </a:p>
          </p:txBody>
        </p:sp>
        <p:sp>
          <p:nvSpPr>
            <p:cNvPr id="311" name="Google Shape;311;p31"/>
            <p:cNvSpPr/>
            <p:nvPr/>
          </p:nvSpPr>
          <p:spPr>
            <a:xfrm>
              <a:off x="10385964" y="1172696"/>
              <a:ext cx="1291390" cy="31244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rgbClr val="003863"/>
                  </a:solidFill>
                  <a:latin typeface="Arial"/>
                  <a:ea typeface="Arial"/>
                  <a:cs typeface="Arial"/>
                  <a:sym typeface="Arial"/>
                </a:rPr>
                <a:t>Least</a:t>
              </a:r>
              <a:endParaRPr/>
            </a:p>
          </p:txBody>
        </p:sp>
        <p:cxnSp>
          <p:nvCxnSpPr>
            <p:cNvPr id="312" name="Google Shape;312;p31"/>
            <p:cNvCxnSpPr/>
            <p:nvPr/>
          </p:nvCxnSpPr>
          <p:spPr>
            <a:xfrm>
              <a:off x="7658101" y="1041318"/>
              <a:ext cx="0" cy="3164232"/>
            </a:xfrm>
            <a:prstGeom prst="straightConnector1">
              <a:avLst/>
            </a:prstGeom>
            <a:noFill/>
            <a:ln cap="flat" cmpd="sng" w="9525">
              <a:solidFill>
                <a:schemeClr val="dk2"/>
              </a:solidFill>
              <a:prstDash val="dash"/>
              <a:miter lim="800000"/>
              <a:headEnd len="sm" w="sm" type="none"/>
              <a:tailEnd len="sm" w="sm" type="none"/>
            </a:ln>
          </p:spPr>
        </p:cxnSp>
        <p:cxnSp>
          <p:nvCxnSpPr>
            <p:cNvPr id="313" name="Google Shape;313;p31"/>
            <p:cNvCxnSpPr/>
            <p:nvPr/>
          </p:nvCxnSpPr>
          <p:spPr>
            <a:xfrm>
              <a:off x="10498255" y="1130015"/>
              <a:ext cx="0" cy="3164232"/>
            </a:xfrm>
            <a:prstGeom prst="straightConnector1">
              <a:avLst/>
            </a:prstGeom>
            <a:noFill/>
            <a:ln cap="flat" cmpd="sng" w="9525">
              <a:solidFill>
                <a:schemeClr val="dk2"/>
              </a:solidFill>
              <a:prstDash val="dash"/>
              <a:miter lim="800000"/>
              <a:headEnd len="sm" w="sm" type="none"/>
              <a:tailEnd len="sm" w="sm" type="none"/>
            </a:ln>
          </p:spPr>
        </p:cxnSp>
        <p:cxnSp>
          <p:nvCxnSpPr>
            <p:cNvPr id="314" name="Google Shape;314;p31"/>
            <p:cNvCxnSpPr/>
            <p:nvPr/>
          </p:nvCxnSpPr>
          <p:spPr>
            <a:xfrm>
              <a:off x="6865524" y="1580265"/>
              <a:ext cx="4572000" cy="0"/>
            </a:xfrm>
            <a:prstGeom prst="straightConnector1">
              <a:avLst/>
            </a:prstGeom>
            <a:noFill/>
            <a:ln cap="flat" cmpd="sng" w="9525">
              <a:solidFill>
                <a:schemeClr val="dk2"/>
              </a:solidFill>
              <a:prstDash val="dash"/>
              <a:miter lim="800000"/>
              <a:headEnd len="sm" w="sm" type="none"/>
              <a:tailEnd len="sm" w="sm" type="none"/>
            </a:ln>
          </p:spPr>
        </p:cxnSp>
        <p:sp>
          <p:nvSpPr>
            <p:cNvPr id="315" name="Google Shape;315;p31"/>
            <p:cNvSpPr/>
            <p:nvPr/>
          </p:nvSpPr>
          <p:spPr>
            <a:xfrm>
              <a:off x="8215195" y="1015579"/>
              <a:ext cx="1871663" cy="46990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600">
                  <a:solidFill>
                    <a:srgbClr val="7F7F7F"/>
                  </a:solidFill>
                  <a:latin typeface="Arial"/>
                  <a:ea typeface="Arial"/>
                  <a:cs typeface="Arial"/>
                  <a:sym typeface="Arial"/>
                </a:rPr>
                <a:t>Example:</a:t>
              </a:r>
              <a:endParaRPr/>
            </a:p>
          </p:txBody>
        </p:sp>
      </p:grpSp>
      <p:grpSp>
        <p:nvGrpSpPr>
          <p:cNvPr id="316" name="Google Shape;316;p31"/>
          <p:cNvGrpSpPr/>
          <p:nvPr/>
        </p:nvGrpSpPr>
        <p:grpSpPr>
          <a:xfrm>
            <a:off x="755315" y="2938504"/>
            <a:ext cx="4572000" cy="1032782"/>
            <a:chOff x="710685" y="2817626"/>
            <a:chExt cx="4572000" cy="1032782"/>
          </a:xfrm>
        </p:grpSpPr>
        <p:cxnSp>
          <p:nvCxnSpPr>
            <p:cNvPr id="317" name="Google Shape;317;p31"/>
            <p:cNvCxnSpPr/>
            <p:nvPr/>
          </p:nvCxnSpPr>
          <p:spPr>
            <a:xfrm>
              <a:off x="710685" y="3222337"/>
              <a:ext cx="4572000" cy="44002"/>
            </a:xfrm>
            <a:prstGeom prst="straightConnector1">
              <a:avLst/>
            </a:prstGeom>
            <a:noFill/>
            <a:ln cap="flat" cmpd="sng" w="38100">
              <a:solidFill>
                <a:schemeClr val="accent1"/>
              </a:solidFill>
              <a:prstDash val="solid"/>
              <a:miter lim="800000"/>
              <a:headEnd len="sm" w="sm" type="none"/>
              <a:tailEnd len="sm" w="sm" type="none"/>
            </a:ln>
          </p:spPr>
        </p:cxnSp>
        <p:sp>
          <p:nvSpPr>
            <p:cNvPr id="318" name="Google Shape;318;p31"/>
            <p:cNvSpPr/>
            <p:nvPr/>
          </p:nvSpPr>
          <p:spPr>
            <a:xfrm>
              <a:off x="2781620" y="2900915"/>
              <a:ext cx="499462" cy="76921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19" name="Google Shape;319;p31"/>
            <p:cNvPicPr preferRelativeResize="0"/>
            <p:nvPr/>
          </p:nvPicPr>
          <p:blipFill rotWithShape="1">
            <a:blip r:embed="rId3">
              <a:alphaModFix/>
            </a:blip>
            <a:srcRect b="0" l="0" r="0" t="0"/>
            <a:stretch/>
          </p:blipFill>
          <p:spPr>
            <a:xfrm>
              <a:off x="2719422" y="2817626"/>
              <a:ext cx="857404" cy="1032782"/>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2"/>
          <p:cNvSpPr txBox="1"/>
          <p:nvPr>
            <p:ph type="title"/>
          </p:nvPr>
        </p:nvSpPr>
        <p:spPr>
          <a:xfrm>
            <a:off x="457199" y="36764"/>
            <a:ext cx="10191135"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3200"/>
              <a:buFont typeface="Arial"/>
              <a:buNone/>
            </a:pPr>
            <a:r>
              <a:rPr lang="en-US"/>
              <a:t>Scoring Methodology</a:t>
            </a:r>
            <a:endParaRPr>
              <a:solidFill>
                <a:srgbClr val="0C008D"/>
              </a:solidFill>
            </a:endParaRPr>
          </a:p>
        </p:txBody>
      </p:sp>
      <p:sp>
        <p:nvSpPr>
          <p:cNvPr id="326" name="Google Shape;326;p32"/>
          <p:cNvSpPr txBox="1"/>
          <p:nvPr>
            <p:ph idx="12" type="sldNum"/>
          </p:nvPr>
        </p:nvSpPr>
        <p:spPr>
          <a:xfrm>
            <a:off x="9142153" y="632402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7" name="Google Shape;327;p32"/>
          <p:cNvSpPr txBox="1"/>
          <p:nvPr/>
        </p:nvSpPr>
        <p:spPr>
          <a:xfrm>
            <a:off x="341052" y="973163"/>
            <a:ext cx="116499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We implemented a scoring system to quantify the impact of the claims across our four metrics- including three perceptions and one evaluating trigger. This allows us to evaluate the overall health of a claim and quickly identify which claims are making a tradeoff in one area versus others.</a:t>
            </a:r>
            <a:endParaRPr/>
          </a:p>
        </p:txBody>
      </p:sp>
      <p:sp>
        <p:nvSpPr>
          <p:cNvPr id="328" name="Google Shape;328;p32"/>
          <p:cNvSpPr/>
          <p:nvPr/>
        </p:nvSpPr>
        <p:spPr>
          <a:xfrm>
            <a:off x="6166012" y="3879335"/>
            <a:ext cx="5078125" cy="1988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800">
                <a:solidFill>
                  <a:srgbClr val="003863"/>
                </a:solidFill>
                <a:latin typeface="Arial"/>
                <a:ea typeface="Arial"/>
                <a:cs typeface="Arial"/>
                <a:sym typeface="Arial"/>
              </a:rPr>
              <a:t>The 15 claims are sorted by rank order for each metric. For the top rank, a score of 15 is assigned, for bottom rank, a score of 1. The scores are added up to an overall number and compared alongside MaxDiff results. </a:t>
            </a:r>
            <a:endParaRPr/>
          </a:p>
        </p:txBody>
      </p:sp>
      <p:sp>
        <p:nvSpPr>
          <p:cNvPr id="329" name="Google Shape;329;p32"/>
          <p:cNvSpPr/>
          <p:nvPr/>
        </p:nvSpPr>
        <p:spPr>
          <a:xfrm>
            <a:off x="928686" y="2312633"/>
            <a:ext cx="4926803" cy="557212"/>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lt1"/>
                </a:solidFill>
                <a:latin typeface="Arial"/>
                <a:ea typeface="Arial"/>
                <a:cs typeface="Arial"/>
                <a:sym typeface="Arial"/>
              </a:rPr>
              <a:t>Uniqueness</a:t>
            </a:r>
            <a:endParaRPr/>
          </a:p>
        </p:txBody>
      </p:sp>
      <p:sp>
        <p:nvSpPr>
          <p:cNvPr id="330" name="Google Shape;330;p32"/>
          <p:cNvSpPr/>
          <p:nvPr/>
        </p:nvSpPr>
        <p:spPr>
          <a:xfrm>
            <a:off x="928686" y="3423285"/>
            <a:ext cx="4926803" cy="557212"/>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lt1"/>
                </a:solidFill>
                <a:latin typeface="Arial"/>
                <a:ea typeface="Arial"/>
                <a:cs typeface="Arial"/>
                <a:sym typeface="Arial"/>
              </a:rPr>
              <a:t>Believability</a:t>
            </a:r>
            <a:endParaRPr/>
          </a:p>
        </p:txBody>
      </p:sp>
      <p:sp>
        <p:nvSpPr>
          <p:cNvPr id="331" name="Google Shape;331;p32"/>
          <p:cNvSpPr/>
          <p:nvPr/>
        </p:nvSpPr>
        <p:spPr>
          <a:xfrm>
            <a:off x="928686" y="4451735"/>
            <a:ext cx="4926803" cy="557212"/>
          </a:xfrm>
          <a:prstGeom prst="roundRect">
            <a:avLst>
              <a:gd fmla="val 16667"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lt1"/>
                </a:solidFill>
                <a:latin typeface="Arial"/>
                <a:ea typeface="Arial"/>
                <a:cs typeface="Arial"/>
                <a:sym typeface="Arial"/>
              </a:rPr>
              <a:t>Brand Fit</a:t>
            </a:r>
            <a:endParaRPr/>
          </a:p>
        </p:txBody>
      </p:sp>
      <p:sp>
        <p:nvSpPr>
          <p:cNvPr id="332" name="Google Shape;332;p32"/>
          <p:cNvSpPr/>
          <p:nvPr/>
        </p:nvSpPr>
        <p:spPr>
          <a:xfrm>
            <a:off x="928687" y="5570475"/>
            <a:ext cx="4926803" cy="557212"/>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lt1"/>
                </a:solidFill>
                <a:latin typeface="Arial"/>
                <a:ea typeface="Arial"/>
                <a:cs typeface="Arial"/>
                <a:sym typeface="Arial"/>
              </a:rPr>
              <a:t>Likelihood to Enroll</a:t>
            </a:r>
            <a:endParaRPr/>
          </a:p>
        </p:txBody>
      </p:sp>
      <p:sp>
        <p:nvSpPr>
          <p:cNvPr id="333" name="Google Shape;333;p32"/>
          <p:cNvSpPr/>
          <p:nvPr/>
        </p:nvSpPr>
        <p:spPr>
          <a:xfrm>
            <a:off x="6881414" y="2007384"/>
            <a:ext cx="1371600" cy="1371600"/>
          </a:xfrm>
          <a:prstGeom prst="ellipse">
            <a:avLst/>
          </a:prstGeom>
          <a:solidFill>
            <a:srgbClr val="00B050"/>
          </a:solidFill>
          <a:ln cap="flat" cmpd="sng" w="571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Top Rank</a:t>
            </a:r>
            <a:endParaRPr/>
          </a:p>
          <a:p>
            <a:pPr indent="0" lvl="0" marL="0" marR="0" rtl="0" algn="ctr">
              <a:spcBef>
                <a:spcPts val="0"/>
              </a:spcBef>
              <a:spcAft>
                <a:spcPts val="0"/>
              </a:spcAft>
              <a:buNone/>
            </a:pPr>
            <a:r>
              <a:rPr b="1" lang="en-US" sz="1600">
                <a:solidFill>
                  <a:schemeClr val="lt1"/>
                </a:solidFill>
                <a:latin typeface="Arial"/>
                <a:ea typeface="Arial"/>
                <a:cs typeface="Arial"/>
                <a:sym typeface="Arial"/>
              </a:rPr>
              <a:t>= 15</a:t>
            </a:r>
            <a:endParaRPr/>
          </a:p>
        </p:txBody>
      </p:sp>
      <p:sp>
        <p:nvSpPr>
          <p:cNvPr id="334" name="Google Shape;334;p32"/>
          <p:cNvSpPr/>
          <p:nvPr/>
        </p:nvSpPr>
        <p:spPr>
          <a:xfrm>
            <a:off x="9683198" y="1965077"/>
            <a:ext cx="1371600" cy="1371600"/>
          </a:xfrm>
          <a:prstGeom prst="ellipse">
            <a:avLst/>
          </a:prstGeom>
          <a:solidFill>
            <a:schemeClr val="accent5"/>
          </a:solidFill>
          <a:ln cap="flat" cmpd="sng" w="5715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Bottom Rank</a:t>
            </a:r>
            <a:endParaRPr/>
          </a:p>
          <a:p>
            <a:pPr indent="0" lvl="0" marL="0" marR="0" rtl="0" algn="ctr">
              <a:spcBef>
                <a:spcPts val="0"/>
              </a:spcBef>
              <a:spcAft>
                <a:spcPts val="0"/>
              </a:spcAft>
              <a:buNone/>
            </a:pPr>
            <a:r>
              <a:rPr b="1" lang="en-US" sz="1600">
                <a:solidFill>
                  <a:schemeClr val="lt1"/>
                </a:solidFill>
                <a:latin typeface="Arial"/>
                <a:ea typeface="Arial"/>
                <a:cs typeface="Arial"/>
                <a:sym typeface="Arial"/>
              </a:rPr>
              <a:t>= 1</a:t>
            </a:r>
            <a:endParaRPr/>
          </a:p>
        </p:txBody>
      </p:sp>
      <p:cxnSp>
        <p:nvCxnSpPr>
          <p:cNvPr id="335" name="Google Shape;335;p32"/>
          <p:cNvCxnSpPr/>
          <p:nvPr/>
        </p:nvCxnSpPr>
        <p:spPr>
          <a:xfrm>
            <a:off x="8403750" y="2553158"/>
            <a:ext cx="1128712" cy="0"/>
          </a:xfrm>
          <a:prstGeom prst="straightConnector1">
            <a:avLst/>
          </a:prstGeom>
          <a:noFill/>
          <a:ln cap="flat" cmpd="sng" w="38100">
            <a:solidFill>
              <a:schemeClr val="dk2"/>
            </a:solidFill>
            <a:prstDash val="dash"/>
            <a:miter lim="800000"/>
            <a:headEnd len="sm" w="sm" type="none"/>
            <a:tailEnd len="sm" w="sm" type="none"/>
          </a:ln>
        </p:spPr>
      </p:cxnSp>
      <p:sp>
        <p:nvSpPr>
          <p:cNvPr id="336" name="Google Shape;336;p32"/>
          <p:cNvSpPr/>
          <p:nvPr/>
        </p:nvSpPr>
        <p:spPr>
          <a:xfrm>
            <a:off x="5952708" y="1851212"/>
            <a:ext cx="728775" cy="1696611"/>
          </a:xfrm>
          <a:prstGeom prst="leftBrace">
            <a:avLst>
              <a:gd fmla="val 8333" name="adj1"/>
              <a:gd fmla="val 50000" name="adj2"/>
            </a:avLst>
          </a:prstGeom>
          <a:no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337" name="Google Shape;337;p32"/>
          <p:cNvPicPr preferRelativeResize="0"/>
          <p:nvPr/>
        </p:nvPicPr>
        <p:blipFill rotWithShape="1">
          <a:blip r:embed="rId3">
            <a:alphaModFix/>
          </a:blip>
          <a:srcRect b="0" l="0" r="0" t="0"/>
          <a:stretch/>
        </p:blipFill>
        <p:spPr>
          <a:xfrm>
            <a:off x="3223307" y="2982640"/>
            <a:ext cx="337562" cy="337562"/>
          </a:xfrm>
          <a:prstGeom prst="rect">
            <a:avLst/>
          </a:prstGeom>
          <a:noFill/>
          <a:ln>
            <a:noFill/>
          </a:ln>
        </p:spPr>
      </p:pic>
      <p:pic>
        <p:nvPicPr>
          <p:cNvPr id="338" name="Google Shape;338;p32"/>
          <p:cNvPicPr preferRelativeResize="0"/>
          <p:nvPr/>
        </p:nvPicPr>
        <p:blipFill rotWithShape="1">
          <a:blip r:embed="rId3">
            <a:alphaModFix/>
          </a:blip>
          <a:srcRect b="0" l="0" r="0" t="0"/>
          <a:stretch/>
        </p:blipFill>
        <p:spPr>
          <a:xfrm>
            <a:off x="3223307" y="4034062"/>
            <a:ext cx="337562" cy="337562"/>
          </a:xfrm>
          <a:prstGeom prst="rect">
            <a:avLst/>
          </a:prstGeom>
          <a:noFill/>
          <a:ln>
            <a:noFill/>
          </a:ln>
        </p:spPr>
      </p:pic>
      <p:pic>
        <p:nvPicPr>
          <p:cNvPr id="339" name="Google Shape;339;p32"/>
          <p:cNvPicPr preferRelativeResize="0"/>
          <p:nvPr/>
        </p:nvPicPr>
        <p:blipFill rotWithShape="1">
          <a:blip r:embed="rId3">
            <a:alphaModFix/>
          </a:blip>
          <a:srcRect b="0" l="0" r="0" t="0"/>
          <a:stretch/>
        </p:blipFill>
        <p:spPr>
          <a:xfrm>
            <a:off x="3223307" y="5129830"/>
            <a:ext cx="337562" cy="337562"/>
          </a:xfrm>
          <a:prstGeom prst="rect">
            <a:avLst/>
          </a:prstGeom>
          <a:noFill/>
          <a:ln>
            <a:noFill/>
          </a:ln>
        </p:spPr>
      </p:pic>
      <p:sp>
        <p:nvSpPr>
          <p:cNvPr id="340" name="Google Shape;340;p32"/>
          <p:cNvSpPr txBox="1"/>
          <p:nvPr>
            <p:ph idx="11" type="ftr"/>
          </p:nvPr>
        </p:nvSpPr>
        <p:spPr>
          <a:xfrm>
            <a:off x="457200" y="6356350"/>
            <a:ext cx="745988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MaxDiff Messaging Study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3"/>
          <p:cNvSpPr txBox="1"/>
          <p:nvPr>
            <p:ph type="title"/>
          </p:nvPr>
        </p:nvSpPr>
        <p:spPr>
          <a:xfrm>
            <a:off x="2720936" y="-184488"/>
            <a:ext cx="411458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lang="en-US" sz="5400">
                <a:solidFill>
                  <a:schemeClr val="dk1"/>
                </a:solidFill>
              </a:rPr>
              <a:t>Key Findings</a:t>
            </a:r>
            <a:endParaRPr/>
          </a:p>
        </p:txBody>
      </p:sp>
      <p:sp>
        <p:nvSpPr>
          <p:cNvPr id="346" name="Google Shape;346;p33"/>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4"/>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E393F"/>
              </a:buClr>
              <a:buSzPts val="3200"/>
              <a:buFont typeface="Arial"/>
              <a:buNone/>
            </a:pPr>
            <a:r>
              <a:rPr lang="en-US"/>
              <a:t>Audience Summary</a:t>
            </a:r>
            <a:endParaRPr/>
          </a:p>
        </p:txBody>
      </p:sp>
      <p:sp>
        <p:nvSpPr>
          <p:cNvPr id="352" name="Google Shape;352;p34"/>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2E393F"/>
              </a:buClr>
              <a:buSzPts val="1200"/>
              <a:buFont typeface="Arial"/>
              <a:buNone/>
            </a:pPr>
            <a:fld id="{00000000-1234-1234-1234-123412341234}" type="slidenum">
              <a:rPr lang="en-US"/>
              <a:t>‹#›</a:t>
            </a:fld>
            <a:endParaRPr/>
          </a:p>
        </p:txBody>
      </p:sp>
      <p:graphicFrame>
        <p:nvGraphicFramePr>
          <p:cNvPr id="353" name="Google Shape;353;p34"/>
          <p:cNvGraphicFramePr/>
          <p:nvPr/>
        </p:nvGraphicFramePr>
        <p:xfrm>
          <a:off x="336175" y="1143000"/>
          <a:ext cx="3000000" cy="3000000"/>
        </p:xfrm>
        <a:graphic>
          <a:graphicData uri="http://schemas.openxmlformats.org/drawingml/2006/table">
            <a:tbl>
              <a:tblPr bandRow="1" firstRow="1">
                <a:noFill/>
                <a:tableStyleId>{03A17969-4AD6-4800-B696-589BF0565E83}</a:tableStyleId>
              </a:tblPr>
              <a:tblGrid>
                <a:gridCol w="1418475"/>
                <a:gridCol w="2532900"/>
                <a:gridCol w="2532900"/>
                <a:gridCol w="2532900"/>
                <a:gridCol w="2532900"/>
              </a:tblGrid>
              <a:tr h="34290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US" sz="1400">
                          <a:solidFill>
                            <a:schemeClr val="lt1"/>
                          </a:solidFill>
                        </a:rPr>
                        <a:t>Total Sample</a:t>
                      </a:r>
                      <a:endParaRPr/>
                    </a:p>
                  </a:txBody>
                  <a:tcPr marT="45725" marB="45725" marR="91450" marL="91450">
                    <a:solidFill>
                      <a:srgbClr val="97D600"/>
                    </a:solidFill>
                  </a:tcPr>
                </a:tc>
                <a:tc>
                  <a:txBody>
                    <a:bodyPr/>
                    <a:lstStyle/>
                    <a:p>
                      <a:pPr indent="0" lvl="0" marL="0" marR="0" rtl="0" algn="ctr">
                        <a:spcBef>
                          <a:spcPts val="0"/>
                        </a:spcBef>
                        <a:spcAft>
                          <a:spcPts val="0"/>
                        </a:spcAft>
                        <a:buNone/>
                      </a:pPr>
                      <a:r>
                        <a:rPr lang="en-US" sz="1400">
                          <a:solidFill>
                            <a:schemeClr val="lt1"/>
                          </a:solidFill>
                        </a:rPr>
                        <a:t>Customers</a:t>
                      </a:r>
                      <a:endParaRPr/>
                    </a:p>
                  </a:txBody>
                  <a:tcPr marT="45725" marB="45725" marR="91450" marL="91450">
                    <a:solidFill>
                      <a:srgbClr val="2DCCD3"/>
                    </a:solidFill>
                  </a:tcPr>
                </a:tc>
                <a:tc>
                  <a:txBody>
                    <a:bodyPr/>
                    <a:lstStyle/>
                    <a:p>
                      <a:pPr indent="0" lvl="0" marL="0" marR="0" rtl="0" algn="ctr">
                        <a:spcBef>
                          <a:spcPts val="0"/>
                        </a:spcBef>
                        <a:spcAft>
                          <a:spcPts val="0"/>
                        </a:spcAft>
                        <a:buNone/>
                      </a:pPr>
                      <a:r>
                        <a:rPr lang="en-US" sz="1400">
                          <a:solidFill>
                            <a:schemeClr val="lt1"/>
                          </a:solidFill>
                        </a:rPr>
                        <a:t>Prospects</a:t>
                      </a:r>
                      <a:endParaRPr/>
                    </a:p>
                  </a:txBody>
                  <a:tcPr marT="45725" marB="45725" marR="91450" marL="91450">
                    <a:solidFill>
                      <a:srgbClr val="137BD2"/>
                    </a:solidFill>
                  </a:tcPr>
                </a:tc>
                <a:tc>
                  <a:txBody>
                    <a:bodyPr/>
                    <a:lstStyle/>
                    <a:p>
                      <a:pPr indent="0" lvl="0" marL="0" marR="0" rtl="0" algn="ctr">
                        <a:spcBef>
                          <a:spcPts val="0"/>
                        </a:spcBef>
                        <a:spcAft>
                          <a:spcPts val="0"/>
                        </a:spcAft>
                        <a:buNone/>
                      </a:pPr>
                      <a:r>
                        <a:rPr lang="en-US" sz="1400">
                          <a:solidFill>
                            <a:schemeClr val="lt1"/>
                          </a:solidFill>
                        </a:rPr>
                        <a:t>Non-Members</a:t>
                      </a:r>
                      <a:endParaRPr/>
                    </a:p>
                  </a:txBody>
                  <a:tcPr marT="45725" marB="45725" marR="91450" marL="91450">
                    <a:solidFill>
                      <a:srgbClr val="454E7E"/>
                    </a:solidFill>
                  </a:tcPr>
                </a:tc>
              </a:tr>
              <a:tr h="401325">
                <a:tc>
                  <a:txBody>
                    <a:bodyPr/>
                    <a:lstStyle/>
                    <a:p>
                      <a:pPr indent="0" lvl="0" marL="0" marR="0" rtl="0" algn="r">
                        <a:spcBef>
                          <a:spcPts val="0"/>
                        </a:spcBef>
                        <a:spcAft>
                          <a:spcPts val="0"/>
                        </a:spcAft>
                        <a:buNone/>
                      </a:pPr>
                      <a:r>
                        <a:rPr i="1" lang="en-US" sz="1400"/>
                        <a:t>Definition</a:t>
                      </a:r>
                      <a:endParaRPr/>
                    </a:p>
                  </a:txBody>
                  <a:tcPr marT="45725" marB="45725" marR="91450" marL="91450" anchor="ctr"/>
                </a:tc>
                <a:tc>
                  <a:txBody>
                    <a:bodyPr/>
                    <a:lstStyle/>
                    <a:p>
                      <a:pPr indent="0" lvl="0" marL="0" marR="0" rtl="0" algn="ctr">
                        <a:spcBef>
                          <a:spcPts val="0"/>
                        </a:spcBef>
                        <a:spcAft>
                          <a:spcPts val="0"/>
                        </a:spcAft>
                        <a:buNone/>
                      </a:pPr>
                      <a:r>
                        <a:rPr b="1" lang="en-US" sz="1100">
                          <a:solidFill>
                            <a:schemeClr val="dk1"/>
                          </a:solidFill>
                        </a:rPr>
                        <a:t>All respondents</a:t>
                      </a:r>
                      <a:endParaRPr/>
                    </a:p>
                  </a:txBody>
                  <a:tcPr marT="45725" marB="45725" marR="91450" marL="91450" anchor="ctr">
                    <a:solidFill>
                      <a:srgbClr val="97D600">
                        <a:alpha val="52941"/>
                      </a:srgbClr>
                    </a:solidFill>
                  </a:tcPr>
                </a:tc>
                <a:tc>
                  <a:txBody>
                    <a:bodyPr/>
                    <a:lstStyle/>
                    <a:p>
                      <a:pPr indent="0" lvl="0" marL="0" marR="0" rtl="0" algn="ctr">
                        <a:spcBef>
                          <a:spcPts val="0"/>
                        </a:spcBef>
                        <a:spcAft>
                          <a:spcPts val="0"/>
                        </a:spcAft>
                        <a:buNone/>
                      </a:pPr>
                      <a:r>
                        <a:rPr b="1" lang="en-US" sz="1100">
                          <a:solidFill>
                            <a:schemeClr val="dk1"/>
                          </a:solidFill>
                        </a:rPr>
                        <a:t>Customers</a:t>
                      </a:r>
                      <a:endParaRPr/>
                    </a:p>
                  </a:txBody>
                  <a:tcPr marT="45725" marB="45725" marR="91450" marL="91450" anchor="ctr">
                    <a:solidFill>
                      <a:srgbClr val="2DCCD3">
                        <a:alpha val="52941"/>
                      </a:srgbClr>
                    </a:solidFill>
                  </a:tcPr>
                </a:tc>
                <a:tc>
                  <a:txBody>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Have not used, but in the category</a:t>
                      </a:r>
                      <a:endParaRPr b="1" sz="1100">
                        <a:solidFill>
                          <a:schemeClr val="lt1"/>
                        </a:solidFill>
                      </a:endParaRPr>
                    </a:p>
                  </a:txBody>
                  <a:tcPr marT="45725" marB="45725" marR="91450" marL="91450" anchor="ctr">
                    <a:solidFill>
                      <a:srgbClr val="137BD2">
                        <a:alpha val="51764"/>
                      </a:srgbClr>
                    </a:solidFill>
                  </a:tcPr>
                </a:tc>
                <a:tc>
                  <a:txBody>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Have used, but not a member</a:t>
                      </a:r>
                      <a:endParaRPr b="1" sz="1100">
                        <a:solidFill>
                          <a:schemeClr val="lt1"/>
                        </a:solidFill>
                      </a:endParaRPr>
                    </a:p>
                  </a:txBody>
                  <a:tcPr marT="45725" marB="45725" marR="91450" marL="91450" anchor="ctr">
                    <a:solidFill>
                      <a:srgbClr val="454E7E">
                        <a:alpha val="46666"/>
                      </a:srgbClr>
                    </a:solidFill>
                  </a:tcPr>
                </a:tc>
              </a:tr>
              <a:tr h="177800">
                <a:tc>
                  <a:txBody>
                    <a:bodyPr/>
                    <a:lstStyle/>
                    <a:p>
                      <a:pPr indent="0" lvl="0" marL="0" marR="0" rtl="0" algn="r">
                        <a:spcBef>
                          <a:spcPts val="0"/>
                        </a:spcBef>
                        <a:spcAft>
                          <a:spcPts val="0"/>
                        </a:spcAft>
                        <a:buNone/>
                      </a:pPr>
                      <a:r>
                        <a:rPr i="1" lang="en-US" sz="1400"/>
                        <a:t>Sample Size</a:t>
                      </a:r>
                      <a:endParaRPr/>
                    </a:p>
                  </a:txBody>
                  <a:tcPr marT="45725" marB="45725" marR="91450" marL="91450" anchor="ctr"/>
                </a:tc>
                <a:tc>
                  <a:txBody>
                    <a:bodyPr/>
                    <a:lstStyle/>
                    <a:p>
                      <a:pPr indent="0" lvl="0" marL="0" marR="0" rtl="0" algn="ctr">
                        <a:spcBef>
                          <a:spcPts val="0"/>
                        </a:spcBef>
                        <a:spcAft>
                          <a:spcPts val="0"/>
                        </a:spcAft>
                        <a:buNone/>
                      </a:pPr>
                      <a:r>
                        <a:rPr b="1" lang="en-US" sz="1000">
                          <a:solidFill>
                            <a:schemeClr val="dk1"/>
                          </a:solidFill>
                        </a:rPr>
                        <a:t>N=2174</a:t>
                      </a:r>
                      <a:endParaRPr/>
                    </a:p>
                  </a:txBody>
                  <a:tcPr marT="45725" marB="45725" marR="91450" marL="91450" anchor="ctr">
                    <a:solidFill>
                      <a:srgbClr val="97D600">
                        <a:alpha val="52941"/>
                      </a:srgbClr>
                    </a:solidFill>
                  </a:tcPr>
                </a:tc>
                <a:tc>
                  <a:txBody>
                    <a:bodyPr/>
                    <a:lstStyle/>
                    <a:p>
                      <a:pPr indent="0" lvl="0" marL="0" marR="0" rtl="0" algn="ctr">
                        <a:spcBef>
                          <a:spcPts val="0"/>
                        </a:spcBef>
                        <a:spcAft>
                          <a:spcPts val="0"/>
                        </a:spcAft>
                        <a:buNone/>
                      </a:pPr>
                      <a:r>
                        <a:rPr b="1" lang="en-US" sz="1000">
                          <a:solidFill>
                            <a:schemeClr val="dk1"/>
                          </a:solidFill>
                        </a:rPr>
                        <a:t>N=1471</a:t>
                      </a:r>
                      <a:endParaRPr/>
                    </a:p>
                  </a:txBody>
                  <a:tcPr marT="45725" marB="45725" marR="91450" marL="91450" anchor="ctr">
                    <a:solidFill>
                      <a:srgbClr val="2DCCD3">
                        <a:alpha val="52941"/>
                      </a:srgbClr>
                    </a:solidFill>
                  </a:tcPr>
                </a:tc>
                <a:tc>
                  <a:txBody>
                    <a:bodyPr/>
                    <a:lstStyle/>
                    <a:p>
                      <a:pPr indent="0" lvl="0" marL="0" marR="0" rtl="0" algn="ctr">
                        <a:spcBef>
                          <a:spcPts val="0"/>
                        </a:spcBef>
                        <a:spcAft>
                          <a:spcPts val="0"/>
                        </a:spcAft>
                        <a:buNone/>
                      </a:pPr>
                      <a:r>
                        <a:rPr b="1" lang="en-US" sz="1000">
                          <a:solidFill>
                            <a:schemeClr val="lt1"/>
                          </a:solidFill>
                        </a:rPr>
                        <a:t>N=617</a:t>
                      </a:r>
                      <a:endParaRPr/>
                    </a:p>
                  </a:txBody>
                  <a:tcPr marT="45725" marB="45725" marR="91450" marL="91450" anchor="ctr">
                    <a:solidFill>
                      <a:srgbClr val="137BD2">
                        <a:alpha val="51764"/>
                      </a:srgbClr>
                    </a:solidFill>
                  </a:tcPr>
                </a:tc>
                <a:tc>
                  <a:txBody>
                    <a:bodyPr/>
                    <a:lstStyle/>
                    <a:p>
                      <a:pPr indent="0" lvl="0" marL="0" marR="0" rtl="0" algn="ctr">
                        <a:spcBef>
                          <a:spcPts val="0"/>
                        </a:spcBef>
                        <a:spcAft>
                          <a:spcPts val="0"/>
                        </a:spcAft>
                        <a:buNone/>
                      </a:pPr>
                      <a:r>
                        <a:rPr b="1" lang="en-US" sz="1000">
                          <a:solidFill>
                            <a:schemeClr val="lt1"/>
                          </a:solidFill>
                        </a:rPr>
                        <a:t>N=86</a:t>
                      </a:r>
                      <a:endParaRPr/>
                    </a:p>
                  </a:txBody>
                  <a:tcPr marT="45725" marB="45725" marR="91450" marL="91450" anchor="ctr">
                    <a:solidFill>
                      <a:srgbClr val="454E7E">
                        <a:alpha val="46666"/>
                      </a:srgbClr>
                    </a:solidFill>
                  </a:tcPr>
                </a:tc>
              </a:tr>
              <a:tr h="3931925">
                <a:tc>
                  <a:txBody>
                    <a:bodyPr/>
                    <a:lstStyle/>
                    <a:p>
                      <a:pPr indent="0" lvl="0" marL="0" marR="0" rtl="0" algn="ctr">
                        <a:spcBef>
                          <a:spcPts val="0"/>
                        </a:spcBef>
                        <a:spcAft>
                          <a:spcPts val="0"/>
                        </a:spcAft>
                        <a:buNone/>
                      </a:pPr>
                      <a:r>
                        <a:t/>
                      </a:r>
                      <a:endParaRPr sz="1200">
                        <a:solidFill>
                          <a:schemeClr val="dk1"/>
                        </a:solidFill>
                      </a:endParaRPr>
                    </a:p>
                    <a:p>
                      <a:pPr indent="0" lvl="0" marL="0" marR="0" rtl="0" algn="ctr">
                        <a:spcBef>
                          <a:spcPts val="0"/>
                        </a:spcBef>
                        <a:spcAft>
                          <a:spcPts val="0"/>
                        </a:spcAft>
                        <a:buNone/>
                      </a:pPr>
                      <a:r>
                        <a:rPr i="1" lang="en-US" sz="1400">
                          <a:solidFill>
                            <a:schemeClr val="dk1"/>
                          </a:solidFill>
                          <a:latin typeface="Arial"/>
                          <a:ea typeface="Arial"/>
                          <a:cs typeface="Arial"/>
                          <a:sym typeface="Arial"/>
                        </a:rPr>
                        <a:t>Key Findings</a:t>
                      </a:r>
                      <a:endParaRPr/>
                    </a:p>
                    <a:p>
                      <a:pPr indent="0" lvl="0" marL="0" marR="0" rtl="0" algn="ctr">
                        <a:spcBef>
                          <a:spcPts val="0"/>
                        </a:spcBef>
                        <a:spcAft>
                          <a:spcPts val="0"/>
                        </a:spcAft>
                        <a:buNone/>
                      </a:pPr>
                      <a:r>
                        <a:t/>
                      </a:r>
                      <a:endParaRPr sz="1200">
                        <a:solidFill>
                          <a:schemeClr val="dk1"/>
                        </a:solidFill>
                      </a:endParaRPr>
                    </a:p>
                    <a:p>
                      <a:pPr indent="0" lvl="0" marL="0" marR="0" rtl="0" algn="ctr">
                        <a:spcBef>
                          <a:spcPts val="0"/>
                        </a:spcBef>
                        <a:spcAft>
                          <a:spcPts val="0"/>
                        </a:spcAft>
                        <a:buNone/>
                      </a:pPr>
                      <a:r>
                        <a:t/>
                      </a:r>
                      <a:endParaRPr sz="1200">
                        <a:solidFill>
                          <a:schemeClr val="dk1"/>
                        </a:solidFill>
                      </a:endParaRPr>
                    </a:p>
                  </a:txBody>
                  <a:tcPr marT="45725" marB="45725" marR="91450" marL="91450"/>
                </a:tc>
                <a:tc>
                  <a:txBody>
                    <a:bodyPr/>
                    <a:lstStyle/>
                    <a:p>
                      <a:pPr indent="-171450" lvl="0" marL="171450" marR="0" rtl="0" algn="l">
                        <a:spcBef>
                          <a:spcPts val="0"/>
                        </a:spcBef>
                        <a:spcAft>
                          <a:spcPts val="0"/>
                        </a:spcAft>
                        <a:buClr>
                          <a:schemeClr val="dk1"/>
                        </a:buClr>
                        <a:buSzPts val="1350"/>
                        <a:buFont typeface="Arial"/>
                        <a:buChar char="•"/>
                      </a:pPr>
                      <a:r>
                        <a:rPr lang="en-US" sz="1350">
                          <a:solidFill>
                            <a:schemeClr val="dk1"/>
                          </a:solidFill>
                          <a:latin typeface="Arial"/>
                          <a:ea typeface="Arial"/>
                          <a:cs typeface="Arial"/>
                          <a:sym typeface="Arial"/>
                        </a:rPr>
                        <a:t>Earning rewards 30% faster is </a:t>
                      </a:r>
                      <a:r>
                        <a:rPr b="0" lang="en-US" sz="1350">
                          <a:solidFill>
                            <a:schemeClr val="dk1"/>
                          </a:solidFill>
                          <a:latin typeface="Arial"/>
                          <a:ea typeface="Arial"/>
                          <a:cs typeface="Arial"/>
                          <a:sym typeface="Arial"/>
                        </a:rPr>
                        <a:t>the </a:t>
                      </a:r>
                      <a:r>
                        <a:rPr b="1" lang="en-US" sz="1350">
                          <a:solidFill>
                            <a:srgbClr val="71A100"/>
                          </a:solidFill>
                          <a:latin typeface="Arial"/>
                          <a:ea typeface="Arial"/>
                          <a:cs typeface="Arial"/>
                          <a:sym typeface="Arial"/>
                        </a:rPr>
                        <a:t>most compelling </a:t>
                      </a:r>
                      <a:r>
                        <a:rPr b="0" lang="en-US" sz="1350">
                          <a:solidFill>
                            <a:schemeClr val="dk1"/>
                          </a:solidFill>
                          <a:latin typeface="Arial"/>
                          <a:ea typeface="Arial"/>
                          <a:cs typeface="Arial"/>
                          <a:sym typeface="Arial"/>
                        </a:rPr>
                        <a:t>claim. </a:t>
                      </a:r>
                      <a:endParaRPr/>
                    </a:p>
                    <a:p>
                      <a:pPr indent="-85725" lvl="0" marL="171450" marR="0" rtl="0" algn="l">
                        <a:spcBef>
                          <a:spcPts val="0"/>
                        </a:spcBef>
                        <a:spcAft>
                          <a:spcPts val="0"/>
                        </a:spcAft>
                        <a:buClr>
                          <a:schemeClr val="dk1"/>
                        </a:buClr>
                        <a:buSzPts val="1350"/>
                        <a:buFont typeface="Arial"/>
                        <a:buNone/>
                      </a:pPr>
                      <a:r>
                        <a:t/>
                      </a:r>
                      <a:endParaRPr b="0" sz="1350">
                        <a:solidFill>
                          <a:schemeClr val="dk1"/>
                        </a:solidFill>
                        <a:latin typeface="Arial"/>
                        <a:ea typeface="Arial"/>
                        <a:cs typeface="Arial"/>
                        <a:sym typeface="Arial"/>
                      </a:endParaRPr>
                    </a:p>
                    <a:p>
                      <a:pPr indent="-171450" lvl="0" marL="171450" marR="0" rtl="0" algn="l">
                        <a:spcBef>
                          <a:spcPts val="0"/>
                        </a:spcBef>
                        <a:spcAft>
                          <a:spcPts val="0"/>
                        </a:spcAft>
                        <a:buClr>
                          <a:srgbClr val="71A100"/>
                        </a:buClr>
                        <a:buSzPts val="1350"/>
                        <a:buFont typeface="Arial"/>
                        <a:buChar char="•"/>
                      </a:pPr>
                      <a:r>
                        <a:rPr b="1" lang="en-US" sz="1350">
                          <a:solidFill>
                            <a:srgbClr val="71A100"/>
                          </a:solidFill>
                          <a:latin typeface="Arial"/>
                          <a:ea typeface="Arial"/>
                          <a:cs typeface="Arial"/>
                          <a:sym typeface="Arial"/>
                        </a:rPr>
                        <a:t>Tangible benefits or leadership claims </a:t>
                      </a:r>
                      <a:r>
                        <a:rPr b="0" lang="en-US" sz="1350">
                          <a:solidFill>
                            <a:schemeClr val="dk1"/>
                          </a:solidFill>
                          <a:latin typeface="Arial"/>
                          <a:ea typeface="Arial"/>
                          <a:cs typeface="Arial"/>
                          <a:sym typeface="Arial"/>
                        </a:rPr>
                        <a:t>without direct comparisons tend </a:t>
                      </a:r>
                      <a:r>
                        <a:rPr lang="en-US" sz="1350">
                          <a:solidFill>
                            <a:schemeClr val="dk1"/>
                          </a:solidFill>
                          <a:latin typeface="Arial"/>
                          <a:ea typeface="Arial"/>
                          <a:cs typeface="Arial"/>
                          <a:sym typeface="Arial"/>
                        </a:rPr>
                        <a:t>to resonate most.</a:t>
                      </a:r>
                      <a:endParaRPr/>
                    </a:p>
                    <a:p>
                      <a:pPr indent="-85725" lvl="0" marL="171450" marR="0" rtl="0" algn="l">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350"/>
                        <a:buFont typeface="Arial"/>
                        <a:buChar char="•"/>
                      </a:pPr>
                      <a:r>
                        <a:rPr i="1" lang="en-US" sz="1350">
                          <a:solidFill>
                            <a:schemeClr val="dk1"/>
                          </a:solidFill>
                          <a:latin typeface="Arial"/>
                          <a:ea typeface="Arial"/>
                          <a:cs typeface="Arial"/>
                          <a:sym typeface="Arial"/>
                        </a:rPr>
                        <a:t>“A YYY spent is an YYY earned” </a:t>
                      </a:r>
                      <a:r>
                        <a:rPr i="0" lang="en-US" sz="1350">
                          <a:solidFill>
                            <a:schemeClr val="dk1"/>
                          </a:solidFill>
                          <a:latin typeface="Arial"/>
                          <a:ea typeface="Arial"/>
                          <a:cs typeface="Arial"/>
                          <a:sym typeface="Arial"/>
                        </a:rPr>
                        <a:t>(1:1) </a:t>
                      </a:r>
                      <a:r>
                        <a:rPr lang="en-US" sz="1350">
                          <a:solidFill>
                            <a:schemeClr val="dk1"/>
                          </a:solidFill>
                          <a:latin typeface="Arial"/>
                          <a:ea typeface="Arial"/>
                          <a:cs typeface="Arial"/>
                          <a:sym typeface="Arial"/>
                        </a:rPr>
                        <a:t>rates highest in scoring but is </a:t>
                      </a:r>
                      <a:r>
                        <a:rPr b="1" lang="en-US" sz="1350">
                          <a:solidFill>
                            <a:srgbClr val="71A100"/>
                          </a:solidFill>
                          <a:latin typeface="Arial"/>
                          <a:ea typeface="Arial"/>
                          <a:cs typeface="Arial"/>
                          <a:sym typeface="Arial"/>
                        </a:rPr>
                        <a:t>only middle of the pack </a:t>
                      </a:r>
                      <a:r>
                        <a:rPr lang="en-US" sz="1350">
                          <a:solidFill>
                            <a:schemeClr val="dk1"/>
                          </a:solidFill>
                          <a:latin typeface="Arial"/>
                          <a:ea typeface="Arial"/>
                          <a:cs typeface="Arial"/>
                          <a:sym typeface="Arial"/>
                        </a:rPr>
                        <a:t>on uniqueness and is low on overall preference. </a:t>
                      </a:r>
                      <a:endParaRPr/>
                    </a:p>
                    <a:p>
                      <a:pPr indent="-85725" lvl="0" marL="171450" marR="0" rtl="0" algn="l">
                        <a:lnSpc>
                          <a:spcPct val="100000"/>
                        </a:lnSpc>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350"/>
                        <a:buFont typeface="Arial"/>
                        <a:buChar char="•"/>
                      </a:pPr>
                      <a:r>
                        <a:rPr i="1" lang="en-US" sz="1350">
                          <a:solidFill>
                            <a:schemeClr val="dk1"/>
                          </a:solidFill>
                          <a:latin typeface="Arial"/>
                          <a:ea typeface="Arial"/>
                          <a:cs typeface="Arial"/>
                          <a:sym typeface="Arial"/>
                        </a:rPr>
                        <a:t>“</a:t>
                      </a:r>
                      <a:r>
                        <a:rPr b="1" i="1" lang="en-US" sz="1350">
                          <a:solidFill>
                            <a:srgbClr val="71A100"/>
                          </a:solidFill>
                          <a:latin typeface="Arial"/>
                          <a:ea typeface="Arial"/>
                          <a:cs typeface="Arial"/>
                          <a:sym typeface="Arial"/>
                        </a:rPr>
                        <a:t>Rewards </a:t>
                      </a:r>
                      <a:r>
                        <a:rPr i="1" lang="en-US" sz="1350">
                          <a:solidFill>
                            <a:schemeClr val="dk1"/>
                          </a:solidFill>
                          <a:latin typeface="Arial"/>
                          <a:ea typeface="Arial"/>
                          <a:cs typeface="Arial"/>
                          <a:sym typeface="Arial"/>
                        </a:rPr>
                        <a:t>within the US starts at just XXX” </a:t>
                      </a:r>
                      <a:r>
                        <a:rPr lang="en-US" sz="1350">
                          <a:solidFill>
                            <a:schemeClr val="dk1"/>
                          </a:solidFill>
                          <a:latin typeface="Arial"/>
                          <a:ea typeface="Arial"/>
                          <a:cs typeface="Arial"/>
                          <a:sym typeface="Arial"/>
                        </a:rPr>
                        <a:t>performs well across attributes and as a MaxDiff choice, perhaps making it the </a:t>
                      </a:r>
                      <a:r>
                        <a:rPr b="1" lang="en-US" sz="1350">
                          <a:solidFill>
                            <a:srgbClr val="71A100"/>
                          </a:solidFill>
                          <a:latin typeface="Arial"/>
                          <a:ea typeface="Arial"/>
                          <a:cs typeface="Arial"/>
                          <a:sym typeface="Arial"/>
                        </a:rPr>
                        <a:t>optimal choice for consistency</a:t>
                      </a:r>
                      <a:r>
                        <a:rPr lang="en-US" sz="1350">
                          <a:solidFill>
                            <a:schemeClr val="dk1"/>
                          </a:solidFill>
                          <a:latin typeface="Arial"/>
                          <a:ea typeface="Arial"/>
                          <a:cs typeface="Arial"/>
                          <a:sym typeface="Arial"/>
                        </a:rPr>
                        <a:t>.  </a:t>
                      </a:r>
                      <a:endParaRPr/>
                    </a:p>
                  </a:txBody>
                  <a:tcPr marT="45725" marB="45725" marR="91450" marL="91450"/>
                </a:tc>
                <a:tc>
                  <a:txBody>
                    <a:bodyPr/>
                    <a:lstStyle/>
                    <a:p>
                      <a:pPr indent="-171450" lvl="0" marL="171450" marR="0" rtl="0" algn="l">
                        <a:spcBef>
                          <a:spcPts val="0"/>
                        </a:spcBef>
                        <a:spcAft>
                          <a:spcPts val="0"/>
                        </a:spcAft>
                        <a:buClr>
                          <a:schemeClr val="dk1"/>
                        </a:buClr>
                        <a:buSzPts val="1350"/>
                        <a:buFont typeface="Arial"/>
                        <a:buChar char="•"/>
                      </a:pPr>
                      <a:r>
                        <a:rPr lang="en-US" sz="1350">
                          <a:solidFill>
                            <a:schemeClr val="dk1"/>
                          </a:solidFill>
                          <a:latin typeface="Arial"/>
                          <a:ea typeface="Arial"/>
                          <a:cs typeface="Arial"/>
                          <a:sym typeface="Arial"/>
                        </a:rPr>
                        <a:t>Customers see </a:t>
                      </a:r>
                      <a:r>
                        <a:rPr b="1" lang="en-US" sz="1350">
                          <a:solidFill>
                            <a:srgbClr val="21999E"/>
                          </a:solidFill>
                          <a:latin typeface="Arial"/>
                          <a:ea typeface="Arial"/>
                          <a:cs typeface="Arial"/>
                          <a:sym typeface="Arial"/>
                        </a:rPr>
                        <a:t>[brand]’s industry high benefits </a:t>
                      </a:r>
                      <a:r>
                        <a:rPr lang="en-US" sz="1350">
                          <a:solidFill>
                            <a:schemeClr val="dk1"/>
                          </a:solidFill>
                          <a:latin typeface="Arial"/>
                          <a:ea typeface="Arial"/>
                          <a:cs typeface="Arial"/>
                          <a:sym typeface="Arial"/>
                        </a:rPr>
                        <a:t>as unique and a good fit with the brand.  </a:t>
                      </a:r>
                      <a:endParaRPr/>
                    </a:p>
                    <a:p>
                      <a:pPr indent="-85725" lvl="0" marL="171450" marR="0" rtl="0" algn="l">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350"/>
                        <a:buFont typeface="Arial"/>
                        <a:buChar char="•"/>
                      </a:pPr>
                      <a:r>
                        <a:rPr i="1" lang="en-US" sz="1350">
                          <a:solidFill>
                            <a:schemeClr val="dk1"/>
                          </a:solidFill>
                          <a:latin typeface="Arial"/>
                          <a:ea typeface="Arial"/>
                          <a:cs typeface="Arial"/>
                          <a:sym typeface="Arial"/>
                        </a:rPr>
                        <a:t>“Rewards within the US starts at just XXX” </a:t>
                      </a:r>
                      <a:r>
                        <a:rPr b="1" lang="en-US" sz="1350">
                          <a:solidFill>
                            <a:srgbClr val="21999E"/>
                          </a:solidFill>
                          <a:latin typeface="Arial"/>
                          <a:ea typeface="Arial"/>
                          <a:cs typeface="Arial"/>
                          <a:sym typeface="Arial"/>
                        </a:rPr>
                        <a:t>performs well across both</a:t>
                      </a:r>
                      <a:r>
                        <a:rPr lang="en-US" sz="1350">
                          <a:solidFill>
                            <a:schemeClr val="dk1"/>
                          </a:solidFill>
                          <a:latin typeface="Arial"/>
                          <a:ea typeface="Arial"/>
                          <a:cs typeface="Arial"/>
                          <a:sym typeface="Arial"/>
                        </a:rPr>
                        <a:t> metrics and MaxDiff.</a:t>
                      </a:r>
                      <a:endParaRPr/>
                    </a:p>
                    <a:p>
                      <a:pPr indent="-85725" lvl="0" marL="171450" marR="0" rtl="0" algn="l">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a:p>
                      <a:pPr indent="-171450" lvl="0" marL="171450" marR="0" rtl="0" algn="l">
                        <a:spcBef>
                          <a:spcPts val="0"/>
                        </a:spcBef>
                        <a:spcAft>
                          <a:spcPts val="0"/>
                        </a:spcAft>
                        <a:buClr>
                          <a:schemeClr val="dk1"/>
                        </a:buClr>
                        <a:buSzPts val="1350"/>
                        <a:buFont typeface="Arial"/>
                        <a:buChar char="•"/>
                      </a:pPr>
                      <a:r>
                        <a:rPr i="1" lang="en-US" sz="1350">
                          <a:solidFill>
                            <a:schemeClr val="dk1"/>
                          </a:solidFill>
                          <a:latin typeface="Arial"/>
                          <a:ea typeface="Arial"/>
                          <a:cs typeface="Arial"/>
                          <a:sym typeface="Arial"/>
                        </a:rPr>
                        <a:t>“Earn rewards 30% faster” </a:t>
                      </a:r>
                      <a:r>
                        <a:rPr lang="en-US" sz="1350">
                          <a:solidFill>
                            <a:schemeClr val="dk1"/>
                          </a:solidFill>
                          <a:latin typeface="Arial"/>
                          <a:ea typeface="Arial"/>
                          <a:cs typeface="Arial"/>
                          <a:sym typeface="Arial"/>
                        </a:rPr>
                        <a:t>and </a:t>
                      </a:r>
                      <a:r>
                        <a:rPr i="1" lang="en-US" sz="1350">
                          <a:solidFill>
                            <a:schemeClr val="dk1"/>
                          </a:solidFill>
                          <a:latin typeface="Arial"/>
                          <a:ea typeface="Arial"/>
                          <a:cs typeface="Arial"/>
                          <a:sym typeface="Arial"/>
                        </a:rPr>
                        <a:t>“most generous loyalty program,” </a:t>
                      </a:r>
                      <a:r>
                        <a:rPr lang="en-US" sz="1350">
                          <a:solidFill>
                            <a:schemeClr val="dk1"/>
                          </a:solidFill>
                          <a:latin typeface="Arial"/>
                          <a:ea typeface="Arial"/>
                          <a:cs typeface="Arial"/>
                          <a:sym typeface="Arial"/>
                        </a:rPr>
                        <a:t>while strongly preferred overall, </a:t>
                      </a:r>
                      <a:r>
                        <a:rPr b="1" lang="en-US" sz="1350">
                          <a:solidFill>
                            <a:srgbClr val="21999E"/>
                          </a:solidFill>
                          <a:latin typeface="Arial"/>
                          <a:ea typeface="Arial"/>
                          <a:cs typeface="Arial"/>
                          <a:sym typeface="Arial"/>
                        </a:rPr>
                        <a:t>trade off either brand fit or uniqueness</a:t>
                      </a:r>
                      <a:r>
                        <a:rPr lang="en-US" sz="1350">
                          <a:solidFill>
                            <a:schemeClr val="dk1"/>
                          </a:solidFill>
                          <a:latin typeface="Arial"/>
                          <a:ea typeface="Arial"/>
                          <a:cs typeface="Arial"/>
                          <a:sym typeface="Arial"/>
                        </a:rPr>
                        <a:t>.  </a:t>
                      </a:r>
                      <a:endParaRPr/>
                    </a:p>
                    <a:p>
                      <a:pPr indent="-200025" lvl="0" marL="285750" marR="0" rtl="0" algn="l">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a:txBody>
                  <a:tcPr marT="45725" marB="45725" marR="91450" marL="91450"/>
                </a:tc>
                <a:tc>
                  <a:txBody>
                    <a:bodyPr/>
                    <a:lstStyle/>
                    <a:p>
                      <a:pPr indent="-171450" lvl="0" marL="171450" marR="0" rtl="0" algn="l">
                        <a:lnSpc>
                          <a:spcPct val="100000"/>
                        </a:lnSpc>
                        <a:spcBef>
                          <a:spcPts val="0"/>
                        </a:spcBef>
                        <a:spcAft>
                          <a:spcPts val="0"/>
                        </a:spcAft>
                        <a:buClr>
                          <a:schemeClr val="dk1"/>
                        </a:buClr>
                        <a:buSzPts val="1350"/>
                        <a:buFont typeface="Arial"/>
                        <a:buChar char="•"/>
                      </a:pPr>
                      <a:r>
                        <a:rPr lang="en-US" sz="1350"/>
                        <a:t>Prospects </a:t>
                      </a:r>
                      <a:r>
                        <a:rPr b="1" lang="en-US" sz="1350">
                          <a:solidFill>
                            <a:schemeClr val="accent3"/>
                          </a:solidFill>
                        </a:rPr>
                        <a:t>respond best to the tangible, numeric claims</a:t>
                      </a:r>
                      <a:r>
                        <a:rPr lang="en-US" sz="1350"/>
                        <a:t>, but are also the most turned off by competitive claims.</a:t>
                      </a:r>
                      <a:endParaRPr/>
                    </a:p>
                    <a:p>
                      <a:pPr indent="-85725" lvl="0" marL="171450" marR="0" rtl="0" algn="l">
                        <a:lnSpc>
                          <a:spcPct val="100000"/>
                        </a:lnSpc>
                        <a:spcBef>
                          <a:spcPts val="0"/>
                        </a:spcBef>
                        <a:spcAft>
                          <a:spcPts val="0"/>
                        </a:spcAft>
                        <a:buClr>
                          <a:schemeClr val="dk1"/>
                        </a:buClr>
                        <a:buSzPts val="1350"/>
                        <a:buFont typeface="Arial"/>
                        <a:buNone/>
                      </a:pPr>
                      <a:r>
                        <a:t/>
                      </a:r>
                      <a:endParaRPr sz="1350"/>
                    </a:p>
                    <a:p>
                      <a:pPr indent="-171450" lvl="0" marL="171450" marR="0" rtl="0" algn="l">
                        <a:lnSpc>
                          <a:spcPct val="100000"/>
                        </a:lnSpc>
                        <a:spcBef>
                          <a:spcPts val="0"/>
                        </a:spcBef>
                        <a:spcAft>
                          <a:spcPts val="0"/>
                        </a:spcAft>
                        <a:buClr>
                          <a:schemeClr val="dk1"/>
                        </a:buClr>
                        <a:buSzPts val="1350"/>
                        <a:buFont typeface="Arial"/>
                        <a:buChar char="•"/>
                      </a:pPr>
                      <a:r>
                        <a:rPr lang="en-US" sz="1350"/>
                        <a:t>Among prospects, 1:1 earning is seen as the most believable and </a:t>
                      </a:r>
                      <a:r>
                        <a:rPr b="1" lang="en-US" sz="1350">
                          <a:solidFill>
                            <a:schemeClr val="accent3"/>
                          </a:solidFill>
                        </a:rPr>
                        <a:t>moves respondents to enroll </a:t>
                      </a:r>
                      <a:r>
                        <a:rPr lang="en-US" sz="1350"/>
                        <a:t>in [brand]’s Loyalty Program.  </a:t>
                      </a:r>
                      <a:endParaRPr/>
                    </a:p>
                    <a:p>
                      <a:pPr indent="-85725" lvl="0" marL="171450" marR="0" rtl="0" algn="l">
                        <a:lnSpc>
                          <a:spcPct val="100000"/>
                        </a:lnSpc>
                        <a:spcBef>
                          <a:spcPts val="0"/>
                        </a:spcBef>
                        <a:spcAft>
                          <a:spcPts val="0"/>
                        </a:spcAft>
                        <a:buClr>
                          <a:schemeClr val="dk1"/>
                        </a:buClr>
                        <a:buSzPts val="1350"/>
                        <a:buFont typeface="Arial"/>
                        <a:buNone/>
                      </a:pPr>
                      <a:r>
                        <a:t/>
                      </a:r>
                      <a:endParaRPr sz="1350"/>
                    </a:p>
                    <a:p>
                      <a:pPr indent="-171450" lvl="0" marL="171450" marR="0" rtl="0" algn="l">
                        <a:lnSpc>
                          <a:spcPct val="100000"/>
                        </a:lnSpc>
                        <a:spcBef>
                          <a:spcPts val="0"/>
                        </a:spcBef>
                        <a:spcAft>
                          <a:spcPts val="0"/>
                        </a:spcAft>
                        <a:buClr>
                          <a:schemeClr val="dk1"/>
                        </a:buClr>
                        <a:buSzPts val="1350"/>
                        <a:buFont typeface="Arial"/>
                        <a:buChar char="•"/>
                      </a:pPr>
                      <a:r>
                        <a:rPr lang="en-US" sz="1350"/>
                        <a:t>The low barrier </a:t>
                      </a:r>
                      <a:r>
                        <a:rPr i="1" lang="en-US" sz="1350"/>
                        <a:t>“</a:t>
                      </a:r>
                      <a:r>
                        <a:rPr i="1" lang="en-US" sz="1350">
                          <a:solidFill>
                            <a:schemeClr val="dk1"/>
                          </a:solidFill>
                          <a:latin typeface="Arial"/>
                          <a:ea typeface="Arial"/>
                          <a:cs typeface="Arial"/>
                          <a:sym typeface="Arial"/>
                        </a:rPr>
                        <a:t>Rewards within the US starts at just XXX</a:t>
                      </a:r>
                      <a:r>
                        <a:rPr i="1" lang="en-US" sz="1350"/>
                        <a:t>” </a:t>
                      </a:r>
                      <a:r>
                        <a:rPr lang="en-US" sz="1350"/>
                        <a:t>claim is the </a:t>
                      </a:r>
                      <a:r>
                        <a:rPr b="1" lang="en-US" sz="1350">
                          <a:solidFill>
                            <a:schemeClr val="accent3"/>
                          </a:solidFill>
                        </a:rPr>
                        <a:t>most consistent</a:t>
                      </a:r>
                      <a:r>
                        <a:rPr lang="en-US" sz="1350"/>
                        <a:t> of the claims across the metrics, but it is a bit lower on motivating to enroll.</a:t>
                      </a:r>
                      <a:endParaRPr/>
                    </a:p>
                    <a:p>
                      <a:pPr indent="-85725" lvl="0" marL="171450" marR="0" rtl="0" algn="l">
                        <a:lnSpc>
                          <a:spcPct val="100000"/>
                        </a:lnSpc>
                        <a:spcBef>
                          <a:spcPts val="0"/>
                        </a:spcBef>
                        <a:spcAft>
                          <a:spcPts val="0"/>
                        </a:spcAft>
                        <a:buClr>
                          <a:schemeClr val="dk1"/>
                        </a:buClr>
                        <a:buSzPts val="1350"/>
                        <a:buFont typeface="Arial"/>
                        <a:buNone/>
                      </a:pPr>
                      <a:r>
                        <a:t/>
                      </a:r>
                      <a:endParaRPr b="1" sz="1350"/>
                    </a:p>
                  </a:txBody>
                  <a:tcPr marT="45725" marB="45725" marR="91450" marL="91450"/>
                </a:tc>
                <a:tc>
                  <a:txBody>
                    <a:bodyPr/>
                    <a:lstStyle/>
                    <a:p>
                      <a:pPr indent="-171450" lvl="0" marL="171450" marR="0" rtl="0" algn="l">
                        <a:lnSpc>
                          <a:spcPct val="100000"/>
                        </a:lnSpc>
                        <a:spcBef>
                          <a:spcPts val="0"/>
                        </a:spcBef>
                        <a:spcAft>
                          <a:spcPts val="0"/>
                        </a:spcAft>
                        <a:buClr>
                          <a:schemeClr val="dk1"/>
                        </a:buClr>
                        <a:buSzPts val="1350"/>
                        <a:buFont typeface="Arial"/>
                        <a:buChar char="•"/>
                      </a:pPr>
                      <a:r>
                        <a:rPr b="0" lang="en-US" sz="1350"/>
                        <a:t>Non-Members rank </a:t>
                      </a:r>
                      <a:r>
                        <a:rPr b="1" lang="en-US" sz="1350">
                          <a:solidFill>
                            <a:schemeClr val="accent4"/>
                          </a:solidFill>
                        </a:rPr>
                        <a:t>the 1:1 earning highest</a:t>
                      </a:r>
                      <a:r>
                        <a:rPr b="0" lang="en-US" sz="1350"/>
                        <a:t>, with strong scores across all four measures and solid overall preference. </a:t>
                      </a:r>
                      <a:endParaRPr/>
                    </a:p>
                    <a:p>
                      <a:pPr indent="-85725" lvl="0" marL="171450" marR="0" rtl="0" algn="l">
                        <a:lnSpc>
                          <a:spcPct val="100000"/>
                        </a:lnSpc>
                        <a:spcBef>
                          <a:spcPts val="0"/>
                        </a:spcBef>
                        <a:spcAft>
                          <a:spcPts val="0"/>
                        </a:spcAft>
                        <a:buClr>
                          <a:schemeClr val="dk1"/>
                        </a:buClr>
                        <a:buSzPts val="1350"/>
                        <a:buFont typeface="Arial"/>
                        <a:buNone/>
                      </a:pPr>
                      <a:r>
                        <a:t/>
                      </a:r>
                      <a:endParaRPr b="0" sz="1350"/>
                    </a:p>
                    <a:p>
                      <a:pPr indent="-171450" lvl="0" marL="171450" marR="0" rtl="0" algn="l">
                        <a:lnSpc>
                          <a:spcPct val="100000"/>
                        </a:lnSpc>
                        <a:spcBef>
                          <a:spcPts val="0"/>
                        </a:spcBef>
                        <a:spcAft>
                          <a:spcPts val="0"/>
                        </a:spcAft>
                        <a:buClr>
                          <a:schemeClr val="dk1"/>
                        </a:buClr>
                        <a:buSzPts val="1350"/>
                        <a:buFont typeface="Arial"/>
                        <a:buChar char="•"/>
                      </a:pPr>
                      <a:r>
                        <a:rPr lang="en-US" sz="1350"/>
                        <a:t>The low barrier “</a:t>
                      </a:r>
                      <a:r>
                        <a:rPr i="1" lang="en-US" sz="1350">
                          <a:solidFill>
                            <a:schemeClr val="dk1"/>
                          </a:solidFill>
                          <a:latin typeface="Arial"/>
                          <a:ea typeface="Arial"/>
                          <a:cs typeface="Arial"/>
                          <a:sym typeface="Arial"/>
                        </a:rPr>
                        <a:t>Rewards within the US starts at just XXX” </a:t>
                      </a:r>
                      <a:r>
                        <a:rPr lang="en-US" sz="1350">
                          <a:solidFill>
                            <a:schemeClr val="dk1"/>
                          </a:solidFill>
                          <a:latin typeface="Arial"/>
                          <a:ea typeface="Arial"/>
                          <a:cs typeface="Arial"/>
                          <a:sym typeface="Arial"/>
                        </a:rPr>
                        <a:t>claim is next, but </a:t>
                      </a:r>
                      <a:r>
                        <a:rPr b="1" lang="en-US" sz="1350">
                          <a:solidFill>
                            <a:schemeClr val="accent4"/>
                          </a:solidFill>
                          <a:latin typeface="Arial"/>
                          <a:ea typeface="Arial"/>
                          <a:cs typeface="Arial"/>
                          <a:sym typeface="Arial"/>
                        </a:rPr>
                        <a:t>struggles towards appearing unique</a:t>
                      </a:r>
                      <a:r>
                        <a:rPr lang="en-US" sz="1350">
                          <a:solidFill>
                            <a:schemeClr val="dk1"/>
                          </a:solidFill>
                          <a:latin typeface="Arial"/>
                          <a:ea typeface="Arial"/>
                          <a:cs typeface="Arial"/>
                          <a:sym typeface="Arial"/>
                        </a:rPr>
                        <a:t>.  </a:t>
                      </a:r>
                      <a:endParaRPr/>
                    </a:p>
                    <a:p>
                      <a:pPr indent="-85725" lvl="0" marL="171450" marR="0" rtl="0" algn="l">
                        <a:lnSpc>
                          <a:spcPct val="100000"/>
                        </a:lnSpc>
                        <a:spcBef>
                          <a:spcPts val="0"/>
                        </a:spcBef>
                        <a:spcAft>
                          <a:spcPts val="0"/>
                        </a:spcAft>
                        <a:buClr>
                          <a:schemeClr val="dk1"/>
                        </a:buClr>
                        <a:buSzPts val="1350"/>
                        <a:buFont typeface="Arial"/>
                        <a:buNone/>
                      </a:pPr>
                      <a:r>
                        <a:t/>
                      </a:r>
                      <a:endParaRPr sz="1350">
                        <a:solidFill>
                          <a:schemeClr val="dk1"/>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350"/>
                        <a:buFont typeface="Arial"/>
                        <a:buChar char="•"/>
                      </a:pPr>
                      <a:r>
                        <a:rPr lang="en-US" sz="1350">
                          <a:solidFill>
                            <a:schemeClr val="dk1"/>
                          </a:solidFill>
                          <a:latin typeface="Arial"/>
                          <a:ea typeface="Arial"/>
                          <a:cs typeface="Arial"/>
                          <a:sym typeface="Arial"/>
                        </a:rPr>
                        <a:t>Non-Members feel </a:t>
                      </a:r>
                      <a:r>
                        <a:rPr b="1" lang="en-US" sz="1350">
                          <a:solidFill>
                            <a:schemeClr val="accent4"/>
                          </a:solidFill>
                          <a:latin typeface="Arial"/>
                          <a:ea typeface="Arial"/>
                          <a:cs typeface="Arial"/>
                          <a:sym typeface="Arial"/>
                        </a:rPr>
                        <a:t>faster is better </a:t>
                      </a:r>
                      <a:r>
                        <a:rPr lang="en-US" sz="1350">
                          <a:solidFill>
                            <a:schemeClr val="dk1"/>
                          </a:solidFill>
                          <a:latin typeface="Arial"/>
                          <a:ea typeface="Arial"/>
                          <a:cs typeface="Arial"/>
                          <a:sym typeface="Arial"/>
                        </a:rPr>
                        <a:t>and is the strongest claim when it comes to their likelihood to enroll. </a:t>
                      </a:r>
                      <a:endParaRPr/>
                    </a:p>
                    <a:p>
                      <a:pPr indent="-85725" lvl="0" marL="171450" marR="0" rtl="0" algn="l">
                        <a:lnSpc>
                          <a:spcPct val="100000"/>
                        </a:lnSpc>
                        <a:spcBef>
                          <a:spcPts val="0"/>
                        </a:spcBef>
                        <a:spcAft>
                          <a:spcPts val="0"/>
                        </a:spcAft>
                        <a:buClr>
                          <a:schemeClr val="dk1"/>
                        </a:buClr>
                        <a:buSzPts val="1350"/>
                        <a:buFont typeface="Arial"/>
                        <a:buNone/>
                      </a:pPr>
                      <a:r>
                        <a:t/>
                      </a:r>
                      <a:endParaRPr sz="1350"/>
                    </a:p>
                    <a:p>
                      <a:pPr indent="-85725" lvl="0" marL="171450" marR="0" rtl="0" algn="l">
                        <a:spcBef>
                          <a:spcPts val="0"/>
                        </a:spcBef>
                        <a:spcAft>
                          <a:spcPts val="0"/>
                        </a:spcAft>
                        <a:buClr>
                          <a:schemeClr val="dk1"/>
                        </a:buClr>
                        <a:buSzPts val="1350"/>
                        <a:buFont typeface="Arial"/>
                        <a:buNone/>
                      </a:pPr>
                      <a:r>
                        <a:t/>
                      </a:r>
                      <a:endParaRPr b="1" sz="1350"/>
                    </a:p>
                    <a:p>
                      <a:pPr indent="-85725" lvl="0" marL="171450" marR="0" rtl="0" algn="l">
                        <a:spcBef>
                          <a:spcPts val="0"/>
                        </a:spcBef>
                        <a:spcAft>
                          <a:spcPts val="0"/>
                        </a:spcAft>
                        <a:buClr>
                          <a:schemeClr val="dk1"/>
                        </a:buClr>
                        <a:buSzPts val="1350"/>
                        <a:buFont typeface="Arial"/>
                        <a:buNone/>
                      </a:pPr>
                      <a:r>
                        <a:t/>
                      </a:r>
                      <a:endParaRPr b="0" sz="1350"/>
                    </a:p>
                  </a:txBody>
                  <a:tcPr marT="45725" marB="45725" marR="91450" marL="91450"/>
                </a:tc>
              </a:tr>
            </a:tbl>
          </a:graphicData>
        </a:graphic>
      </p:graphicFrame>
      <p:cxnSp>
        <p:nvCxnSpPr>
          <p:cNvPr id="354" name="Google Shape;354;p34"/>
          <p:cNvCxnSpPr/>
          <p:nvPr/>
        </p:nvCxnSpPr>
        <p:spPr>
          <a:xfrm>
            <a:off x="4293031" y="1143000"/>
            <a:ext cx="0" cy="5522817"/>
          </a:xfrm>
          <a:prstGeom prst="straightConnector1">
            <a:avLst/>
          </a:prstGeom>
          <a:noFill/>
          <a:ln cap="flat" cmpd="sng" w="57150">
            <a:solidFill>
              <a:schemeClr val="dk2"/>
            </a:solidFill>
            <a:prstDash val="solid"/>
            <a:miter lim="800000"/>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5"/>
          <p:cNvSpPr txBox="1"/>
          <p:nvPr>
            <p:ph type="title"/>
          </p:nvPr>
        </p:nvSpPr>
        <p:spPr>
          <a:xfrm>
            <a:off x="457200" y="152401"/>
            <a:ext cx="8385858" cy="99059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E393F"/>
              </a:buClr>
              <a:buSzPts val="3200"/>
              <a:buFont typeface="Arial"/>
              <a:buNone/>
            </a:pPr>
            <a:r>
              <a:rPr lang="en-US"/>
              <a:t>Claims Summary</a:t>
            </a:r>
            <a:endParaRPr/>
          </a:p>
        </p:txBody>
      </p:sp>
      <p:sp>
        <p:nvSpPr>
          <p:cNvPr id="360" name="Google Shape;360;p35"/>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2E393F"/>
              </a:buClr>
              <a:buSzPts val="1200"/>
              <a:buFont typeface="Arial"/>
              <a:buNone/>
            </a:pPr>
            <a:fld id="{00000000-1234-1234-1234-123412341234}" type="slidenum">
              <a:rPr lang="en-US"/>
              <a:t>‹#›</a:t>
            </a:fld>
            <a:endParaRPr/>
          </a:p>
        </p:txBody>
      </p:sp>
      <p:sp>
        <p:nvSpPr>
          <p:cNvPr id="361" name="Google Shape;361;p35"/>
          <p:cNvSpPr/>
          <p:nvPr/>
        </p:nvSpPr>
        <p:spPr>
          <a:xfrm>
            <a:off x="0" y="1300605"/>
            <a:ext cx="12192000" cy="1491521"/>
          </a:xfrm>
          <a:prstGeom prst="rect">
            <a:avLst/>
          </a:prstGeom>
          <a:gradFill>
            <a:gsLst>
              <a:gs pos="0">
                <a:schemeClr val="lt1"/>
              </a:gs>
              <a:gs pos="34000">
                <a:schemeClr val="accent2"/>
              </a:gs>
              <a:gs pos="64000">
                <a:schemeClr val="accent3"/>
              </a:gs>
              <a:gs pos="100000">
                <a:srgbClr val="003863"/>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362" name="Google Shape;362;p35"/>
          <p:cNvGraphicFramePr/>
          <p:nvPr/>
        </p:nvGraphicFramePr>
        <p:xfrm>
          <a:off x="0" y="2792126"/>
          <a:ext cx="3000000" cy="3000000"/>
        </p:xfrm>
        <a:graphic>
          <a:graphicData uri="http://schemas.openxmlformats.org/drawingml/2006/table">
            <a:tbl>
              <a:tblPr bandRow="1" firstRow="1">
                <a:noFill/>
                <a:tableStyleId>{03A17969-4AD6-4800-B696-589BF0565E83}</a:tableStyleId>
              </a:tblPr>
              <a:tblGrid>
                <a:gridCol w="3048000"/>
                <a:gridCol w="3048000"/>
                <a:gridCol w="3048000"/>
                <a:gridCol w="3048000"/>
              </a:tblGrid>
              <a:tr h="4065875">
                <a:tc>
                  <a:txBody>
                    <a:bodyPr/>
                    <a:lstStyle/>
                    <a:p>
                      <a:pPr indent="0" lvl="0" marL="0" marR="0" rtl="0" algn="ctr">
                        <a:spcBef>
                          <a:spcPts val="0"/>
                        </a:spcBef>
                        <a:spcAft>
                          <a:spcPts val="0"/>
                        </a:spcAft>
                        <a:buNone/>
                      </a:pPr>
                      <a:r>
                        <a:t/>
                      </a:r>
                      <a:endParaRPr b="1" sz="1400">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97D600">
                        <a:alpha val="52941"/>
                      </a:srgbClr>
                    </a:solidFill>
                  </a:tcPr>
                </a:tc>
                <a:tc>
                  <a:txBody>
                    <a:bodyPr/>
                    <a:lstStyle/>
                    <a:p>
                      <a:pPr indent="0" lvl="0" marL="0" marR="0" rtl="0" algn="ctr">
                        <a:spcBef>
                          <a:spcPts val="0"/>
                        </a:spcBef>
                        <a:spcAft>
                          <a:spcPts val="0"/>
                        </a:spcAft>
                        <a:buNone/>
                      </a:pPr>
                      <a:r>
                        <a:t/>
                      </a:r>
                      <a:endParaRPr b="1" sz="1400">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DCCD3">
                        <a:alpha val="52941"/>
                      </a:srgbClr>
                    </a:solidFill>
                  </a:tcPr>
                </a:tc>
                <a:tc>
                  <a:txBody>
                    <a:bodyPr/>
                    <a:lstStyle/>
                    <a:p>
                      <a:pPr indent="0" lvl="0" marL="0" marR="0" rtl="0" algn="ctr">
                        <a:spcBef>
                          <a:spcPts val="0"/>
                        </a:spcBef>
                        <a:spcAft>
                          <a:spcPts val="0"/>
                        </a:spcAft>
                        <a:buNone/>
                      </a:pPr>
                      <a:r>
                        <a:t/>
                      </a:r>
                      <a:endParaRPr b="1" sz="1400">
                        <a:solidFill>
                          <a:schemeClr val="lt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37BD2">
                        <a:alpha val="51764"/>
                      </a:srgbClr>
                    </a:solidFill>
                  </a:tcPr>
                </a:tc>
                <a:tc>
                  <a:txBody>
                    <a:bodyPr/>
                    <a:lstStyle/>
                    <a:p>
                      <a:pPr indent="0" lvl="0" marL="0" marR="0" rtl="0" algn="ctr">
                        <a:spcBef>
                          <a:spcPts val="0"/>
                        </a:spcBef>
                        <a:spcAft>
                          <a:spcPts val="0"/>
                        </a:spcAft>
                        <a:buNone/>
                      </a:pPr>
                      <a:r>
                        <a:t/>
                      </a:r>
                      <a:endParaRPr b="1" sz="1400">
                        <a:solidFill>
                          <a:schemeClr val="lt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54E7E">
                        <a:alpha val="46666"/>
                      </a:srgbClr>
                    </a:solidFill>
                  </a:tcPr>
                </a:tc>
              </a:tr>
            </a:tbl>
          </a:graphicData>
        </a:graphic>
      </p:graphicFrame>
      <p:sp>
        <p:nvSpPr>
          <p:cNvPr id="363" name="Google Shape;363;p35"/>
          <p:cNvSpPr/>
          <p:nvPr/>
        </p:nvSpPr>
        <p:spPr>
          <a:xfrm>
            <a:off x="3129105" y="3086947"/>
            <a:ext cx="2855422" cy="85369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400">
                <a:solidFill>
                  <a:srgbClr val="21999E"/>
                </a:solidFill>
                <a:latin typeface="Arial"/>
                <a:ea typeface="Arial"/>
                <a:cs typeface="Arial"/>
                <a:sym typeface="Arial"/>
              </a:rPr>
              <a:t>“Rewards within the US starts at just XXX” </a:t>
            </a:r>
            <a:r>
              <a:rPr b="1" lang="en-US" sz="1400">
                <a:solidFill>
                  <a:srgbClr val="21999E"/>
                </a:solidFill>
                <a:latin typeface="Arial"/>
                <a:ea typeface="Arial"/>
                <a:cs typeface="Arial"/>
                <a:sym typeface="Arial"/>
              </a:rPr>
              <a:t>may be the most optimal choice for consistency. </a:t>
            </a:r>
            <a:endParaRPr/>
          </a:p>
        </p:txBody>
      </p:sp>
      <p:cxnSp>
        <p:nvCxnSpPr>
          <p:cNvPr id="364" name="Google Shape;364;p35"/>
          <p:cNvCxnSpPr/>
          <p:nvPr/>
        </p:nvCxnSpPr>
        <p:spPr>
          <a:xfrm>
            <a:off x="794477" y="4217649"/>
            <a:ext cx="1588957" cy="0"/>
          </a:xfrm>
          <a:prstGeom prst="straightConnector1">
            <a:avLst/>
          </a:prstGeom>
          <a:noFill/>
          <a:ln cap="flat" cmpd="sng" w="76200">
            <a:solidFill>
              <a:srgbClr val="71A100"/>
            </a:solidFill>
            <a:prstDash val="solid"/>
            <a:miter lim="800000"/>
            <a:headEnd len="sm" w="sm" type="none"/>
            <a:tailEnd len="sm" w="sm" type="none"/>
          </a:ln>
        </p:spPr>
      </p:cxnSp>
      <p:sp>
        <p:nvSpPr>
          <p:cNvPr id="365" name="Google Shape;365;p35"/>
          <p:cNvSpPr/>
          <p:nvPr/>
        </p:nvSpPr>
        <p:spPr>
          <a:xfrm>
            <a:off x="3260627" y="4423851"/>
            <a:ext cx="2606040" cy="2227948"/>
          </a:xfrm>
          <a:prstGeom prst="rect">
            <a:avLst/>
          </a:prstGeom>
          <a:noFill/>
          <a:ln>
            <a:noFill/>
          </a:ln>
        </p:spPr>
        <p:txBody>
          <a:bodyPr anchorCtr="0" anchor="t" bIns="45700" lIns="91425" spcFirstLastPara="1" rIns="91425" wrap="square" tIns="45700">
            <a:noAutofit/>
          </a:bodyPr>
          <a:lstStyle/>
          <a:p>
            <a:pPr indent="-171450" lvl="0" marL="171450" marR="0" rtl="0" algn="l">
              <a:spcBef>
                <a:spcPts val="0"/>
              </a:spcBef>
              <a:spcAft>
                <a:spcPts val="0"/>
              </a:spcAft>
              <a:buClr>
                <a:srgbClr val="21999E"/>
              </a:buClr>
              <a:buSzPts val="1200"/>
              <a:buFont typeface="Arial"/>
              <a:buChar char="•"/>
            </a:pPr>
            <a:r>
              <a:rPr lang="en-US" sz="1200">
                <a:solidFill>
                  <a:srgbClr val="21999E"/>
                </a:solidFill>
                <a:latin typeface="Arial"/>
                <a:ea typeface="Arial"/>
                <a:cs typeface="Arial"/>
                <a:sym typeface="Arial"/>
              </a:rPr>
              <a:t>The low barrier resonates with </a:t>
            </a:r>
            <a:r>
              <a:rPr b="1" lang="en-US" sz="1200">
                <a:solidFill>
                  <a:srgbClr val="21999E"/>
                </a:solidFill>
                <a:latin typeface="Arial"/>
                <a:ea typeface="Arial"/>
                <a:cs typeface="Arial"/>
                <a:sym typeface="Arial"/>
              </a:rPr>
              <a:t>Members</a:t>
            </a:r>
            <a:r>
              <a:rPr lang="en-US" sz="1200">
                <a:solidFill>
                  <a:srgbClr val="21999E"/>
                </a:solidFill>
                <a:latin typeface="Arial"/>
                <a:ea typeface="Arial"/>
                <a:cs typeface="Arial"/>
                <a:sym typeface="Arial"/>
              </a:rPr>
              <a:t>, performing well across both metrics and MaxDiff.</a:t>
            </a:r>
            <a:endParaRPr/>
          </a:p>
          <a:p>
            <a:pPr indent="-95250" lvl="0" marL="171450" marR="0" rtl="0" algn="l">
              <a:spcBef>
                <a:spcPts val="0"/>
              </a:spcBef>
              <a:spcAft>
                <a:spcPts val="0"/>
              </a:spcAft>
              <a:buClr>
                <a:schemeClr val="lt1"/>
              </a:buClr>
              <a:buSzPts val="1200"/>
              <a:buFont typeface="Arial"/>
              <a:buNone/>
            </a:pPr>
            <a:r>
              <a:t/>
            </a:r>
            <a:endParaRPr sz="1200">
              <a:solidFill>
                <a:srgbClr val="21999E"/>
              </a:solidFill>
              <a:latin typeface="Arial"/>
              <a:ea typeface="Arial"/>
              <a:cs typeface="Arial"/>
              <a:sym typeface="Arial"/>
            </a:endParaRPr>
          </a:p>
          <a:p>
            <a:pPr indent="-171450" lvl="0" marL="171450" marR="0" rtl="0" algn="l">
              <a:spcBef>
                <a:spcPts val="0"/>
              </a:spcBef>
              <a:spcAft>
                <a:spcPts val="0"/>
              </a:spcAft>
              <a:buClr>
                <a:srgbClr val="21999E"/>
              </a:buClr>
              <a:buSzPts val="1200"/>
              <a:buFont typeface="Arial"/>
              <a:buChar char="•"/>
            </a:pPr>
            <a:r>
              <a:rPr lang="en-US" sz="1200">
                <a:solidFill>
                  <a:srgbClr val="21999E"/>
                </a:solidFill>
                <a:latin typeface="Arial"/>
                <a:ea typeface="Arial"/>
                <a:cs typeface="Arial"/>
                <a:sym typeface="Arial"/>
              </a:rPr>
              <a:t>For </a:t>
            </a:r>
            <a:r>
              <a:rPr b="1" lang="en-US" sz="1200">
                <a:solidFill>
                  <a:srgbClr val="21999E"/>
                </a:solidFill>
                <a:latin typeface="Arial"/>
                <a:ea typeface="Arial"/>
                <a:cs typeface="Arial"/>
                <a:sym typeface="Arial"/>
              </a:rPr>
              <a:t>Prospects</a:t>
            </a:r>
            <a:r>
              <a:rPr lang="en-US" sz="1200">
                <a:solidFill>
                  <a:srgbClr val="21999E"/>
                </a:solidFill>
                <a:latin typeface="Arial"/>
                <a:ea typeface="Arial"/>
                <a:cs typeface="Arial"/>
                <a:sym typeface="Arial"/>
              </a:rPr>
              <a:t>, it is the most consistent but it is a bit lower on motivating to enroll.</a:t>
            </a:r>
            <a:endParaRPr/>
          </a:p>
          <a:p>
            <a:pPr indent="-95250" lvl="0" marL="171450" marR="0" rtl="0" algn="l">
              <a:spcBef>
                <a:spcPts val="0"/>
              </a:spcBef>
              <a:spcAft>
                <a:spcPts val="0"/>
              </a:spcAft>
              <a:buClr>
                <a:schemeClr val="lt1"/>
              </a:buClr>
              <a:buSzPts val="1200"/>
              <a:buFont typeface="Arial"/>
              <a:buNone/>
            </a:pPr>
            <a:r>
              <a:t/>
            </a:r>
            <a:endParaRPr sz="1200">
              <a:solidFill>
                <a:srgbClr val="21999E"/>
              </a:solidFill>
              <a:latin typeface="Arial"/>
              <a:ea typeface="Arial"/>
              <a:cs typeface="Arial"/>
              <a:sym typeface="Arial"/>
            </a:endParaRPr>
          </a:p>
          <a:p>
            <a:pPr indent="-171450" lvl="0" marL="171450" marR="0" rtl="0" algn="l">
              <a:spcBef>
                <a:spcPts val="0"/>
              </a:spcBef>
              <a:spcAft>
                <a:spcPts val="0"/>
              </a:spcAft>
              <a:buClr>
                <a:srgbClr val="21999E"/>
              </a:buClr>
              <a:buSzPts val="1200"/>
              <a:buFont typeface="Arial"/>
              <a:buChar char="•"/>
            </a:pPr>
            <a:r>
              <a:rPr lang="en-US" sz="1200">
                <a:solidFill>
                  <a:srgbClr val="21999E"/>
                </a:solidFill>
                <a:latin typeface="Arial"/>
                <a:ea typeface="Arial"/>
                <a:cs typeface="Arial"/>
                <a:sym typeface="Arial"/>
              </a:rPr>
              <a:t>Among </a:t>
            </a:r>
            <a:r>
              <a:rPr b="1" lang="en-US" sz="1200">
                <a:solidFill>
                  <a:srgbClr val="21999E"/>
                </a:solidFill>
                <a:latin typeface="Arial"/>
                <a:ea typeface="Arial"/>
                <a:cs typeface="Arial"/>
                <a:sym typeface="Arial"/>
              </a:rPr>
              <a:t>Non-Members</a:t>
            </a:r>
            <a:r>
              <a:rPr lang="en-US" sz="1200">
                <a:solidFill>
                  <a:srgbClr val="21999E"/>
                </a:solidFill>
                <a:latin typeface="Arial"/>
                <a:ea typeface="Arial"/>
                <a:cs typeface="Arial"/>
                <a:sym typeface="Arial"/>
              </a:rPr>
              <a:t>, it has some struggles towards  appearing unique.  </a:t>
            </a:r>
            <a:endParaRPr/>
          </a:p>
        </p:txBody>
      </p:sp>
      <p:sp>
        <p:nvSpPr>
          <p:cNvPr id="366" name="Google Shape;366;p35"/>
          <p:cNvSpPr/>
          <p:nvPr/>
        </p:nvSpPr>
        <p:spPr>
          <a:xfrm>
            <a:off x="9250652" y="3045631"/>
            <a:ext cx="2743200" cy="93632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accent4"/>
                </a:solidFill>
                <a:latin typeface="Arial"/>
                <a:ea typeface="Arial"/>
                <a:cs typeface="Arial"/>
                <a:sym typeface="Arial"/>
              </a:rPr>
              <a:t>Tangible benefits or leadership claims without direct comparisons tend to resonate most.</a:t>
            </a:r>
            <a:endParaRPr/>
          </a:p>
        </p:txBody>
      </p:sp>
      <p:cxnSp>
        <p:nvCxnSpPr>
          <p:cNvPr id="367" name="Google Shape;367;p35"/>
          <p:cNvCxnSpPr/>
          <p:nvPr/>
        </p:nvCxnSpPr>
        <p:spPr>
          <a:xfrm>
            <a:off x="3780018" y="4217649"/>
            <a:ext cx="1588957" cy="0"/>
          </a:xfrm>
          <a:prstGeom prst="straightConnector1">
            <a:avLst/>
          </a:prstGeom>
          <a:noFill/>
          <a:ln cap="flat" cmpd="sng" w="76200">
            <a:solidFill>
              <a:srgbClr val="21999E"/>
            </a:solidFill>
            <a:prstDash val="solid"/>
            <a:miter lim="800000"/>
            <a:headEnd len="sm" w="sm" type="none"/>
            <a:tailEnd len="sm" w="sm" type="none"/>
          </a:ln>
        </p:spPr>
      </p:cxnSp>
      <p:sp>
        <p:nvSpPr>
          <p:cNvPr id="368" name="Google Shape;368;p35"/>
          <p:cNvSpPr/>
          <p:nvPr/>
        </p:nvSpPr>
        <p:spPr>
          <a:xfrm>
            <a:off x="9387812" y="4423851"/>
            <a:ext cx="2606040" cy="1877401"/>
          </a:xfrm>
          <a:prstGeom prst="rect">
            <a:avLst/>
          </a:prstGeom>
          <a:noFill/>
          <a:ln>
            <a:noFill/>
          </a:ln>
        </p:spPr>
        <p:txBody>
          <a:bodyPr anchorCtr="0" anchor="t" bIns="45700" lIns="91425" spcFirstLastPara="1" rIns="91425" wrap="square" tIns="45700">
            <a:noAutofit/>
          </a:bodyPr>
          <a:lstStyle/>
          <a:p>
            <a:pPr indent="-171450" lvl="0" marL="171450" marR="0" rtl="0" algn="l">
              <a:spcBef>
                <a:spcPts val="0"/>
              </a:spcBef>
              <a:spcAft>
                <a:spcPts val="0"/>
              </a:spcAft>
              <a:buClr>
                <a:schemeClr val="accent4"/>
              </a:buClr>
              <a:buSzPts val="1200"/>
              <a:buFont typeface="Arial"/>
              <a:buChar char="•"/>
            </a:pPr>
            <a:r>
              <a:rPr b="1" lang="en-US" sz="1200">
                <a:solidFill>
                  <a:schemeClr val="accent4"/>
                </a:solidFill>
                <a:latin typeface="Arial"/>
                <a:ea typeface="Arial"/>
                <a:cs typeface="Arial"/>
                <a:sym typeface="Arial"/>
              </a:rPr>
              <a:t>Prospects </a:t>
            </a:r>
            <a:r>
              <a:rPr lang="en-US" sz="1200">
                <a:solidFill>
                  <a:schemeClr val="accent4"/>
                </a:solidFill>
                <a:latin typeface="Arial"/>
                <a:ea typeface="Arial"/>
                <a:cs typeface="Arial"/>
                <a:sym typeface="Arial"/>
              </a:rPr>
              <a:t>respond best to the tangible, numeric claims, but are also the most turned off by competitive claims.</a:t>
            </a:r>
            <a:endParaRPr/>
          </a:p>
          <a:p>
            <a:pPr indent="-95250" lvl="0" marL="171450" marR="0" rtl="0" algn="l">
              <a:spcBef>
                <a:spcPts val="0"/>
              </a:spcBef>
              <a:spcAft>
                <a:spcPts val="0"/>
              </a:spcAft>
              <a:buClr>
                <a:schemeClr val="dk1"/>
              </a:buClr>
              <a:buSzPts val="1200"/>
              <a:buFont typeface="Arial"/>
              <a:buNone/>
            </a:pPr>
            <a:r>
              <a:t/>
            </a:r>
            <a:endParaRPr sz="1200">
              <a:solidFill>
                <a:schemeClr val="accent4"/>
              </a:solidFill>
              <a:latin typeface="Arial"/>
              <a:ea typeface="Arial"/>
              <a:cs typeface="Arial"/>
              <a:sym typeface="Arial"/>
            </a:endParaRPr>
          </a:p>
          <a:p>
            <a:pPr indent="-171450" lvl="0" marL="171450" marR="0" rtl="0" algn="l">
              <a:spcBef>
                <a:spcPts val="0"/>
              </a:spcBef>
              <a:spcAft>
                <a:spcPts val="0"/>
              </a:spcAft>
              <a:buClr>
                <a:schemeClr val="accent4"/>
              </a:buClr>
              <a:buSzPts val="1200"/>
              <a:buFont typeface="Arial"/>
              <a:buChar char="•"/>
            </a:pPr>
            <a:r>
              <a:rPr lang="en-US" sz="1200">
                <a:solidFill>
                  <a:schemeClr val="accent4"/>
                </a:solidFill>
                <a:latin typeface="Arial"/>
                <a:ea typeface="Arial"/>
                <a:cs typeface="Arial"/>
                <a:sym typeface="Arial"/>
              </a:rPr>
              <a:t>In terms of retention, </a:t>
            </a:r>
            <a:r>
              <a:rPr b="1" lang="en-US" sz="1200">
                <a:solidFill>
                  <a:schemeClr val="accent4"/>
                </a:solidFill>
                <a:latin typeface="Arial"/>
                <a:ea typeface="Arial"/>
                <a:cs typeface="Arial"/>
                <a:sym typeface="Arial"/>
              </a:rPr>
              <a:t>Members</a:t>
            </a:r>
            <a:r>
              <a:rPr lang="en-US" sz="1200">
                <a:solidFill>
                  <a:schemeClr val="accent4"/>
                </a:solidFill>
                <a:latin typeface="Arial"/>
                <a:ea typeface="Arial"/>
                <a:cs typeface="Arial"/>
                <a:sym typeface="Arial"/>
              </a:rPr>
              <a:t> see [brand]’s industry high benefits as unique and a good brand fit.</a:t>
            </a:r>
            <a:endParaRPr/>
          </a:p>
        </p:txBody>
      </p:sp>
      <p:sp>
        <p:nvSpPr>
          <p:cNvPr id="369" name="Google Shape;369;p35"/>
          <p:cNvSpPr/>
          <p:nvPr/>
        </p:nvSpPr>
        <p:spPr>
          <a:xfrm>
            <a:off x="6308704" y="3067657"/>
            <a:ext cx="2621556" cy="89227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400">
                <a:solidFill>
                  <a:schemeClr val="accent3"/>
                </a:solidFill>
                <a:latin typeface="Arial"/>
                <a:ea typeface="Arial"/>
                <a:cs typeface="Arial"/>
                <a:sym typeface="Arial"/>
              </a:rPr>
              <a:t>“A YYY spent is a YYY  earned” </a:t>
            </a:r>
            <a:r>
              <a:rPr b="1" lang="en-US" sz="1400">
                <a:solidFill>
                  <a:schemeClr val="accent3"/>
                </a:solidFill>
                <a:latin typeface="Arial"/>
                <a:ea typeface="Arial"/>
                <a:cs typeface="Arial"/>
                <a:sym typeface="Arial"/>
              </a:rPr>
              <a:t>shows some promise towards acquiring new members.</a:t>
            </a:r>
            <a:endParaRPr/>
          </a:p>
        </p:txBody>
      </p:sp>
      <p:cxnSp>
        <p:nvCxnSpPr>
          <p:cNvPr id="370" name="Google Shape;370;p35"/>
          <p:cNvCxnSpPr/>
          <p:nvPr/>
        </p:nvCxnSpPr>
        <p:spPr>
          <a:xfrm>
            <a:off x="6765559" y="4217649"/>
            <a:ext cx="1588957" cy="0"/>
          </a:xfrm>
          <a:prstGeom prst="straightConnector1">
            <a:avLst/>
          </a:prstGeom>
          <a:noFill/>
          <a:ln cap="flat" cmpd="sng" w="76200">
            <a:solidFill>
              <a:schemeClr val="accent3"/>
            </a:solidFill>
            <a:prstDash val="solid"/>
            <a:miter lim="800000"/>
            <a:headEnd len="sm" w="sm" type="none"/>
            <a:tailEnd len="sm" w="sm" type="none"/>
          </a:ln>
        </p:spPr>
      </p:cxnSp>
      <p:sp>
        <p:nvSpPr>
          <p:cNvPr id="371" name="Google Shape;371;p35"/>
          <p:cNvSpPr/>
          <p:nvPr/>
        </p:nvSpPr>
        <p:spPr>
          <a:xfrm>
            <a:off x="6324220" y="4423851"/>
            <a:ext cx="2606040" cy="2107958"/>
          </a:xfrm>
          <a:prstGeom prst="rect">
            <a:avLst/>
          </a:prstGeom>
          <a:noFill/>
          <a:ln>
            <a:noFill/>
          </a:ln>
        </p:spPr>
        <p:txBody>
          <a:bodyPr anchorCtr="0" anchor="t" bIns="45700" lIns="91425" spcFirstLastPara="1" rIns="91425" wrap="square" tIns="45700">
            <a:noAutofit/>
          </a:bodyPr>
          <a:lstStyle/>
          <a:p>
            <a:pPr indent="-171450" lvl="0" marL="171450" marR="0" rtl="0" algn="l">
              <a:spcBef>
                <a:spcPts val="0"/>
              </a:spcBef>
              <a:spcAft>
                <a:spcPts val="0"/>
              </a:spcAft>
              <a:buClr>
                <a:schemeClr val="accent3"/>
              </a:buClr>
              <a:buSzPts val="1200"/>
              <a:buFont typeface="Arial"/>
              <a:buChar char="•"/>
            </a:pPr>
            <a:r>
              <a:rPr b="1" lang="en-US" sz="1200">
                <a:solidFill>
                  <a:schemeClr val="accent3"/>
                </a:solidFill>
                <a:latin typeface="Arial"/>
                <a:ea typeface="Arial"/>
                <a:cs typeface="Arial"/>
                <a:sym typeface="Arial"/>
              </a:rPr>
              <a:t>Total sample </a:t>
            </a:r>
            <a:r>
              <a:rPr lang="en-US" sz="1200">
                <a:solidFill>
                  <a:schemeClr val="accent3"/>
                </a:solidFill>
                <a:latin typeface="Arial"/>
                <a:ea typeface="Arial"/>
                <a:cs typeface="Arial"/>
                <a:sym typeface="Arial"/>
              </a:rPr>
              <a:t>rates it highest in scoring but is average on uniqueness and is low on overall preference.       </a:t>
            </a:r>
            <a:endParaRPr/>
          </a:p>
          <a:p>
            <a:pPr indent="-95250" lvl="0" marL="171450" marR="0" rtl="0" algn="l">
              <a:spcBef>
                <a:spcPts val="0"/>
              </a:spcBef>
              <a:spcAft>
                <a:spcPts val="0"/>
              </a:spcAft>
              <a:buClr>
                <a:schemeClr val="dk1"/>
              </a:buClr>
              <a:buSzPts val="1200"/>
              <a:buFont typeface="Arial"/>
              <a:buNone/>
            </a:pPr>
            <a:r>
              <a:t/>
            </a:r>
            <a:endParaRPr sz="1200">
              <a:solidFill>
                <a:schemeClr val="accent3"/>
              </a:solidFill>
              <a:latin typeface="Arial"/>
              <a:ea typeface="Arial"/>
              <a:cs typeface="Arial"/>
              <a:sym typeface="Arial"/>
            </a:endParaRPr>
          </a:p>
          <a:p>
            <a:pPr indent="-171450" lvl="0" marL="171450" marR="0" rtl="0" algn="l">
              <a:spcBef>
                <a:spcPts val="0"/>
              </a:spcBef>
              <a:spcAft>
                <a:spcPts val="0"/>
              </a:spcAft>
              <a:buClr>
                <a:schemeClr val="accent3"/>
              </a:buClr>
              <a:buSzPts val="1200"/>
              <a:buFont typeface="Arial"/>
              <a:buChar char="•"/>
            </a:pPr>
            <a:r>
              <a:rPr lang="en-US" sz="1200">
                <a:solidFill>
                  <a:schemeClr val="accent3"/>
                </a:solidFill>
                <a:latin typeface="Arial"/>
                <a:ea typeface="Arial"/>
                <a:cs typeface="Arial"/>
                <a:sym typeface="Arial"/>
              </a:rPr>
              <a:t>Among</a:t>
            </a:r>
            <a:r>
              <a:rPr b="1" lang="en-US" sz="1200">
                <a:solidFill>
                  <a:schemeClr val="accent3"/>
                </a:solidFill>
                <a:latin typeface="Arial"/>
                <a:ea typeface="Arial"/>
                <a:cs typeface="Arial"/>
                <a:sym typeface="Arial"/>
              </a:rPr>
              <a:t> Prospects</a:t>
            </a:r>
            <a:r>
              <a:rPr lang="en-US" sz="1200">
                <a:solidFill>
                  <a:schemeClr val="accent3"/>
                </a:solidFill>
                <a:latin typeface="Arial"/>
                <a:ea typeface="Arial"/>
                <a:cs typeface="Arial"/>
                <a:sym typeface="Arial"/>
              </a:rPr>
              <a:t>, it is the most believable and moves to enroll.  </a:t>
            </a:r>
            <a:endParaRPr/>
          </a:p>
          <a:p>
            <a:pPr indent="-95250" lvl="0" marL="171450" marR="0" rtl="0" algn="l">
              <a:spcBef>
                <a:spcPts val="0"/>
              </a:spcBef>
              <a:spcAft>
                <a:spcPts val="0"/>
              </a:spcAft>
              <a:buClr>
                <a:schemeClr val="dk1"/>
              </a:buClr>
              <a:buSzPts val="1200"/>
              <a:buFont typeface="Arial"/>
              <a:buNone/>
            </a:pPr>
            <a:r>
              <a:t/>
            </a:r>
            <a:endParaRPr sz="1200">
              <a:solidFill>
                <a:schemeClr val="accent3"/>
              </a:solidFill>
              <a:latin typeface="Arial"/>
              <a:ea typeface="Arial"/>
              <a:cs typeface="Arial"/>
              <a:sym typeface="Arial"/>
            </a:endParaRPr>
          </a:p>
          <a:p>
            <a:pPr indent="-173736" lvl="0" marL="173736" marR="0" rtl="0" algn="l">
              <a:spcBef>
                <a:spcPts val="0"/>
              </a:spcBef>
              <a:spcAft>
                <a:spcPts val="0"/>
              </a:spcAft>
              <a:buClr>
                <a:schemeClr val="accent3"/>
              </a:buClr>
              <a:buSzPts val="1200"/>
              <a:buFont typeface="Arial"/>
              <a:buChar char="•"/>
            </a:pPr>
            <a:r>
              <a:rPr b="1" lang="en-US" sz="1200">
                <a:solidFill>
                  <a:schemeClr val="accent3"/>
                </a:solidFill>
                <a:latin typeface="Arial"/>
                <a:ea typeface="Arial"/>
                <a:cs typeface="Arial"/>
                <a:sym typeface="Arial"/>
              </a:rPr>
              <a:t>Non-Members</a:t>
            </a:r>
            <a:r>
              <a:rPr lang="en-US" sz="1200">
                <a:solidFill>
                  <a:schemeClr val="accent3"/>
                </a:solidFill>
                <a:latin typeface="Arial"/>
                <a:ea typeface="Arial"/>
                <a:cs typeface="Arial"/>
                <a:sym typeface="Arial"/>
              </a:rPr>
              <a:t> rank it highest, rating strong across the four measures with solid overall preference. </a:t>
            </a:r>
            <a:endParaRPr sz="1200">
              <a:solidFill>
                <a:schemeClr val="accent3"/>
              </a:solidFill>
              <a:latin typeface="Arial"/>
              <a:ea typeface="Arial"/>
              <a:cs typeface="Arial"/>
              <a:sym typeface="Arial"/>
            </a:endParaRPr>
          </a:p>
        </p:txBody>
      </p:sp>
      <p:cxnSp>
        <p:nvCxnSpPr>
          <p:cNvPr id="372" name="Google Shape;372;p35"/>
          <p:cNvCxnSpPr/>
          <p:nvPr/>
        </p:nvCxnSpPr>
        <p:spPr>
          <a:xfrm>
            <a:off x="9923486" y="4217649"/>
            <a:ext cx="1588957" cy="0"/>
          </a:xfrm>
          <a:prstGeom prst="straightConnector1">
            <a:avLst/>
          </a:prstGeom>
          <a:noFill/>
          <a:ln cap="flat" cmpd="sng" w="76200">
            <a:solidFill>
              <a:schemeClr val="accent4"/>
            </a:solidFill>
            <a:prstDash val="solid"/>
            <a:miter lim="800000"/>
            <a:headEnd len="sm" w="sm" type="none"/>
            <a:tailEnd len="sm" w="sm" type="none"/>
          </a:ln>
        </p:spPr>
      </p:cxnSp>
      <p:sp>
        <p:nvSpPr>
          <p:cNvPr id="373" name="Google Shape;373;p35"/>
          <p:cNvSpPr/>
          <p:nvPr/>
        </p:nvSpPr>
        <p:spPr>
          <a:xfrm>
            <a:off x="1193154" y="1681927"/>
            <a:ext cx="791601" cy="726758"/>
          </a:xfrm>
          <a:prstGeom prst="roundRect">
            <a:avLst>
              <a:gd fmla="val 16667" name="adj"/>
            </a:avLst>
          </a:prstGeom>
          <a:solidFill>
            <a:srgbClr val="D8D8D8"/>
          </a:solidFill>
          <a:ln cap="flat" cmpd="sng" w="762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SPEED LIMIT</a:t>
            </a:r>
            <a:endParaRPr/>
          </a:p>
        </p:txBody>
      </p:sp>
      <p:pic>
        <p:nvPicPr>
          <p:cNvPr id="374" name="Google Shape;374;p35"/>
          <p:cNvPicPr preferRelativeResize="0"/>
          <p:nvPr/>
        </p:nvPicPr>
        <p:blipFill rotWithShape="1">
          <a:blip r:embed="rId3">
            <a:alphaModFix/>
          </a:blip>
          <a:srcRect b="0" l="0" r="0" t="0"/>
          <a:stretch/>
        </p:blipFill>
        <p:spPr>
          <a:xfrm>
            <a:off x="7227173" y="1662782"/>
            <a:ext cx="765048" cy="765048"/>
          </a:xfrm>
          <a:prstGeom prst="rect">
            <a:avLst/>
          </a:prstGeom>
          <a:noFill/>
          <a:ln>
            <a:noFill/>
          </a:ln>
        </p:spPr>
      </p:pic>
      <p:pic>
        <p:nvPicPr>
          <p:cNvPr id="375" name="Google Shape;375;p35"/>
          <p:cNvPicPr preferRelativeResize="0"/>
          <p:nvPr/>
        </p:nvPicPr>
        <p:blipFill rotWithShape="1">
          <a:blip r:embed="rId4">
            <a:alphaModFix/>
          </a:blip>
          <a:srcRect b="0" l="0" r="0" t="0"/>
          <a:stretch/>
        </p:blipFill>
        <p:spPr>
          <a:xfrm>
            <a:off x="9745419" y="1782284"/>
            <a:ext cx="1805955" cy="602245"/>
          </a:xfrm>
          <a:prstGeom prst="rect">
            <a:avLst/>
          </a:prstGeom>
          <a:noFill/>
          <a:ln>
            <a:noFill/>
          </a:ln>
        </p:spPr>
      </p:pic>
      <p:pic>
        <p:nvPicPr>
          <p:cNvPr id="376" name="Google Shape;376;p35"/>
          <p:cNvPicPr preferRelativeResize="0"/>
          <p:nvPr/>
        </p:nvPicPr>
        <p:blipFill rotWithShape="1">
          <a:blip r:embed="rId5">
            <a:alphaModFix/>
          </a:blip>
          <a:srcRect b="0" l="0" r="0" t="0"/>
          <a:stretch/>
        </p:blipFill>
        <p:spPr>
          <a:xfrm>
            <a:off x="4004652" y="1424002"/>
            <a:ext cx="1012124" cy="1242608"/>
          </a:xfrm>
          <a:prstGeom prst="rect">
            <a:avLst/>
          </a:prstGeom>
          <a:noFill/>
          <a:ln>
            <a:noFill/>
          </a:ln>
        </p:spPr>
      </p:pic>
      <p:sp>
        <p:nvSpPr>
          <p:cNvPr id="377" name="Google Shape;377;p35"/>
          <p:cNvSpPr/>
          <p:nvPr/>
        </p:nvSpPr>
        <p:spPr>
          <a:xfrm>
            <a:off x="197034" y="4423851"/>
            <a:ext cx="2606040" cy="1710249"/>
          </a:xfrm>
          <a:prstGeom prst="rect">
            <a:avLst/>
          </a:prstGeom>
          <a:noFill/>
          <a:ln>
            <a:noFill/>
          </a:ln>
        </p:spPr>
        <p:txBody>
          <a:bodyPr anchorCtr="0" anchor="t" bIns="45700" lIns="91425" spcFirstLastPara="1" rIns="91425" wrap="square" tIns="45700">
            <a:noAutofit/>
          </a:bodyPr>
          <a:lstStyle/>
          <a:p>
            <a:pPr indent="-171450" lvl="0" marL="171450" marR="0" rtl="0" algn="l">
              <a:spcBef>
                <a:spcPts val="0"/>
              </a:spcBef>
              <a:spcAft>
                <a:spcPts val="0"/>
              </a:spcAft>
              <a:buClr>
                <a:srgbClr val="71A100"/>
              </a:buClr>
              <a:buSzPts val="1200"/>
              <a:buFont typeface="Arial"/>
              <a:buChar char="•"/>
            </a:pPr>
            <a:r>
              <a:rPr lang="en-US" sz="1200">
                <a:solidFill>
                  <a:srgbClr val="71A100"/>
                </a:solidFill>
                <a:latin typeface="Arial"/>
                <a:ea typeface="Arial"/>
                <a:cs typeface="Arial"/>
                <a:sym typeface="Arial"/>
              </a:rPr>
              <a:t>Among </a:t>
            </a:r>
            <a:r>
              <a:rPr b="1" lang="en-US" sz="1200">
                <a:solidFill>
                  <a:srgbClr val="71A100"/>
                </a:solidFill>
                <a:latin typeface="Arial"/>
                <a:ea typeface="Arial"/>
                <a:cs typeface="Arial"/>
                <a:sym typeface="Arial"/>
              </a:rPr>
              <a:t>Total sample</a:t>
            </a:r>
            <a:r>
              <a:rPr lang="en-US" sz="1200">
                <a:solidFill>
                  <a:srgbClr val="71A100"/>
                </a:solidFill>
                <a:latin typeface="Arial"/>
                <a:ea typeface="Arial"/>
                <a:cs typeface="Arial"/>
                <a:sym typeface="Arial"/>
              </a:rPr>
              <a:t>, it is the most compelling claim. However, it falls behind in terms of brand fit across all audiences. </a:t>
            </a:r>
            <a:endParaRPr/>
          </a:p>
          <a:p>
            <a:pPr indent="-95250" lvl="0" marL="171450" marR="0" rtl="0" algn="l">
              <a:spcBef>
                <a:spcPts val="0"/>
              </a:spcBef>
              <a:spcAft>
                <a:spcPts val="0"/>
              </a:spcAft>
              <a:buClr>
                <a:schemeClr val="dk1"/>
              </a:buClr>
              <a:buSzPts val="1200"/>
              <a:buFont typeface="Arial"/>
              <a:buNone/>
            </a:pPr>
            <a:r>
              <a:t/>
            </a:r>
            <a:endParaRPr sz="1200">
              <a:solidFill>
                <a:srgbClr val="71A100"/>
              </a:solidFill>
              <a:latin typeface="Arial"/>
              <a:ea typeface="Arial"/>
              <a:cs typeface="Arial"/>
              <a:sym typeface="Arial"/>
            </a:endParaRPr>
          </a:p>
          <a:p>
            <a:pPr indent="-171450" lvl="0" marL="171450" marR="0" rtl="0" algn="l">
              <a:spcBef>
                <a:spcPts val="0"/>
              </a:spcBef>
              <a:spcAft>
                <a:spcPts val="0"/>
              </a:spcAft>
              <a:buClr>
                <a:srgbClr val="71A100"/>
              </a:buClr>
              <a:buSzPts val="1200"/>
              <a:buFont typeface="Arial"/>
              <a:buChar char="•"/>
            </a:pPr>
            <a:r>
              <a:rPr b="1" lang="en-US" sz="1200">
                <a:solidFill>
                  <a:srgbClr val="71A100"/>
                </a:solidFill>
                <a:latin typeface="Arial"/>
                <a:ea typeface="Arial"/>
                <a:cs typeface="Arial"/>
                <a:sym typeface="Arial"/>
              </a:rPr>
              <a:t>Prospects</a:t>
            </a:r>
            <a:r>
              <a:rPr lang="en-US" sz="1200">
                <a:solidFill>
                  <a:srgbClr val="71A100"/>
                </a:solidFill>
                <a:latin typeface="Arial"/>
                <a:ea typeface="Arial"/>
                <a:cs typeface="Arial"/>
                <a:sym typeface="Arial"/>
              </a:rPr>
              <a:t> rate it low in believability. </a:t>
            </a:r>
            <a:endParaRPr/>
          </a:p>
          <a:p>
            <a:pPr indent="-95250" lvl="0" marL="171450" marR="0" rtl="0" algn="l">
              <a:spcBef>
                <a:spcPts val="0"/>
              </a:spcBef>
              <a:spcAft>
                <a:spcPts val="0"/>
              </a:spcAft>
              <a:buClr>
                <a:schemeClr val="dk1"/>
              </a:buClr>
              <a:buSzPts val="1200"/>
              <a:buFont typeface="Arial"/>
              <a:buNone/>
            </a:pPr>
            <a:r>
              <a:t/>
            </a:r>
            <a:endParaRPr sz="1200">
              <a:solidFill>
                <a:srgbClr val="71A100"/>
              </a:solidFill>
              <a:latin typeface="Arial"/>
              <a:ea typeface="Arial"/>
              <a:cs typeface="Arial"/>
              <a:sym typeface="Arial"/>
            </a:endParaRPr>
          </a:p>
          <a:p>
            <a:pPr indent="-171450" lvl="0" marL="171450" marR="0" rtl="0" algn="l">
              <a:spcBef>
                <a:spcPts val="0"/>
              </a:spcBef>
              <a:spcAft>
                <a:spcPts val="0"/>
              </a:spcAft>
              <a:buClr>
                <a:srgbClr val="71A100"/>
              </a:buClr>
              <a:buSzPts val="1200"/>
              <a:buFont typeface="Arial"/>
              <a:buChar char="•"/>
            </a:pPr>
            <a:r>
              <a:rPr lang="en-US" sz="1200">
                <a:solidFill>
                  <a:srgbClr val="71A100"/>
                </a:solidFill>
                <a:latin typeface="Arial"/>
                <a:ea typeface="Arial"/>
                <a:cs typeface="Arial"/>
                <a:sym typeface="Arial"/>
              </a:rPr>
              <a:t>The claim does not have strong likelihood to enroll amongst </a:t>
            </a:r>
            <a:r>
              <a:rPr b="1" lang="en-US" sz="1200">
                <a:solidFill>
                  <a:srgbClr val="71A100"/>
                </a:solidFill>
                <a:latin typeface="Arial"/>
                <a:ea typeface="Arial"/>
                <a:cs typeface="Arial"/>
                <a:sym typeface="Arial"/>
              </a:rPr>
              <a:t>Non-Members.</a:t>
            </a:r>
            <a:endParaRPr/>
          </a:p>
        </p:txBody>
      </p:sp>
      <p:sp>
        <p:nvSpPr>
          <p:cNvPr id="378" name="Google Shape;378;p35"/>
          <p:cNvSpPr/>
          <p:nvPr/>
        </p:nvSpPr>
        <p:spPr>
          <a:xfrm>
            <a:off x="200379" y="3076162"/>
            <a:ext cx="2646690" cy="87526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400">
                <a:solidFill>
                  <a:srgbClr val="71A100"/>
                </a:solidFill>
                <a:latin typeface="Arial"/>
                <a:ea typeface="Arial"/>
                <a:cs typeface="Arial"/>
                <a:sym typeface="Arial"/>
              </a:rPr>
              <a:t>“Earn rewards 30% faster than other major [category]” </a:t>
            </a:r>
            <a:r>
              <a:rPr b="1" lang="en-US" sz="1400">
                <a:solidFill>
                  <a:srgbClr val="71A100"/>
                </a:solidFill>
                <a:latin typeface="Arial"/>
                <a:ea typeface="Arial"/>
                <a:cs typeface="Arial"/>
                <a:sym typeface="Arial"/>
              </a:rPr>
              <a:t>is most compelling, though has notable drawbacks.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6"/>
          <p:cNvSpPr txBox="1"/>
          <p:nvPr>
            <p:ph type="title"/>
          </p:nvPr>
        </p:nvSpPr>
        <p:spPr>
          <a:xfrm>
            <a:off x="2421131" y="-93689"/>
            <a:ext cx="5688547" cy="190375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lang="en-US" sz="5400">
                <a:solidFill>
                  <a:schemeClr val="dk1"/>
                </a:solidFill>
              </a:rPr>
              <a:t>Detailed Findings</a:t>
            </a:r>
            <a:endParaRPr/>
          </a:p>
        </p:txBody>
      </p:sp>
      <p:sp>
        <p:nvSpPr>
          <p:cNvPr id="384" name="Google Shape;384;p36"/>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7"/>
          <p:cNvSpPr txBox="1"/>
          <p:nvPr>
            <p:ph type="title"/>
          </p:nvPr>
        </p:nvSpPr>
        <p:spPr>
          <a:xfrm>
            <a:off x="2466102" y="269823"/>
            <a:ext cx="2930357" cy="13341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lang="en-US" sz="5400">
                <a:solidFill>
                  <a:schemeClr val="dk1"/>
                </a:solidFill>
              </a:rPr>
              <a:t>MaxDiff </a:t>
            </a:r>
            <a:endParaRPr/>
          </a:p>
        </p:txBody>
      </p:sp>
      <p:sp>
        <p:nvSpPr>
          <p:cNvPr id="390" name="Google Shape;390;p37"/>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8"/>
          <p:cNvSpPr txBox="1"/>
          <p:nvPr>
            <p:ph type="title"/>
          </p:nvPr>
        </p:nvSpPr>
        <p:spPr>
          <a:xfrm>
            <a:off x="337929" y="208448"/>
            <a:ext cx="10475845" cy="99059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E393F"/>
              </a:buClr>
              <a:buSzPct val="100000"/>
              <a:buFont typeface="Arial"/>
              <a:buNone/>
            </a:pPr>
            <a:r>
              <a:rPr lang="en-US" sz="2400"/>
              <a:t>Earning rewards 30% faster is the most compelling claim. Tangible benefits (where numbers are given) or leadership claims (most generous, highest value) without direct comparisons tend to resonate most.</a:t>
            </a:r>
            <a:endParaRPr/>
          </a:p>
        </p:txBody>
      </p:sp>
      <p:pic>
        <p:nvPicPr>
          <p:cNvPr id="397" name="Google Shape;397;p38"/>
          <p:cNvPicPr preferRelativeResize="0"/>
          <p:nvPr>
            <p:ph idx="1" type="body"/>
          </p:nvPr>
        </p:nvPicPr>
        <p:blipFill rotWithShape="1">
          <a:blip r:embed="rId3">
            <a:alphaModFix/>
          </a:blip>
          <a:srcRect b="0" l="28211" r="0" t="5762"/>
          <a:stretch/>
        </p:blipFill>
        <p:spPr>
          <a:xfrm>
            <a:off x="5019258" y="1550504"/>
            <a:ext cx="6100363" cy="5032132"/>
          </a:xfrm>
          <a:prstGeom prst="rect">
            <a:avLst/>
          </a:prstGeom>
          <a:noFill/>
          <a:ln>
            <a:noFill/>
          </a:ln>
        </p:spPr>
      </p:pic>
      <p:sp>
        <p:nvSpPr>
          <p:cNvPr id="398" name="Google Shape;398;p38"/>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399" name="Google Shape;399;p38"/>
          <p:cNvGraphicFramePr/>
          <p:nvPr/>
        </p:nvGraphicFramePr>
        <p:xfrm>
          <a:off x="419952" y="1550504"/>
          <a:ext cx="3000000" cy="3000000"/>
        </p:xfrm>
        <a:graphic>
          <a:graphicData uri="http://schemas.openxmlformats.org/drawingml/2006/table">
            <a:tbl>
              <a:tblPr bandRow="1" firstRow="1">
                <a:noFill/>
                <a:tableStyleId>{03A17969-4AD6-4800-B696-589BF0565E83}</a:tableStyleId>
              </a:tblPr>
              <a:tblGrid>
                <a:gridCol w="4599300"/>
              </a:tblGrid>
              <a:tr h="335475">
                <a:tc>
                  <a:txBody>
                    <a:bodyPr/>
                    <a:lstStyle/>
                    <a:p>
                      <a:pPr indent="0" lvl="0" marL="0" marR="0" rtl="0" algn="r">
                        <a:lnSpc>
                          <a:spcPct val="100000"/>
                        </a:lnSpc>
                        <a:spcBef>
                          <a:spcPts val="0"/>
                        </a:spcBef>
                        <a:spcAft>
                          <a:spcPts val="0"/>
                        </a:spcAft>
                        <a:buClr>
                          <a:schemeClr val="dk1"/>
                        </a:buClr>
                        <a:buSzPts val="1100"/>
                        <a:buFont typeface="Arial"/>
                        <a:buNone/>
                      </a:pPr>
                      <a:r>
                        <a:rPr b="0" lang="en-US" sz="1100">
                          <a:solidFill>
                            <a:schemeClr val="dk1"/>
                          </a:solidFill>
                        </a:rPr>
                        <a:t>Earn rewards 30% faster than other major [category]</a:t>
                      </a:r>
                      <a:endParaRPr/>
                    </a:p>
                  </a:txBody>
                  <a:tcPr marT="45725" marB="45725" marR="91450" marL="91450" anchor="ctr">
                    <a:solidFill>
                      <a:schemeClr val="lt1"/>
                    </a:solidFill>
                  </a:tcPr>
                </a:tc>
              </a:tr>
              <a:tr h="335475">
                <a:tc>
                  <a:txBody>
                    <a:bodyPr/>
                    <a:lstStyle/>
                    <a:p>
                      <a:pPr indent="0" lvl="0" marL="0" marR="0" rtl="0" algn="r">
                        <a:lnSpc>
                          <a:spcPct val="100000"/>
                        </a:lnSpc>
                        <a:spcBef>
                          <a:spcPts val="0"/>
                        </a:spcBef>
                        <a:spcAft>
                          <a:spcPts val="0"/>
                        </a:spcAft>
                        <a:buClr>
                          <a:schemeClr val="dk1"/>
                        </a:buClr>
                        <a:buSzPts val="1100"/>
                        <a:buFont typeface="Arial"/>
                        <a:buNone/>
                      </a:pPr>
                      <a:r>
                        <a:rPr lang="en-US" sz="1100"/>
                        <a:t>Rewards within the US starts at just XXX</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The most generous [category] loyalty program</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[brand] offers the highest value benefits in the industry</a:t>
                      </a:r>
                      <a:endParaRPr/>
                    </a:p>
                  </a:txBody>
                  <a:tcPr marT="45725" marB="45725" marR="91450" marL="91450" anchor="ctr">
                    <a:solidFill>
                      <a:schemeClr val="lt1"/>
                    </a:solidFill>
                  </a:tcPr>
                </a:tc>
              </a:tr>
              <a:tr h="335475">
                <a:tc>
                  <a:txBody>
                    <a:bodyPr/>
                    <a:lstStyle/>
                    <a:p>
                      <a:pPr indent="0" lvl="0" marL="0" marR="0" rtl="0" algn="r">
                        <a:lnSpc>
                          <a:spcPct val="100000"/>
                        </a:lnSpc>
                        <a:spcBef>
                          <a:spcPts val="0"/>
                        </a:spcBef>
                        <a:spcAft>
                          <a:spcPts val="0"/>
                        </a:spcAft>
                        <a:buClr>
                          <a:schemeClr val="dk1"/>
                        </a:buClr>
                        <a:buSzPts val="1100"/>
                        <a:buFont typeface="Arial"/>
                        <a:buNone/>
                      </a:pPr>
                      <a:r>
                        <a:rPr lang="en-US" sz="1100"/>
                        <a:t>Earn awards faster so you are 30% faster to your next reward</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Earn awards faster</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Earn by the experience, not but the dollar</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Buy at any price, earn all the rewards</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Earn rewards 25% % faster than other major [category]</a:t>
                      </a:r>
                      <a:endParaRPr/>
                    </a:p>
                  </a:txBody>
                  <a:tcPr marT="45725" marB="45725" marR="91450" marL="91450" anchor="ctr">
                    <a:solidFill>
                      <a:schemeClr val="lt1"/>
                    </a:solidFill>
                  </a:tcPr>
                </a:tc>
              </a:tr>
              <a:tr h="335475">
                <a:tc>
                  <a:txBody>
                    <a:bodyPr/>
                    <a:lstStyle/>
                    <a:p>
                      <a:pPr indent="0" lvl="0" marL="0" marR="0" rtl="0" algn="r">
                        <a:lnSpc>
                          <a:spcPct val="100000"/>
                        </a:lnSpc>
                        <a:spcBef>
                          <a:spcPts val="0"/>
                        </a:spcBef>
                        <a:spcAft>
                          <a:spcPts val="0"/>
                        </a:spcAft>
                        <a:buClr>
                          <a:schemeClr val="dk1"/>
                        </a:buClr>
                        <a:buSzPts val="1100"/>
                        <a:buFont typeface="Arial"/>
                        <a:buNone/>
                      </a:pPr>
                      <a:r>
                        <a:rPr lang="en-US" sz="1100"/>
                        <a:t>Earn faster, redeem sooner</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[brand] rewards are worth more than other [category] rewards</a:t>
                      </a:r>
                      <a:endParaRPr/>
                    </a:p>
                  </a:txBody>
                  <a:tcPr marT="45725" marB="45725" marR="91450" marL="91450" anchor="ctr">
                    <a:solidFill>
                      <a:schemeClr val="lt1"/>
                    </a:solidFill>
                  </a:tcPr>
                </a:tc>
              </a:tr>
              <a:tr h="335475">
                <a:tc>
                  <a:txBody>
                    <a:bodyPr/>
                    <a:lstStyle/>
                    <a:p>
                      <a:pPr indent="0" lvl="0" marL="0" marR="0" rtl="0" algn="r">
                        <a:lnSpc>
                          <a:spcPct val="100000"/>
                        </a:lnSpc>
                        <a:spcBef>
                          <a:spcPts val="0"/>
                        </a:spcBef>
                        <a:spcAft>
                          <a:spcPts val="0"/>
                        </a:spcAft>
                        <a:buClr>
                          <a:schemeClr val="dk1"/>
                        </a:buClr>
                        <a:buSzPts val="1100"/>
                        <a:buFont typeface="Arial"/>
                        <a:buNone/>
                      </a:pPr>
                      <a:r>
                        <a:rPr lang="en-US" sz="1100"/>
                        <a:t>A YYY spent is a YYY  earned</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The smartest value compared to any other [category] rewards program</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The most valuable rewards among US [category]</a:t>
                      </a:r>
                      <a:endParaRPr/>
                    </a:p>
                  </a:txBody>
                  <a:tcPr marT="45725" marB="45725" marR="91450" marL="91450" anchor="ctr">
                    <a:solidFill>
                      <a:schemeClr val="lt1"/>
                    </a:solidFill>
                  </a:tcPr>
                </a:tc>
              </a:tr>
              <a:tr h="335475">
                <a:tc>
                  <a:txBody>
                    <a:bodyPr/>
                    <a:lstStyle/>
                    <a:p>
                      <a:pPr indent="0" lvl="0" marL="0" marR="0" rtl="0" algn="r">
                        <a:spcBef>
                          <a:spcPts val="0"/>
                        </a:spcBef>
                        <a:spcAft>
                          <a:spcPts val="0"/>
                        </a:spcAft>
                        <a:buNone/>
                      </a:pPr>
                      <a:r>
                        <a:rPr lang="en-US" sz="1100"/>
                        <a:t>Only [brand] can get to you your free rewards sooner</a:t>
                      </a:r>
                      <a:endParaRPr/>
                    </a:p>
                  </a:txBody>
                  <a:tcPr marT="45725" marB="45725" marR="91450" marL="91450" anchor="ctr">
                    <a:solidFill>
                      <a:schemeClr val="lt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9"/>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06" name="Google Shape;406;p39"/>
          <p:cNvPicPr preferRelativeResize="0"/>
          <p:nvPr>
            <p:ph idx="1" type="body"/>
          </p:nvPr>
        </p:nvPicPr>
        <p:blipFill rotWithShape="1">
          <a:blip r:embed="rId3">
            <a:alphaModFix/>
          </a:blip>
          <a:srcRect b="0" l="27679" r="0" t="6501"/>
          <a:stretch/>
        </p:blipFill>
        <p:spPr>
          <a:xfrm>
            <a:off x="4412974" y="1199047"/>
            <a:ext cx="6652856" cy="5404618"/>
          </a:xfrm>
          <a:prstGeom prst="rect">
            <a:avLst/>
          </a:prstGeom>
          <a:noFill/>
          <a:ln>
            <a:noFill/>
          </a:ln>
        </p:spPr>
      </p:pic>
      <p:graphicFrame>
        <p:nvGraphicFramePr>
          <p:cNvPr id="407" name="Google Shape;407;p39"/>
          <p:cNvGraphicFramePr/>
          <p:nvPr/>
        </p:nvGraphicFramePr>
        <p:xfrm>
          <a:off x="0" y="1381198"/>
          <a:ext cx="3000000" cy="3000000"/>
        </p:xfrm>
        <a:graphic>
          <a:graphicData uri="http://schemas.openxmlformats.org/drawingml/2006/table">
            <a:tbl>
              <a:tblPr bandRow="1" firstRow="1">
                <a:noFill/>
                <a:tableStyleId>{03A17969-4AD6-4800-B696-589BF0565E83}</a:tableStyleId>
              </a:tblPr>
              <a:tblGrid>
                <a:gridCol w="4599300"/>
              </a:tblGrid>
              <a:tr h="331675">
                <a:tc>
                  <a:txBody>
                    <a:bodyPr/>
                    <a:lstStyle/>
                    <a:p>
                      <a:pPr indent="0" lvl="0" marL="0" marR="0" rtl="0" algn="r">
                        <a:lnSpc>
                          <a:spcPct val="100000"/>
                        </a:lnSpc>
                        <a:spcBef>
                          <a:spcPts val="0"/>
                        </a:spcBef>
                        <a:spcAft>
                          <a:spcPts val="0"/>
                        </a:spcAft>
                        <a:buClr>
                          <a:schemeClr val="dk1"/>
                        </a:buClr>
                        <a:buSzPts val="1100"/>
                        <a:buFont typeface="Arial"/>
                        <a:buNone/>
                      </a:pPr>
                      <a:r>
                        <a:rPr b="0" lang="en-US" sz="1100">
                          <a:solidFill>
                            <a:schemeClr val="dk1"/>
                          </a:solidFill>
                        </a:rPr>
                        <a:t>Earn rewards 30% faster than other major [category]</a:t>
                      </a:r>
                      <a:endParaRPr/>
                    </a:p>
                  </a:txBody>
                  <a:tcPr marT="45725" marB="45725" marR="91450" marL="91450" anchor="ctr">
                    <a:solidFill>
                      <a:schemeClr val="lt1"/>
                    </a:solidFill>
                  </a:tcPr>
                </a:tc>
              </a:tr>
              <a:tr h="331675">
                <a:tc>
                  <a:txBody>
                    <a:bodyPr/>
                    <a:lstStyle/>
                    <a:p>
                      <a:pPr indent="0" lvl="0" marL="0" marR="0" rtl="0" algn="r">
                        <a:lnSpc>
                          <a:spcPct val="100000"/>
                        </a:lnSpc>
                        <a:spcBef>
                          <a:spcPts val="0"/>
                        </a:spcBef>
                        <a:spcAft>
                          <a:spcPts val="0"/>
                        </a:spcAft>
                        <a:buClr>
                          <a:schemeClr val="dk1"/>
                        </a:buClr>
                        <a:buSzPts val="1100"/>
                        <a:buFont typeface="Arial"/>
                        <a:buNone/>
                      </a:pPr>
                      <a:r>
                        <a:rPr lang="en-US" sz="1100"/>
                        <a:t>Rewards within the US starts at just XXX</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The most generous [category] loyalty program</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[brand] offers the highest value benefits in the industry</a:t>
                      </a:r>
                      <a:endParaRPr/>
                    </a:p>
                  </a:txBody>
                  <a:tcPr marT="45725" marB="45725" marR="91450" marL="91450" anchor="ctr">
                    <a:solidFill>
                      <a:schemeClr val="lt1"/>
                    </a:solidFill>
                  </a:tcPr>
                </a:tc>
              </a:tr>
              <a:tr h="331675">
                <a:tc>
                  <a:txBody>
                    <a:bodyPr/>
                    <a:lstStyle/>
                    <a:p>
                      <a:pPr indent="0" lvl="0" marL="0" marR="0" rtl="0" algn="r">
                        <a:lnSpc>
                          <a:spcPct val="100000"/>
                        </a:lnSpc>
                        <a:spcBef>
                          <a:spcPts val="0"/>
                        </a:spcBef>
                        <a:spcAft>
                          <a:spcPts val="0"/>
                        </a:spcAft>
                        <a:buClr>
                          <a:schemeClr val="dk1"/>
                        </a:buClr>
                        <a:buSzPts val="1100"/>
                        <a:buFont typeface="Arial"/>
                        <a:buNone/>
                      </a:pPr>
                      <a:r>
                        <a:rPr lang="en-US" sz="1100"/>
                        <a:t>Earn awards faster so you are 30% faster to your next reward</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Earn awards faster</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Earn by the experience, not but the dollar</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Buy at any price, earn all the rewards</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Earn rewards 25% % faster than other major [category]</a:t>
                      </a:r>
                      <a:endParaRPr/>
                    </a:p>
                  </a:txBody>
                  <a:tcPr marT="45725" marB="45725" marR="91450" marL="91450" anchor="ctr">
                    <a:solidFill>
                      <a:schemeClr val="lt1"/>
                    </a:solidFill>
                  </a:tcPr>
                </a:tc>
              </a:tr>
              <a:tr h="331675">
                <a:tc>
                  <a:txBody>
                    <a:bodyPr/>
                    <a:lstStyle/>
                    <a:p>
                      <a:pPr indent="0" lvl="0" marL="0" marR="0" rtl="0" algn="r">
                        <a:lnSpc>
                          <a:spcPct val="100000"/>
                        </a:lnSpc>
                        <a:spcBef>
                          <a:spcPts val="0"/>
                        </a:spcBef>
                        <a:spcAft>
                          <a:spcPts val="0"/>
                        </a:spcAft>
                        <a:buClr>
                          <a:schemeClr val="dk1"/>
                        </a:buClr>
                        <a:buSzPts val="1100"/>
                        <a:buFont typeface="Arial"/>
                        <a:buNone/>
                      </a:pPr>
                      <a:r>
                        <a:rPr lang="en-US" sz="1100"/>
                        <a:t>Earn faster, redeem sooner</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[brand] rewards are worth more than other [category] rewards</a:t>
                      </a:r>
                      <a:endParaRPr/>
                    </a:p>
                  </a:txBody>
                  <a:tcPr marT="45725" marB="45725" marR="91450" marL="91450" anchor="ctr">
                    <a:solidFill>
                      <a:schemeClr val="lt1"/>
                    </a:solidFill>
                  </a:tcPr>
                </a:tc>
              </a:tr>
              <a:tr h="331675">
                <a:tc>
                  <a:txBody>
                    <a:bodyPr/>
                    <a:lstStyle/>
                    <a:p>
                      <a:pPr indent="0" lvl="0" marL="0" marR="0" rtl="0" algn="r">
                        <a:lnSpc>
                          <a:spcPct val="100000"/>
                        </a:lnSpc>
                        <a:spcBef>
                          <a:spcPts val="0"/>
                        </a:spcBef>
                        <a:spcAft>
                          <a:spcPts val="0"/>
                        </a:spcAft>
                        <a:buClr>
                          <a:schemeClr val="dk1"/>
                        </a:buClr>
                        <a:buSzPts val="1100"/>
                        <a:buFont typeface="Arial"/>
                        <a:buNone/>
                      </a:pPr>
                      <a:r>
                        <a:rPr lang="en-US" sz="1100"/>
                        <a:t>A YYY spent is a YYY  earned</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The smartest value compared to any other [category] rewards program</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The most valuable rewards among US [category]</a:t>
                      </a:r>
                      <a:endParaRPr/>
                    </a:p>
                  </a:txBody>
                  <a:tcPr marT="45725" marB="45725" marR="91450" marL="91450" anchor="ctr">
                    <a:solidFill>
                      <a:schemeClr val="lt1"/>
                    </a:solidFill>
                  </a:tcPr>
                </a:tc>
              </a:tr>
              <a:tr h="331675">
                <a:tc>
                  <a:txBody>
                    <a:bodyPr/>
                    <a:lstStyle/>
                    <a:p>
                      <a:pPr indent="0" lvl="0" marL="0" marR="0" rtl="0" algn="r">
                        <a:spcBef>
                          <a:spcPts val="0"/>
                        </a:spcBef>
                        <a:spcAft>
                          <a:spcPts val="0"/>
                        </a:spcAft>
                        <a:buNone/>
                      </a:pPr>
                      <a:r>
                        <a:rPr lang="en-US" sz="1100"/>
                        <a:t>Only [brand] can get to you your free rewards sooner</a:t>
                      </a:r>
                      <a:endParaRPr/>
                    </a:p>
                  </a:txBody>
                  <a:tcPr marT="45725" marB="45725" marR="91450" marL="91450" anchor="ctr">
                    <a:solidFill>
                      <a:schemeClr val="lt1"/>
                    </a:solidFill>
                  </a:tcPr>
                </a:tc>
              </a:tr>
            </a:tbl>
          </a:graphicData>
        </a:graphic>
      </p:graphicFrame>
      <p:sp>
        <p:nvSpPr>
          <p:cNvPr id="408" name="Google Shape;408;p39"/>
          <p:cNvSpPr txBox="1"/>
          <p:nvPr>
            <p:ph type="title"/>
          </p:nvPr>
        </p:nvSpPr>
        <p:spPr>
          <a:xfrm>
            <a:off x="337929" y="208448"/>
            <a:ext cx="10608367"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2400"/>
              <a:buFont typeface="Arial"/>
              <a:buNone/>
            </a:pPr>
            <a:r>
              <a:rPr lang="en-US" sz="2400"/>
              <a:t>Prospects respond best to the tangible, numeric claims, but are also the most turned off by competitive claims.</a:t>
            </a:r>
            <a:endParaRPr/>
          </a:p>
        </p:txBody>
      </p:sp>
      <p:sp>
        <p:nvSpPr>
          <p:cNvPr id="409" name="Google Shape;409;p39"/>
          <p:cNvSpPr txBox="1"/>
          <p:nvPr/>
        </p:nvSpPr>
        <p:spPr>
          <a:xfrm>
            <a:off x="137202" y="6573165"/>
            <a:ext cx="919897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888888"/>
                </a:solidFill>
                <a:latin typeface="Arial"/>
                <a:ea typeface="Arial"/>
                <a:cs typeface="Arial"/>
                <a:sym typeface="Arial"/>
              </a:rPr>
              <a:t>**Non-member group has large margins of error due to small sample size. *See appendix for these charts ordered with error bars.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4" name="Shape 414"/>
        <p:cNvGrpSpPr/>
        <p:nvPr/>
      </p:nvGrpSpPr>
      <p:grpSpPr>
        <a:xfrm>
          <a:off x="0" y="0"/>
          <a:ext cx="0" cy="0"/>
          <a:chOff x="0" y="0"/>
          <a:chExt cx="0" cy="0"/>
        </a:xfrm>
      </p:grpSpPr>
      <p:sp>
        <p:nvSpPr>
          <p:cNvPr id="415" name="Google Shape;415;p40"/>
          <p:cNvSpPr txBox="1"/>
          <p:nvPr>
            <p:ph type="title"/>
          </p:nvPr>
        </p:nvSpPr>
        <p:spPr>
          <a:xfrm>
            <a:off x="2316201" y="464695"/>
            <a:ext cx="4444364" cy="98935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lang="en-US" sz="5400">
                <a:solidFill>
                  <a:schemeClr val="dk1"/>
                </a:solidFill>
              </a:rPr>
              <a:t>Total Sample </a:t>
            </a:r>
            <a:endParaRPr/>
          </a:p>
        </p:txBody>
      </p:sp>
      <p:sp>
        <p:nvSpPr>
          <p:cNvPr id="416" name="Google Shape;416;p40"/>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1"/>
          <p:cNvSpPr txBox="1"/>
          <p:nvPr>
            <p:ph type="title"/>
          </p:nvPr>
        </p:nvSpPr>
        <p:spPr>
          <a:xfrm>
            <a:off x="457199" y="36764"/>
            <a:ext cx="10191135"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3200"/>
              <a:buFont typeface="Arial"/>
              <a:buNone/>
            </a:pPr>
            <a:r>
              <a:rPr lang="en-US"/>
              <a:t>Scoring | Total Sample</a:t>
            </a:r>
            <a:endParaRPr>
              <a:solidFill>
                <a:srgbClr val="0C008D"/>
              </a:solidFill>
            </a:endParaRPr>
          </a:p>
        </p:txBody>
      </p:sp>
      <p:sp>
        <p:nvSpPr>
          <p:cNvPr id="423" name="Google Shape;423;p41"/>
          <p:cNvSpPr txBox="1"/>
          <p:nvPr>
            <p:ph idx="12" type="sldNum"/>
          </p:nvPr>
        </p:nvSpPr>
        <p:spPr>
          <a:xfrm>
            <a:off x="9142153" y="632402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4" name="Google Shape;424;p41"/>
          <p:cNvSpPr txBox="1"/>
          <p:nvPr>
            <p:ph idx="11" type="ftr"/>
          </p:nvPr>
        </p:nvSpPr>
        <p:spPr>
          <a:xfrm>
            <a:off x="0" y="6399551"/>
            <a:ext cx="11710982" cy="4592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900">
                <a:solidFill>
                  <a:schemeClr val="dk1"/>
                </a:solidFill>
              </a:rPr>
              <a:t>See Slide 7 for methodology explanation. </a:t>
            </a:r>
            <a:endParaRPr/>
          </a:p>
        </p:txBody>
      </p:sp>
      <p:sp>
        <p:nvSpPr>
          <p:cNvPr id="425" name="Google Shape;425;p41"/>
          <p:cNvSpPr txBox="1"/>
          <p:nvPr/>
        </p:nvSpPr>
        <p:spPr>
          <a:xfrm>
            <a:off x="364436" y="944220"/>
            <a:ext cx="116499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“A YYY spent is a YYY earned” rates highest but is only middle of the pack on uniqueness and is low on overall preference. “Rewards within the US starts at just XXX” performs well across attributes and as a MaxDiff choice, perhaps making it the optimal choice for consistency.  </a:t>
            </a:r>
            <a:endParaRPr/>
          </a:p>
        </p:txBody>
      </p:sp>
      <p:graphicFrame>
        <p:nvGraphicFramePr>
          <p:cNvPr id="426" name="Google Shape;426;p41"/>
          <p:cNvGraphicFramePr/>
          <p:nvPr/>
        </p:nvGraphicFramePr>
        <p:xfrm>
          <a:off x="1435839" y="1750723"/>
          <a:ext cx="3000000" cy="3000000"/>
        </p:xfrm>
        <a:graphic>
          <a:graphicData uri="http://schemas.openxmlformats.org/drawingml/2006/table">
            <a:tbl>
              <a:tblPr bandRow="1" firstRow="1">
                <a:noFill/>
                <a:tableStyleId>{03A17969-4AD6-4800-B696-589BF0565E83}</a:tableStyleId>
              </a:tblPr>
              <a:tblGrid>
                <a:gridCol w="4206250"/>
                <a:gridCol w="914400"/>
                <a:gridCol w="914400"/>
                <a:gridCol w="914400"/>
                <a:gridCol w="914400"/>
                <a:gridCol w="914400"/>
                <a:gridCol w="914400"/>
              </a:tblGrid>
              <a:tr h="369550">
                <a:tc>
                  <a:txBody>
                    <a:bodyPr/>
                    <a:lstStyle/>
                    <a:p>
                      <a:pPr indent="0" lvl="0" marL="0" marR="0" rtl="0" algn="ctr">
                        <a:spcBef>
                          <a:spcPts val="0"/>
                        </a:spcBef>
                        <a:spcAft>
                          <a:spcPts val="0"/>
                        </a:spcAft>
                        <a:buNone/>
                      </a:pPr>
                      <a:r>
                        <a:rPr lang="en-US" sz="1200">
                          <a:latin typeface="Arial"/>
                          <a:ea typeface="Arial"/>
                          <a:cs typeface="Arial"/>
                          <a:sym typeface="Arial"/>
                        </a:rPr>
                        <a:t>Claim</a:t>
                      </a:r>
                      <a:endParaRPr/>
                    </a:p>
                  </a:txBody>
                  <a:tcPr marT="45725" marB="45725" marR="91450" marL="91450" anchor="ctr">
                    <a:lnR cap="flat" cmpd="sng" w="28575">
                      <a:solidFill>
                        <a:srgbClr val="003863"/>
                      </a:solidFill>
                      <a:prstDash val="solid"/>
                      <a:round/>
                      <a:headEnd len="sm" w="sm" type="none"/>
                      <a:tailEnd len="sm" w="sm" type="none"/>
                    </a:ln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Overall Score</a:t>
                      </a:r>
                      <a:endParaRPr/>
                    </a:p>
                  </a:txBody>
                  <a:tcPr marT="45725" marB="45725" marR="91450" marL="91450"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Unique</a:t>
                      </a:r>
                      <a:endParaRPr/>
                    </a:p>
                  </a:txBody>
                  <a:tcPr marT="45725" marB="45725" marR="91450" marL="91450" anchor="ctr">
                    <a:lnL cap="flat" cmpd="sng" w="28575">
                      <a:solidFill>
                        <a:srgbClr val="003863"/>
                      </a:solidFill>
                      <a:prstDash val="solid"/>
                      <a:round/>
                      <a:headEnd len="sm" w="sm" type="none"/>
                      <a:tailEnd len="sm" w="sm" type="none"/>
                    </a:lnL>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Believable</a:t>
                      </a:r>
                      <a:endParaRPr/>
                    </a:p>
                  </a:txBody>
                  <a:tcPr marT="45725" marB="45725" marR="91450" marL="91450" anchor="ct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Brand Fit</a:t>
                      </a:r>
                      <a:endParaRPr/>
                    </a:p>
                  </a:txBody>
                  <a:tcPr marT="45725" marB="45725" marR="91450" marL="91450" anchor="ct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Likelihood to Enroll</a:t>
                      </a:r>
                      <a:endParaRPr/>
                    </a:p>
                  </a:txBody>
                  <a:tcPr marT="45725" marB="45725" marR="91450" marL="91450" anchor="ctr">
                    <a:lnR cap="flat" cmpd="sng" w="28575">
                      <a:solidFill>
                        <a:srgbClr val="003863"/>
                      </a:solidFill>
                      <a:prstDash val="solid"/>
                      <a:round/>
                      <a:headEnd len="sm" w="sm" type="none"/>
                      <a:tailEnd len="sm" w="sm" type="none"/>
                    </a:ln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MaxDiff </a:t>
                      </a:r>
                      <a:endParaRPr/>
                    </a:p>
                  </a:txBody>
                  <a:tcPr marT="45725" marB="45725" marR="91450" marL="91450" anchor="ctr">
                    <a:lnL cap="flat" cmpd="sng" w="28575">
                      <a:solidFill>
                        <a:srgbClr val="003863"/>
                      </a:solidFill>
                      <a:prstDash val="solid"/>
                      <a:round/>
                      <a:headEnd len="sm" w="sm" type="none"/>
                      <a:tailEnd len="sm" w="sm" type="none"/>
                    </a:lnL>
                    <a:solidFill>
                      <a:srgbClr val="003863"/>
                    </a:solidFill>
                  </a:tcPr>
                </a:tc>
              </a:tr>
              <a:tr h="2189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A YYY spent is a YYY  earned</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50</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4</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189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Buy at any price, earn all the rewards</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45</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8</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3702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Rewards within the US starts at just XXX</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45</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14</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3702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[brand] offers the highest value benefits in the industry</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43</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6</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12</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189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rewards 30% faster than other major [category]</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43</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15</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189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by the experience, not but the dollar</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40</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9</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3702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The most valuable rewards among US [category]</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36</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2</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189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The most generous [category] loyalty program</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35</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6</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13</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18975">
                <a:tc>
                  <a:txBody>
                    <a:bodyPr/>
                    <a:lstStyle/>
                    <a:p>
                      <a:pPr indent="0" lvl="0" marL="91440" marR="0" rtl="0" algn="l">
                        <a:lnSpc>
                          <a:spcPct val="100000"/>
                        </a:lnSpc>
                        <a:spcBef>
                          <a:spcPts val="0"/>
                        </a:spcBef>
                        <a:spcAft>
                          <a:spcPts val="0"/>
                        </a:spcAft>
                        <a:buClr>
                          <a:srgbClr val="000000"/>
                        </a:buClr>
                        <a:buSzPts val="1200"/>
                        <a:buFont typeface="Arial"/>
                        <a:buNone/>
                      </a:pPr>
                      <a:r>
                        <a:rPr b="1" i="0" lang="en-US" sz="1200" u="none" strike="noStrike">
                          <a:solidFill>
                            <a:srgbClr val="000000"/>
                          </a:solidFill>
                          <a:latin typeface="Arial"/>
                          <a:ea typeface="Arial"/>
                          <a:cs typeface="Arial"/>
                          <a:sym typeface="Arial"/>
                        </a:rPr>
                        <a:t>Earn awards faster so you are 30% faster to your next reward</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30</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11</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189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awards faster</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29</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10</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189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[brand] rewards are worth more than other [category] rewards</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23</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6</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5</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189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faster, redeem sooner</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23</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6</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189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rewards 25% % faster than other major [category]</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23</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7</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3702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The smartest value compared to any other [category] rewards program</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18</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3</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15242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Only [brand] can get to you your free rewards sooner</a:t>
                      </a:r>
                      <a:endParaRPr/>
                    </a:p>
                  </a:txBody>
                  <a:tcPr marT="9525" marB="0" marR="9525" marL="9525" anchor="ctr">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bl>
          </a:graphicData>
        </a:graphic>
      </p:graphicFrame>
      <p:sp>
        <p:nvSpPr>
          <p:cNvPr id="427" name="Google Shape;427;p41"/>
          <p:cNvSpPr/>
          <p:nvPr/>
        </p:nvSpPr>
        <p:spPr>
          <a:xfrm rot="10800000">
            <a:off x="925292" y="2164660"/>
            <a:ext cx="336176" cy="4234891"/>
          </a:xfrm>
          <a:prstGeom prst="roundRect">
            <a:avLst>
              <a:gd fmla="val 16667" name="adj"/>
            </a:avLst>
          </a:prstGeom>
          <a:gradFill>
            <a:gsLst>
              <a:gs pos="0">
                <a:schemeClr val="lt1"/>
              </a:gs>
              <a:gs pos="100000">
                <a:srgbClr val="003863"/>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2"/>
          <p:cNvSpPr/>
          <p:nvPr/>
        </p:nvSpPr>
        <p:spPr>
          <a:xfrm>
            <a:off x="6212886" y="2431381"/>
            <a:ext cx="5486400" cy="729816"/>
          </a:xfrm>
          <a:prstGeom prst="roundRect">
            <a:avLst>
              <a:gd fmla="val 16667" name="adj"/>
            </a:avLst>
          </a:prstGeom>
          <a:solidFill>
            <a:srgbClr val="FCE2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4" name="Google Shape;434;p42"/>
          <p:cNvSpPr/>
          <p:nvPr/>
        </p:nvSpPr>
        <p:spPr>
          <a:xfrm>
            <a:off x="457198" y="2431381"/>
            <a:ext cx="5486400" cy="729816"/>
          </a:xfrm>
          <a:prstGeom prst="roundRect">
            <a:avLst>
              <a:gd fmla="val 16667" name="adj"/>
            </a:avLst>
          </a:prstGeom>
          <a:solidFill>
            <a:srgbClr val="D6FF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35" name="Google Shape;435;p42"/>
          <p:cNvPicPr preferRelativeResize="0"/>
          <p:nvPr/>
        </p:nvPicPr>
        <p:blipFill rotWithShape="1">
          <a:blip r:embed="rId3">
            <a:alphaModFix/>
          </a:blip>
          <a:srcRect b="0" l="0" r="0" t="0"/>
          <a:stretch/>
        </p:blipFill>
        <p:spPr>
          <a:xfrm>
            <a:off x="900550" y="2507070"/>
            <a:ext cx="5375562" cy="3298834"/>
          </a:xfrm>
          <a:prstGeom prst="rect">
            <a:avLst/>
          </a:prstGeom>
          <a:noFill/>
          <a:ln>
            <a:noFill/>
          </a:ln>
        </p:spPr>
      </p:pic>
      <p:sp>
        <p:nvSpPr>
          <p:cNvPr id="436" name="Google Shape;436;p42"/>
          <p:cNvSpPr txBox="1"/>
          <p:nvPr>
            <p:ph type="title"/>
          </p:nvPr>
        </p:nvSpPr>
        <p:spPr>
          <a:xfrm>
            <a:off x="457199" y="36764"/>
            <a:ext cx="10191135"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3200"/>
              <a:buFont typeface="Arial"/>
              <a:buNone/>
            </a:pPr>
            <a:r>
              <a:rPr lang="en-US"/>
              <a:t>Uniqueness | Total Sample</a:t>
            </a:r>
            <a:endParaRPr>
              <a:solidFill>
                <a:srgbClr val="0C008D"/>
              </a:solidFill>
            </a:endParaRPr>
          </a:p>
        </p:txBody>
      </p:sp>
      <p:sp>
        <p:nvSpPr>
          <p:cNvPr id="437" name="Google Shape;437;p42"/>
          <p:cNvSpPr txBox="1"/>
          <p:nvPr>
            <p:ph idx="12" type="sldNum"/>
          </p:nvPr>
        </p:nvSpPr>
        <p:spPr>
          <a:xfrm>
            <a:off x="9142153" y="632402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8" name="Google Shape;438;p42"/>
          <p:cNvSpPr txBox="1"/>
          <p:nvPr>
            <p:ph idx="11" type="ftr"/>
          </p:nvPr>
        </p:nvSpPr>
        <p:spPr>
          <a:xfrm>
            <a:off x="0" y="6399551"/>
            <a:ext cx="11710982" cy="4592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900">
                <a:solidFill>
                  <a:schemeClr val="dk1"/>
                </a:solidFill>
              </a:rPr>
              <a:t>How unique are each of the following claims? </a:t>
            </a:r>
            <a:endParaRPr/>
          </a:p>
        </p:txBody>
      </p:sp>
      <p:sp>
        <p:nvSpPr>
          <p:cNvPr id="439" name="Google Shape;439;p42"/>
          <p:cNvSpPr txBox="1"/>
          <p:nvPr/>
        </p:nvSpPr>
        <p:spPr>
          <a:xfrm>
            <a:off x="457200" y="1036984"/>
            <a:ext cx="116499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“Rewards” stands out as the most unique, while more general claims regarding speed fall to the bottom. While there is not a lot of disparity between top and bottom, clearly showing value is a common thread among the leaders on uniqueness.</a:t>
            </a:r>
            <a:endParaRPr/>
          </a:p>
        </p:txBody>
      </p:sp>
      <p:sp>
        <p:nvSpPr>
          <p:cNvPr id="440" name="Google Shape;440;p42"/>
          <p:cNvSpPr/>
          <p:nvPr/>
        </p:nvSpPr>
        <p:spPr>
          <a:xfrm>
            <a:off x="457199" y="1952070"/>
            <a:ext cx="5486400" cy="296824"/>
          </a:xfrm>
          <a:prstGeom prst="roundRect">
            <a:avLst>
              <a:gd fmla="val 16667" name="adj"/>
            </a:avLst>
          </a:prstGeom>
          <a:solidFill>
            <a:srgbClr val="00B050"/>
          </a:solidFill>
          <a:ln cap="flat" cmpd="sng" w="5715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Top 5</a:t>
            </a:r>
            <a:endParaRPr/>
          </a:p>
        </p:txBody>
      </p:sp>
      <p:pic>
        <p:nvPicPr>
          <p:cNvPr id="441" name="Google Shape;441;p42"/>
          <p:cNvPicPr preferRelativeResize="0"/>
          <p:nvPr/>
        </p:nvPicPr>
        <p:blipFill rotWithShape="1">
          <a:blip r:embed="rId4">
            <a:alphaModFix/>
          </a:blip>
          <a:srcRect b="0" l="0" r="0" t="0"/>
          <a:stretch/>
        </p:blipFill>
        <p:spPr>
          <a:xfrm>
            <a:off x="6545399" y="2507070"/>
            <a:ext cx="5375562" cy="3298834"/>
          </a:xfrm>
          <a:prstGeom prst="rect">
            <a:avLst/>
          </a:prstGeom>
          <a:noFill/>
          <a:ln>
            <a:noFill/>
          </a:ln>
        </p:spPr>
      </p:pic>
      <p:sp>
        <p:nvSpPr>
          <p:cNvPr id="442" name="Google Shape;442;p42"/>
          <p:cNvSpPr/>
          <p:nvPr/>
        </p:nvSpPr>
        <p:spPr>
          <a:xfrm>
            <a:off x="6224582" y="1952070"/>
            <a:ext cx="5486400" cy="296824"/>
          </a:xfrm>
          <a:prstGeom prst="roundRect">
            <a:avLst>
              <a:gd fmla="val 16667" name="adj"/>
            </a:avLst>
          </a:prstGeom>
          <a:solidFill>
            <a:schemeClr val="accent5"/>
          </a:solidFill>
          <a:ln cap="flat" cmpd="sng" w="5715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Bottom 5</a:t>
            </a:r>
            <a:endParaRPr/>
          </a:p>
        </p:txBody>
      </p:sp>
      <p:sp>
        <p:nvSpPr>
          <p:cNvPr id="443" name="Google Shape;443;p42"/>
          <p:cNvSpPr/>
          <p:nvPr/>
        </p:nvSpPr>
        <p:spPr>
          <a:xfrm>
            <a:off x="3729898" y="1465098"/>
            <a:ext cx="4427401" cy="5238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100">
                <a:solidFill>
                  <a:srgbClr val="7F7F7F"/>
                </a:solidFill>
                <a:latin typeface="Arial"/>
                <a:ea typeface="Arial"/>
                <a:cs typeface="Arial"/>
                <a:sym typeface="Arial"/>
              </a:rPr>
              <a:t>Sorted by Top 2 Box (“Very unique” + “Extremely unique”)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3"/>
          <p:cNvSpPr/>
          <p:nvPr/>
        </p:nvSpPr>
        <p:spPr>
          <a:xfrm>
            <a:off x="6212886" y="2431381"/>
            <a:ext cx="5486400" cy="729816"/>
          </a:xfrm>
          <a:prstGeom prst="roundRect">
            <a:avLst>
              <a:gd fmla="val 16667" name="adj"/>
            </a:avLst>
          </a:prstGeom>
          <a:solidFill>
            <a:srgbClr val="FCE2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9" name="Google Shape;449;p43"/>
          <p:cNvSpPr/>
          <p:nvPr/>
        </p:nvSpPr>
        <p:spPr>
          <a:xfrm>
            <a:off x="457199" y="2443785"/>
            <a:ext cx="5486400" cy="729816"/>
          </a:xfrm>
          <a:prstGeom prst="roundRect">
            <a:avLst>
              <a:gd fmla="val 16667" name="adj"/>
            </a:avLst>
          </a:prstGeom>
          <a:solidFill>
            <a:srgbClr val="D6FF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0" name="Google Shape;450;p43"/>
          <p:cNvSpPr txBox="1"/>
          <p:nvPr>
            <p:ph type="title"/>
          </p:nvPr>
        </p:nvSpPr>
        <p:spPr>
          <a:xfrm>
            <a:off x="457199" y="36764"/>
            <a:ext cx="10191135"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3200"/>
              <a:buFont typeface="Arial"/>
              <a:buNone/>
            </a:pPr>
            <a:r>
              <a:rPr lang="en-US"/>
              <a:t>Believability | Total Sample</a:t>
            </a:r>
            <a:endParaRPr>
              <a:solidFill>
                <a:srgbClr val="0C008D"/>
              </a:solidFill>
            </a:endParaRPr>
          </a:p>
        </p:txBody>
      </p:sp>
      <p:sp>
        <p:nvSpPr>
          <p:cNvPr id="451" name="Google Shape;451;p43"/>
          <p:cNvSpPr txBox="1"/>
          <p:nvPr>
            <p:ph idx="12" type="sldNum"/>
          </p:nvPr>
        </p:nvSpPr>
        <p:spPr>
          <a:xfrm>
            <a:off x="9142153" y="632402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52" name="Google Shape;452;p43"/>
          <p:cNvSpPr txBox="1"/>
          <p:nvPr>
            <p:ph idx="11" type="ftr"/>
          </p:nvPr>
        </p:nvSpPr>
        <p:spPr>
          <a:xfrm>
            <a:off x="0" y="6399551"/>
            <a:ext cx="11710982" cy="4592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900">
                <a:solidFill>
                  <a:schemeClr val="dk1"/>
                </a:solidFill>
              </a:rPr>
              <a:t>How believable are each of the following claims? </a:t>
            </a:r>
            <a:endParaRPr/>
          </a:p>
        </p:txBody>
      </p:sp>
      <p:sp>
        <p:nvSpPr>
          <p:cNvPr id="453" name="Google Shape;453;p43"/>
          <p:cNvSpPr txBox="1"/>
          <p:nvPr/>
        </p:nvSpPr>
        <p:spPr>
          <a:xfrm>
            <a:off x="387926" y="943952"/>
            <a:ext cx="116499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3863"/>
                </a:solidFill>
                <a:latin typeface="Arial"/>
                <a:ea typeface="Arial"/>
                <a:cs typeface="Arial"/>
                <a:sym typeface="Arial"/>
              </a:rPr>
              <a:t>“A YYY spent is a YYY earned” scores high on believability. Note that most of the believable claims are short and don’t make any specific promises. A claim regarding differentiation from competitors as the “only” plan falls short in terms of communicating a believable statement. </a:t>
            </a:r>
            <a:endParaRPr/>
          </a:p>
        </p:txBody>
      </p:sp>
      <p:pic>
        <p:nvPicPr>
          <p:cNvPr id="454" name="Google Shape;454;p43"/>
          <p:cNvPicPr preferRelativeResize="0"/>
          <p:nvPr/>
        </p:nvPicPr>
        <p:blipFill rotWithShape="1">
          <a:blip r:embed="rId3">
            <a:alphaModFix/>
          </a:blip>
          <a:srcRect b="0" l="0" r="0" t="0"/>
          <a:stretch/>
        </p:blipFill>
        <p:spPr>
          <a:xfrm>
            <a:off x="900550" y="2507070"/>
            <a:ext cx="5375562" cy="3298834"/>
          </a:xfrm>
          <a:prstGeom prst="rect">
            <a:avLst/>
          </a:prstGeom>
          <a:noFill/>
          <a:ln>
            <a:noFill/>
          </a:ln>
        </p:spPr>
      </p:pic>
      <p:pic>
        <p:nvPicPr>
          <p:cNvPr id="455" name="Google Shape;455;p43"/>
          <p:cNvPicPr preferRelativeResize="0"/>
          <p:nvPr/>
        </p:nvPicPr>
        <p:blipFill rotWithShape="1">
          <a:blip r:embed="rId4">
            <a:alphaModFix/>
          </a:blip>
          <a:srcRect b="0" l="0" r="0" t="0"/>
          <a:stretch/>
        </p:blipFill>
        <p:spPr>
          <a:xfrm>
            <a:off x="6545399" y="2507070"/>
            <a:ext cx="5375562" cy="3298834"/>
          </a:xfrm>
          <a:prstGeom prst="rect">
            <a:avLst/>
          </a:prstGeom>
          <a:noFill/>
          <a:ln>
            <a:noFill/>
          </a:ln>
        </p:spPr>
      </p:pic>
      <p:sp>
        <p:nvSpPr>
          <p:cNvPr id="456" name="Google Shape;456;p43"/>
          <p:cNvSpPr/>
          <p:nvPr/>
        </p:nvSpPr>
        <p:spPr>
          <a:xfrm>
            <a:off x="457199" y="1952070"/>
            <a:ext cx="5486400" cy="296824"/>
          </a:xfrm>
          <a:prstGeom prst="roundRect">
            <a:avLst>
              <a:gd fmla="val 16667" name="adj"/>
            </a:avLst>
          </a:prstGeom>
          <a:solidFill>
            <a:srgbClr val="00B050"/>
          </a:solidFill>
          <a:ln cap="flat" cmpd="sng" w="5715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Top 5</a:t>
            </a:r>
            <a:endParaRPr/>
          </a:p>
        </p:txBody>
      </p:sp>
      <p:sp>
        <p:nvSpPr>
          <p:cNvPr id="457" name="Google Shape;457;p43"/>
          <p:cNvSpPr/>
          <p:nvPr/>
        </p:nvSpPr>
        <p:spPr>
          <a:xfrm>
            <a:off x="6224582" y="1952070"/>
            <a:ext cx="5486400" cy="296824"/>
          </a:xfrm>
          <a:prstGeom prst="roundRect">
            <a:avLst>
              <a:gd fmla="val 16667" name="adj"/>
            </a:avLst>
          </a:prstGeom>
          <a:solidFill>
            <a:schemeClr val="accent5"/>
          </a:solidFill>
          <a:ln cap="flat" cmpd="sng" w="5715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Bottom 5</a:t>
            </a:r>
            <a:endParaRPr/>
          </a:p>
        </p:txBody>
      </p:sp>
      <p:sp>
        <p:nvSpPr>
          <p:cNvPr id="458" name="Google Shape;458;p43"/>
          <p:cNvSpPr/>
          <p:nvPr/>
        </p:nvSpPr>
        <p:spPr>
          <a:xfrm>
            <a:off x="3507698" y="1465098"/>
            <a:ext cx="4991725" cy="5238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100">
                <a:solidFill>
                  <a:srgbClr val="7F7F7F"/>
                </a:solidFill>
                <a:latin typeface="Arial"/>
                <a:ea typeface="Arial"/>
                <a:cs typeface="Arial"/>
                <a:sym typeface="Arial"/>
              </a:rPr>
              <a:t>Sorted by Top 2 Box (“Very believable” + “Extremely believable”)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4"/>
          <p:cNvSpPr/>
          <p:nvPr/>
        </p:nvSpPr>
        <p:spPr>
          <a:xfrm>
            <a:off x="6212886" y="2431381"/>
            <a:ext cx="5486400" cy="729816"/>
          </a:xfrm>
          <a:prstGeom prst="roundRect">
            <a:avLst>
              <a:gd fmla="val 16667" name="adj"/>
            </a:avLst>
          </a:prstGeom>
          <a:solidFill>
            <a:srgbClr val="FCE2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4" name="Google Shape;464;p44"/>
          <p:cNvSpPr/>
          <p:nvPr/>
        </p:nvSpPr>
        <p:spPr>
          <a:xfrm>
            <a:off x="457199" y="2443785"/>
            <a:ext cx="5486400" cy="729816"/>
          </a:xfrm>
          <a:prstGeom prst="roundRect">
            <a:avLst>
              <a:gd fmla="val 16667" name="adj"/>
            </a:avLst>
          </a:prstGeom>
          <a:solidFill>
            <a:srgbClr val="D6FF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5" name="Google Shape;465;p44"/>
          <p:cNvSpPr txBox="1"/>
          <p:nvPr>
            <p:ph type="title"/>
          </p:nvPr>
        </p:nvSpPr>
        <p:spPr>
          <a:xfrm>
            <a:off x="457199" y="36764"/>
            <a:ext cx="10191135"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a:solidFill>
                  <a:schemeClr val="dk1"/>
                </a:solidFill>
              </a:rPr>
              <a:t>Brand Fit </a:t>
            </a:r>
            <a:r>
              <a:rPr lang="en-US"/>
              <a:t>| Total Sample</a:t>
            </a:r>
            <a:endParaRPr>
              <a:solidFill>
                <a:schemeClr val="dk1"/>
              </a:solidFill>
            </a:endParaRPr>
          </a:p>
        </p:txBody>
      </p:sp>
      <p:sp>
        <p:nvSpPr>
          <p:cNvPr id="466" name="Google Shape;466;p44"/>
          <p:cNvSpPr txBox="1"/>
          <p:nvPr>
            <p:ph idx="12" type="sldNum"/>
          </p:nvPr>
        </p:nvSpPr>
        <p:spPr>
          <a:xfrm>
            <a:off x="9142153" y="632402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7" name="Google Shape;467;p44"/>
          <p:cNvSpPr txBox="1"/>
          <p:nvPr>
            <p:ph idx="11" type="ftr"/>
          </p:nvPr>
        </p:nvSpPr>
        <p:spPr>
          <a:xfrm>
            <a:off x="0" y="6399551"/>
            <a:ext cx="11710982" cy="4592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900">
                <a:solidFill>
                  <a:schemeClr val="dk1"/>
                </a:solidFill>
              </a:rPr>
              <a:t>How well do each of the following claims fit with the [brand?</a:t>
            </a:r>
            <a:endParaRPr/>
          </a:p>
          <a:p>
            <a:pPr indent="0" lvl="0" marL="0" rtl="0" algn="l">
              <a:spcBef>
                <a:spcPts val="0"/>
              </a:spcBef>
              <a:spcAft>
                <a:spcPts val="0"/>
              </a:spcAft>
              <a:buNone/>
            </a:pPr>
            <a:r>
              <a:rPr b="1" lang="en-US" sz="900">
                <a:solidFill>
                  <a:schemeClr val="dk1"/>
                </a:solidFill>
              </a:rPr>
              <a:t> </a:t>
            </a:r>
            <a:endParaRPr/>
          </a:p>
        </p:txBody>
      </p:sp>
      <p:sp>
        <p:nvSpPr>
          <p:cNvPr id="468" name="Google Shape;468;p44"/>
          <p:cNvSpPr txBox="1"/>
          <p:nvPr/>
        </p:nvSpPr>
        <p:spPr>
          <a:xfrm>
            <a:off x="457199" y="960644"/>
            <a:ext cx="116499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Brand fit is highest amongst claims that communicate high value, generosity, and rewards despite the dollars spent. Note that including the brand and program name does not immediately correlate to brand fit – both the best and worst claims on this measure use the brand and program. </a:t>
            </a:r>
            <a:endParaRPr/>
          </a:p>
        </p:txBody>
      </p:sp>
      <p:pic>
        <p:nvPicPr>
          <p:cNvPr id="469" name="Google Shape;469;p44"/>
          <p:cNvPicPr preferRelativeResize="0"/>
          <p:nvPr/>
        </p:nvPicPr>
        <p:blipFill rotWithShape="1">
          <a:blip r:embed="rId3">
            <a:alphaModFix/>
          </a:blip>
          <a:srcRect b="0" l="0" r="0" t="0"/>
          <a:stretch/>
        </p:blipFill>
        <p:spPr>
          <a:xfrm>
            <a:off x="900550" y="2507070"/>
            <a:ext cx="5375562" cy="3298834"/>
          </a:xfrm>
          <a:prstGeom prst="rect">
            <a:avLst/>
          </a:prstGeom>
          <a:noFill/>
          <a:ln>
            <a:noFill/>
          </a:ln>
        </p:spPr>
      </p:pic>
      <p:pic>
        <p:nvPicPr>
          <p:cNvPr id="470" name="Google Shape;470;p44"/>
          <p:cNvPicPr preferRelativeResize="0"/>
          <p:nvPr/>
        </p:nvPicPr>
        <p:blipFill rotWithShape="1">
          <a:blip r:embed="rId4">
            <a:alphaModFix/>
          </a:blip>
          <a:srcRect b="0" l="0" r="0" t="0"/>
          <a:stretch/>
        </p:blipFill>
        <p:spPr>
          <a:xfrm>
            <a:off x="6545399" y="2507070"/>
            <a:ext cx="5375562" cy="3298834"/>
          </a:xfrm>
          <a:prstGeom prst="rect">
            <a:avLst/>
          </a:prstGeom>
          <a:noFill/>
          <a:ln>
            <a:noFill/>
          </a:ln>
        </p:spPr>
      </p:pic>
      <p:sp>
        <p:nvSpPr>
          <p:cNvPr id="471" name="Google Shape;471;p44"/>
          <p:cNvSpPr/>
          <p:nvPr/>
        </p:nvSpPr>
        <p:spPr>
          <a:xfrm>
            <a:off x="457199" y="1952070"/>
            <a:ext cx="5486400" cy="296824"/>
          </a:xfrm>
          <a:prstGeom prst="roundRect">
            <a:avLst>
              <a:gd fmla="val 16667" name="adj"/>
            </a:avLst>
          </a:prstGeom>
          <a:solidFill>
            <a:srgbClr val="00B050"/>
          </a:solidFill>
          <a:ln cap="flat" cmpd="sng" w="5715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Top 5</a:t>
            </a:r>
            <a:endParaRPr/>
          </a:p>
        </p:txBody>
      </p:sp>
      <p:sp>
        <p:nvSpPr>
          <p:cNvPr id="472" name="Google Shape;472;p44"/>
          <p:cNvSpPr/>
          <p:nvPr/>
        </p:nvSpPr>
        <p:spPr>
          <a:xfrm>
            <a:off x="6224582" y="1952070"/>
            <a:ext cx="5486400" cy="296824"/>
          </a:xfrm>
          <a:prstGeom prst="roundRect">
            <a:avLst>
              <a:gd fmla="val 16667" name="adj"/>
            </a:avLst>
          </a:prstGeom>
          <a:solidFill>
            <a:schemeClr val="accent5"/>
          </a:solidFill>
          <a:ln cap="flat" cmpd="sng" w="5715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Bottom 5</a:t>
            </a:r>
            <a:endParaRPr/>
          </a:p>
        </p:txBody>
      </p:sp>
      <p:sp>
        <p:nvSpPr>
          <p:cNvPr id="473" name="Google Shape;473;p44"/>
          <p:cNvSpPr/>
          <p:nvPr/>
        </p:nvSpPr>
        <p:spPr>
          <a:xfrm>
            <a:off x="3102964" y="1465098"/>
            <a:ext cx="5606321" cy="5238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100">
                <a:solidFill>
                  <a:srgbClr val="7F7F7F"/>
                </a:solidFill>
                <a:latin typeface="Arial"/>
                <a:ea typeface="Arial"/>
                <a:cs typeface="Arial"/>
                <a:sym typeface="Arial"/>
              </a:rPr>
              <a:t>Sorted by Top 2 Box (“Fits the brand very well” + “Fits the brand perfectly”)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5"/>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0" name="Google Shape;480;p45"/>
          <p:cNvSpPr txBox="1"/>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2E393F"/>
                </a:solidFill>
                <a:latin typeface="Arial"/>
                <a:ea typeface="Arial"/>
                <a:cs typeface="Arial"/>
                <a:sym typeface="Arial"/>
              </a:rPr>
              <a:t>‹#›</a:t>
            </a:fld>
            <a:endParaRPr sz="1200">
              <a:solidFill>
                <a:srgbClr val="2E393F"/>
              </a:solidFill>
              <a:latin typeface="Arial"/>
              <a:ea typeface="Arial"/>
              <a:cs typeface="Arial"/>
              <a:sym typeface="Arial"/>
            </a:endParaRPr>
          </a:p>
        </p:txBody>
      </p:sp>
      <p:sp>
        <p:nvSpPr>
          <p:cNvPr id="481" name="Google Shape;481;p45"/>
          <p:cNvSpPr txBox="1"/>
          <p:nvPr/>
        </p:nvSpPr>
        <p:spPr>
          <a:xfrm>
            <a:off x="368255" y="132279"/>
            <a:ext cx="9051809" cy="990599"/>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2E393F"/>
              </a:buClr>
              <a:buSzPts val="1800"/>
              <a:buFont typeface="Arial"/>
              <a:buNone/>
            </a:pPr>
            <a:r>
              <a:rPr b="0" i="0" lang="en-US" sz="3200" u="none" cap="none" strike="noStrike">
                <a:solidFill>
                  <a:srgbClr val="2E393F"/>
                </a:solidFill>
                <a:latin typeface="Arial"/>
                <a:ea typeface="Arial"/>
                <a:cs typeface="Arial"/>
                <a:sym typeface="Arial"/>
              </a:rPr>
              <a:t>Likelihood to Enroll | Total Sample</a:t>
            </a:r>
            <a:endParaRPr b="1" i="0" sz="3200" u="none" cap="none" strike="noStrike">
              <a:solidFill>
                <a:srgbClr val="0C008D"/>
              </a:solidFill>
              <a:latin typeface="Arial"/>
              <a:ea typeface="Arial"/>
              <a:cs typeface="Arial"/>
              <a:sym typeface="Arial"/>
            </a:endParaRPr>
          </a:p>
        </p:txBody>
      </p:sp>
      <p:sp>
        <p:nvSpPr>
          <p:cNvPr id="482" name="Google Shape;482;p45"/>
          <p:cNvSpPr txBox="1"/>
          <p:nvPr/>
        </p:nvSpPr>
        <p:spPr>
          <a:xfrm>
            <a:off x="457199" y="1022667"/>
            <a:ext cx="1164991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Respondents are most likely to enroll in [brand]’s Loyalty program for earning and rewards faster. Again, respondents gravitate toward simple, shorter claims, although there is not a lot of disparity between the top and bottom. </a:t>
            </a:r>
            <a:endParaRPr/>
          </a:p>
        </p:txBody>
      </p:sp>
      <p:sp>
        <p:nvSpPr>
          <p:cNvPr id="483" name="Google Shape;483;p45"/>
          <p:cNvSpPr txBox="1"/>
          <p:nvPr>
            <p:ph idx="11" type="ftr"/>
          </p:nvPr>
        </p:nvSpPr>
        <p:spPr>
          <a:xfrm>
            <a:off x="0" y="6399551"/>
            <a:ext cx="11710982" cy="4592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900">
                <a:solidFill>
                  <a:schemeClr val="dk1"/>
                </a:solidFill>
              </a:rPr>
              <a:t>Based on each claim, how likely would you be to enroll in [brand] Loyalty Plan?</a:t>
            </a:r>
            <a:endParaRPr/>
          </a:p>
        </p:txBody>
      </p:sp>
      <p:sp>
        <p:nvSpPr>
          <p:cNvPr id="484" name="Google Shape;484;p45"/>
          <p:cNvSpPr/>
          <p:nvPr/>
        </p:nvSpPr>
        <p:spPr>
          <a:xfrm>
            <a:off x="6212886" y="2431381"/>
            <a:ext cx="5486400" cy="729816"/>
          </a:xfrm>
          <a:prstGeom prst="roundRect">
            <a:avLst>
              <a:gd fmla="val 16667" name="adj"/>
            </a:avLst>
          </a:prstGeom>
          <a:solidFill>
            <a:srgbClr val="FCE2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5" name="Google Shape;485;p45"/>
          <p:cNvSpPr/>
          <p:nvPr/>
        </p:nvSpPr>
        <p:spPr>
          <a:xfrm>
            <a:off x="457199" y="2443785"/>
            <a:ext cx="5486400" cy="729816"/>
          </a:xfrm>
          <a:prstGeom prst="roundRect">
            <a:avLst>
              <a:gd fmla="val 16667" name="adj"/>
            </a:avLst>
          </a:prstGeom>
          <a:solidFill>
            <a:srgbClr val="D6FF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86" name="Google Shape;486;p45"/>
          <p:cNvPicPr preferRelativeResize="0"/>
          <p:nvPr/>
        </p:nvPicPr>
        <p:blipFill rotWithShape="1">
          <a:blip r:embed="rId3">
            <a:alphaModFix/>
          </a:blip>
          <a:srcRect b="0" l="0" r="0" t="0"/>
          <a:stretch/>
        </p:blipFill>
        <p:spPr>
          <a:xfrm>
            <a:off x="900550" y="2507070"/>
            <a:ext cx="5375562" cy="3298834"/>
          </a:xfrm>
          <a:prstGeom prst="rect">
            <a:avLst/>
          </a:prstGeom>
          <a:noFill/>
          <a:ln>
            <a:noFill/>
          </a:ln>
        </p:spPr>
      </p:pic>
      <p:pic>
        <p:nvPicPr>
          <p:cNvPr id="487" name="Google Shape;487;p45"/>
          <p:cNvPicPr preferRelativeResize="0"/>
          <p:nvPr/>
        </p:nvPicPr>
        <p:blipFill rotWithShape="1">
          <a:blip r:embed="rId4">
            <a:alphaModFix/>
          </a:blip>
          <a:srcRect b="0" l="0" r="0" t="0"/>
          <a:stretch/>
        </p:blipFill>
        <p:spPr>
          <a:xfrm>
            <a:off x="6545399" y="2507070"/>
            <a:ext cx="5375562" cy="3298834"/>
          </a:xfrm>
          <a:prstGeom prst="rect">
            <a:avLst/>
          </a:prstGeom>
          <a:noFill/>
          <a:ln>
            <a:noFill/>
          </a:ln>
        </p:spPr>
      </p:pic>
      <p:sp>
        <p:nvSpPr>
          <p:cNvPr id="488" name="Google Shape;488;p45"/>
          <p:cNvSpPr/>
          <p:nvPr/>
        </p:nvSpPr>
        <p:spPr>
          <a:xfrm>
            <a:off x="457199" y="1952070"/>
            <a:ext cx="5486400" cy="296824"/>
          </a:xfrm>
          <a:prstGeom prst="roundRect">
            <a:avLst>
              <a:gd fmla="val 16667" name="adj"/>
            </a:avLst>
          </a:prstGeom>
          <a:solidFill>
            <a:srgbClr val="00B050"/>
          </a:solidFill>
          <a:ln cap="flat" cmpd="sng" w="5715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Top 5</a:t>
            </a:r>
            <a:endParaRPr/>
          </a:p>
        </p:txBody>
      </p:sp>
      <p:sp>
        <p:nvSpPr>
          <p:cNvPr id="489" name="Google Shape;489;p45"/>
          <p:cNvSpPr/>
          <p:nvPr/>
        </p:nvSpPr>
        <p:spPr>
          <a:xfrm>
            <a:off x="6224582" y="1952070"/>
            <a:ext cx="5486400" cy="296824"/>
          </a:xfrm>
          <a:prstGeom prst="roundRect">
            <a:avLst>
              <a:gd fmla="val 16667" name="adj"/>
            </a:avLst>
          </a:prstGeom>
          <a:solidFill>
            <a:schemeClr val="accent5"/>
          </a:solidFill>
          <a:ln cap="flat" cmpd="sng" w="5715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Bottom 5</a:t>
            </a:r>
            <a:endParaRPr/>
          </a:p>
        </p:txBody>
      </p:sp>
      <p:sp>
        <p:nvSpPr>
          <p:cNvPr id="490" name="Google Shape;490;p45"/>
          <p:cNvSpPr/>
          <p:nvPr/>
        </p:nvSpPr>
        <p:spPr>
          <a:xfrm>
            <a:off x="3102964" y="1465098"/>
            <a:ext cx="5606321" cy="5238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100">
                <a:solidFill>
                  <a:srgbClr val="7F7F7F"/>
                </a:solidFill>
                <a:latin typeface="Arial"/>
                <a:ea typeface="Arial"/>
                <a:cs typeface="Arial"/>
                <a:sym typeface="Arial"/>
              </a:rPr>
              <a:t>Sorted by Top 2 Box (“Very likely” + “Extremely likely”)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6"/>
          <p:cNvSpPr txBox="1"/>
          <p:nvPr>
            <p:ph type="title"/>
          </p:nvPr>
        </p:nvSpPr>
        <p:spPr>
          <a:xfrm>
            <a:off x="2481093" y="344774"/>
            <a:ext cx="3170200" cy="101933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lang="en-US" sz="5400">
                <a:solidFill>
                  <a:schemeClr val="dk1"/>
                </a:solidFill>
              </a:rPr>
              <a:t>Members </a:t>
            </a:r>
            <a:endParaRPr/>
          </a:p>
        </p:txBody>
      </p:sp>
      <p:sp>
        <p:nvSpPr>
          <p:cNvPr id="496" name="Google Shape;496;p46"/>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7"/>
          <p:cNvSpPr txBox="1"/>
          <p:nvPr>
            <p:ph type="title"/>
          </p:nvPr>
        </p:nvSpPr>
        <p:spPr>
          <a:xfrm>
            <a:off x="457199" y="36764"/>
            <a:ext cx="10191135"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3200"/>
              <a:buFont typeface="Arial"/>
              <a:buNone/>
            </a:pPr>
            <a:r>
              <a:rPr lang="en-US"/>
              <a:t>Scoring | Members</a:t>
            </a:r>
            <a:endParaRPr>
              <a:solidFill>
                <a:srgbClr val="0C008D"/>
              </a:solidFill>
            </a:endParaRPr>
          </a:p>
        </p:txBody>
      </p:sp>
      <p:sp>
        <p:nvSpPr>
          <p:cNvPr id="503" name="Google Shape;503;p47"/>
          <p:cNvSpPr txBox="1"/>
          <p:nvPr>
            <p:ph idx="12" type="sldNum"/>
          </p:nvPr>
        </p:nvSpPr>
        <p:spPr>
          <a:xfrm>
            <a:off x="9142153" y="632402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4" name="Google Shape;504;p47"/>
          <p:cNvSpPr txBox="1"/>
          <p:nvPr/>
        </p:nvSpPr>
        <p:spPr>
          <a:xfrm>
            <a:off x="457199" y="808436"/>
            <a:ext cx="11649919"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Customers see [brand]’s industry high benefits as unique and a good fit with the brand.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“Rewards within the US starts at just XXX” performs well across both metrics and MaxDiff.</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“Earn rewards 30% faster” and “most generous loyalty program,” while strongly preferred overall, trade off either brand fit or uniqueness.  </a:t>
            </a:r>
            <a:endParaRPr/>
          </a:p>
        </p:txBody>
      </p:sp>
      <p:graphicFrame>
        <p:nvGraphicFramePr>
          <p:cNvPr id="505" name="Google Shape;505;p47"/>
          <p:cNvGraphicFramePr/>
          <p:nvPr/>
        </p:nvGraphicFramePr>
        <p:xfrm>
          <a:off x="1433537" y="1614307"/>
          <a:ext cx="3000000" cy="3000000"/>
        </p:xfrm>
        <a:graphic>
          <a:graphicData uri="http://schemas.openxmlformats.org/drawingml/2006/table">
            <a:tbl>
              <a:tblPr bandRow="1" firstRow="1">
                <a:noFill/>
                <a:tableStyleId>{03A17969-4AD6-4800-B696-589BF0565E83}</a:tableStyleId>
              </a:tblPr>
              <a:tblGrid>
                <a:gridCol w="4208250"/>
                <a:gridCol w="914825"/>
                <a:gridCol w="914825"/>
                <a:gridCol w="914825"/>
                <a:gridCol w="914825"/>
                <a:gridCol w="914825"/>
                <a:gridCol w="914825"/>
              </a:tblGrid>
              <a:tr h="380325">
                <a:tc>
                  <a:txBody>
                    <a:bodyPr/>
                    <a:lstStyle/>
                    <a:p>
                      <a:pPr indent="0" lvl="0" marL="0" marR="0" rtl="0" algn="ctr">
                        <a:spcBef>
                          <a:spcPts val="0"/>
                        </a:spcBef>
                        <a:spcAft>
                          <a:spcPts val="0"/>
                        </a:spcAft>
                        <a:buNone/>
                      </a:pPr>
                      <a:r>
                        <a:rPr lang="en-US" sz="1200">
                          <a:latin typeface="Arial"/>
                          <a:ea typeface="Arial"/>
                          <a:cs typeface="Arial"/>
                          <a:sym typeface="Arial"/>
                        </a:rPr>
                        <a:t>Claim</a:t>
                      </a:r>
                      <a:endParaRPr/>
                    </a:p>
                  </a:txBody>
                  <a:tcPr marT="45725" marB="45725" marR="91450" marL="91450" anchor="ctr">
                    <a:lnR cap="flat" cmpd="sng" w="28575">
                      <a:solidFill>
                        <a:srgbClr val="003863"/>
                      </a:solidFill>
                      <a:prstDash val="solid"/>
                      <a:round/>
                      <a:headEnd len="sm" w="sm" type="none"/>
                      <a:tailEnd len="sm" w="sm" type="none"/>
                    </a:ln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Overall Score</a:t>
                      </a:r>
                      <a:endParaRPr/>
                    </a:p>
                  </a:txBody>
                  <a:tcPr marT="45725" marB="45725" marR="91450" marL="91450"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Unique</a:t>
                      </a:r>
                      <a:endParaRPr/>
                    </a:p>
                  </a:txBody>
                  <a:tcPr marT="45725" marB="45725" marR="91450" marL="91450" anchor="ctr">
                    <a:lnL cap="flat" cmpd="sng" w="28575">
                      <a:solidFill>
                        <a:srgbClr val="003863"/>
                      </a:solidFill>
                      <a:prstDash val="solid"/>
                      <a:round/>
                      <a:headEnd len="sm" w="sm" type="none"/>
                      <a:tailEnd len="sm" w="sm" type="none"/>
                    </a:lnL>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Believable</a:t>
                      </a:r>
                      <a:endParaRPr/>
                    </a:p>
                  </a:txBody>
                  <a:tcPr marT="45725" marB="45725" marR="91450" marL="91450" anchor="ct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Brand Fit</a:t>
                      </a:r>
                      <a:endParaRPr/>
                    </a:p>
                  </a:txBody>
                  <a:tcPr marT="45725" marB="45725" marR="91450" marL="91450" anchor="ct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Likelihood to Enroll</a:t>
                      </a:r>
                      <a:endParaRPr/>
                    </a:p>
                  </a:txBody>
                  <a:tcPr marT="45725" marB="45725" marR="91450" marL="91450" anchor="ctr">
                    <a:lnR cap="flat" cmpd="sng" w="28575">
                      <a:solidFill>
                        <a:srgbClr val="003863"/>
                      </a:solidFill>
                      <a:prstDash val="solid"/>
                      <a:round/>
                      <a:headEnd len="sm" w="sm" type="none"/>
                      <a:tailEnd len="sm" w="sm" type="none"/>
                    </a:ln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MaxDiff </a:t>
                      </a:r>
                      <a:endParaRPr/>
                    </a:p>
                  </a:txBody>
                  <a:tcPr marT="45725" marB="45725" marR="91450" marL="91450" anchor="ctr">
                    <a:lnL cap="flat" cmpd="sng" w="28575">
                      <a:solidFill>
                        <a:srgbClr val="003863"/>
                      </a:solidFill>
                      <a:prstDash val="solid"/>
                      <a:round/>
                      <a:headEnd len="sm" w="sm" type="none"/>
                      <a:tailEnd len="sm" w="sm" type="none"/>
                    </a:lnL>
                    <a:solidFill>
                      <a:srgbClr val="003863"/>
                    </a:solidFill>
                  </a:tcPr>
                </a:tc>
              </a:tr>
              <a:tr h="333050">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[brand] offers the highest value benefits in the industry</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38</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solidFill>
                      <a:srgbClr val="F2F2F2"/>
                    </a:solidFill>
                  </a:tcPr>
                </a:tc>
                <a:tc rowSpan="15">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N/A</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12</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253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by the experience, not but the dollar</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37</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9</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33050">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Rewards within the US starts at just XXX</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36</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15</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43200">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Buy at any price, earn all the rewards</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35</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8</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842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A YYY spent is a YYY  earned</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35</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4</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33050">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The most valuable rewards among US [category]</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35</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2</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842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The most generous [category] loyalty program</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27</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6</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13</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253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rewards 30% faster than other major [category]</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24</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14</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468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[brand] rewards are worth more than other [category] rewards</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20</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6</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5</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468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The smartest value compared to any other [category] rewards program</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17</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3</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253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rewards 25% % faster than other major [category]</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7</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253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rewards faster</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6</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11</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46875">
                <a:tc>
                  <a:txBody>
                    <a:bodyPr/>
                    <a:lstStyle/>
                    <a:p>
                      <a:pPr indent="0" lvl="0" marL="91440" marR="0" rtl="0" algn="l">
                        <a:lnSpc>
                          <a:spcPct val="100000"/>
                        </a:lnSpc>
                        <a:spcBef>
                          <a:spcPts val="0"/>
                        </a:spcBef>
                        <a:spcAft>
                          <a:spcPts val="0"/>
                        </a:spcAft>
                        <a:buClr>
                          <a:srgbClr val="000000"/>
                        </a:buClr>
                        <a:buSzPts val="1200"/>
                        <a:buFont typeface="Arial"/>
                        <a:buNone/>
                      </a:pPr>
                      <a:r>
                        <a:rPr b="1" i="0" lang="en-US" sz="1200" u="none" strike="noStrike">
                          <a:solidFill>
                            <a:srgbClr val="000000"/>
                          </a:solidFill>
                          <a:latin typeface="Arial"/>
                          <a:ea typeface="Arial"/>
                          <a:cs typeface="Arial"/>
                          <a:sym typeface="Arial"/>
                        </a:rPr>
                        <a:t>Earn awards faster so you are 30% faster to your next reward</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10</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43200">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faster, redeem sooner</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6</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33050">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Only [brand] can get to you your free rewards sooner</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lang="en-US" sz="1000">
                          <a:latin typeface="Arial"/>
                          <a:ea typeface="Arial"/>
                          <a:cs typeface="Arial"/>
                          <a:sym typeface="Arial"/>
                        </a:rPr>
                        <a:t>1</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bl>
          </a:graphicData>
        </a:graphic>
      </p:graphicFrame>
      <p:sp>
        <p:nvSpPr>
          <p:cNvPr id="506" name="Google Shape;506;p47"/>
          <p:cNvSpPr txBox="1"/>
          <p:nvPr>
            <p:ph idx="11" type="ftr"/>
          </p:nvPr>
        </p:nvSpPr>
        <p:spPr>
          <a:xfrm>
            <a:off x="0" y="6399551"/>
            <a:ext cx="11710982" cy="4592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900">
                <a:solidFill>
                  <a:schemeClr val="dk1"/>
                </a:solidFill>
              </a:rPr>
              <a:t>See Slide 7 for methodology explanation. </a:t>
            </a:r>
            <a:endParaRPr/>
          </a:p>
        </p:txBody>
      </p:sp>
      <p:sp>
        <p:nvSpPr>
          <p:cNvPr id="507" name="Google Shape;507;p47"/>
          <p:cNvSpPr/>
          <p:nvPr/>
        </p:nvSpPr>
        <p:spPr>
          <a:xfrm rot="10800000">
            <a:off x="925292" y="2014329"/>
            <a:ext cx="336176" cy="4385221"/>
          </a:xfrm>
          <a:prstGeom prst="roundRect">
            <a:avLst>
              <a:gd fmla="val 16667" name="adj"/>
            </a:avLst>
          </a:prstGeom>
          <a:gradFill>
            <a:gsLst>
              <a:gs pos="0">
                <a:schemeClr val="lt1"/>
              </a:gs>
              <a:gs pos="100000">
                <a:srgbClr val="003863"/>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8"/>
          <p:cNvSpPr txBox="1"/>
          <p:nvPr>
            <p:ph type="title"/>
          </p:nvPr>
        </p:nvSpPr>
        <p:spPr>
          <a:xfrm>
            <a:off x="2376162" y="359764"/>
            <a:ext cx="3529964" cy="10043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lang="en-US" sz="5400">
                <a:solidFill>
                  <a:schemeClr val="dk1"/>
                </a:solidFill>
              </a:rPr>
              <a:t>Prospects</a:t>
            </a:r>
            <a:endParaRPr/>
          </a:p>
        </p:txBody>
      </p:sp>
      <p:sp>
        <p:nvSpPr>
          <p:cNvPr id="513" name="Google Shape;513;p48"/>
          <p:cNvSpPr txBox="1"/>
          <p:nvPr>
            <p:ph idx="12" type="sldNum"/>
          </p:nvPr>
        </p:nvSpPr>
        <p:spPr>
          <a:xfrm>
            <a:off x="9126655"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9"/>
          <p:cNvSpPr txBox="1"/>
          <p:nvPr>
            <p:ph type="title"/>
          </p:nvPr>
        </p:nvSpPr>
        <p:spPr>
          <a:xfrm>
            <a:off x="457199" y="36764"/>
            <a:ext cx="10191135" cy="99059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393F"/>
              </a:buClr>
              <a:buSzPts val="3200"/>
              <a:buFont typeface="Arial"/>
              <a:buNone/>
            </a:pPr>
            <a:r>
              <a:rPr lang="en-US"/>
              <a:t>Scoring | Prospects</a:t>
            </a:r>
            <a:endParaRPr>
              <a:solidFill>
                <a:srgbClr val="0C008D"/>
              </a:solidFill>
            </a:endParaRPr>
          </a:p>
        </p:txBody>
      </p:sp>
      <p:sp>
        <p:nvSpPr>
          <p:cNvPr id="520" name="Google Shape;520;p49"/>
          <p:cNvSpPr txBox="1"/>
          <p:nvPr>
            <p:ph idx="12" type="sldNum"/>
          </p:nvPr>
        </p:nvSpPr>
        <p:spPr>
          <a:xfrm>
            <a:off x="9142153" y="6324024"/>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1" name="Google Shape;521;p49"/>
          <p:cNvSpPr txBox="1"/>
          <p:nvPr/>
        </p:nvSpPr>
        <p:spPr>
          <a:xfrm>
            <a:off x="457199" y="926946"/>
            <a:ext cx="1164991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Among prospects, 1:1 earning is seen as the most believable and moves respondents to enroll in [brand]’s Loyalty Program.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The low barrier “Rewards start at just XXX” claim is the most consistent of the claims across the metrics, but it is a bit lower on motivating Prospects to enroll.</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aphicFrame>
        <p:nvGraphicFramePr>
          <p:cNvPr id="522" name="Google Shape;522;p49"/>
          <p:cNvGraphicFramePr/>
          <p:nvPr/>
        </p:nvGraphicFramePr>
        <p:xfrm>
          <a:off x="1435838" y="1613460"/>
          <a:ext cx="3000000" cy="3000000"/>
        </p:xfrm>
        <a:graphic>
          <a:graphicData uri="http://schemas.openxmlformats.org/drawingml/2006/table">
            <a:tbl>
              <a:tblPr bandRow="1" firstRow="1">
                <a:noFill/>
                <a:tableStyleId>{03A17969-4AD6-4800-B696-589BF0565E83}</a:tableStyleId>
              </a:tblPr>
              <a:tblGrid>
                <a:gridCol w="4391725"/>
                <a:gridCol w="954725"/>
                <a:gridCol w="954725"/>
                <a:gridCol w="954725"/>
                <a:gridCol w="954725"/>
                <a:gridCol w="954725"/>
                <a:gridCol w="954725"/>
              </a:tblGrid>
              <a:tr h="427750">
                <a:tc>
                  <a:txBody>
                    <a:bodyPr/>
                    <a:lstStyle/>
                    <a:p>
                      <a:pPr indent="0" lvl="0" marL="0" marR="0" rtl="0" algn="ctr">
                        <a:spcBef>
                          <a:spcPts val="0"/>
                        </a:spcBef>
                        <a:spcAft>
                          <a:spcPts val="0"/>
                        </a:spcAft>
                        <a:buNone/>
                      </a:pPr>
                      <a:r>
                        <a:rPr lang="en-US" sz="1200">
                          <a:latin typeface="Arial"/>
                          <a:ea typeface="Arial"/>
                          <a:cs typeface="Arial"/>
                          <a:sym typeface="Arial"/>
                        </a:rPr>
                        <a:t>Claim</a:t>
                      </a:r>
                      <a:endParaRPr/>
                    </a:p>
                  </a:txBody>
                  <a:tcPr marT="45725" marB="45725" marR="91450" marL="91450" anchor="ctr">
                    <a:lnR cap="flat" cmpd="sng" w="28575">
                      <a:solidFill>
                        <a:srgbClr val="003863"/>
                      </a:solidFill>
                      <a:prstDash val="solid"/>
                      <a:round/>
                      <a:headEnd len="sm" w="sm" type="none"/>
                      <a:tailEnd len="sm" w="sm" type="none"/>
                    </a:ln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Overall Score</a:t>
                      </a:r>
                      <a:endParaRPr/>
                    </a:p>
                  </a:txBody>
                  <a:tcPr marT="45725" marB="45725" marR="91450" marL="91450"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Unique</a:t>
                      </a:r>
                      <a:endParaRPr/>
                    </a:p>
                  </a:txBody>
                  <a:tcPr marT="45725" marB="45725" marR="91450" marL="91450" anchor="ctr">
                    <a:lnL cap="flat" cmpd="sng" w="28575">
                      <a:solidFill>
                        <a:srgbClr val="003863"/>
                      </a:solidFill>
                      <a:prstDash val="solid"/>
                      <a:round/>
                      <a:headEnd len="sm" w="sm" type="none"/>
                      <a:tailEnd len="sm" w="sm" type="none"/>
                    </a:lnL>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Believable</a:t>
                      </a:r>
                      <a:endParaRPr/>
                    </a:p>
                  </a:txBody>
                  <a:tcPr marT="45725" marB="45725" marR="91450" marL="91450" anchor="ct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Brand Fit</a:t>
                      </a:r>
                      <a:endParaRPr/>
                    </a:p>
                  </a:txBody>
                  <a:tcPr marT="45725" marB="45725" marR="91450" marL="91450" anchor="ct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Likelihood to Enroll</a:t>
                      </a:r>
                      <a:endParaRPr/>
                    </a:p>
                  </a:txBody>
                  <a:tcPr marT="45725" marB="45725" marR="91450" marL="91450" anchor="ctr">
                    <a:lnR cap="flat" cmpd="sng" w="28575">
                      <a:solidFill>
                        <a:srgbClr val="003863"/>
                      </a:solidFill>
                      <a:prstDash val="solid"/>
                      <a:round/>
                      <a:headEnd len="sm" w="sm" type="none"/>
                      <a:tailEnd len="sm" w="sm" type="none"/>
                    </a:lnR>
                    <a:solidFill>
                      <a:srgbClr val="003863"/>
                    </a:solidFill>
                  </a:tcPr>
                </a:tc>
                <a:tc>
                  <a:txBody>
                    <a:bodyPr/>
                    <a:lstStyle/>
                    <a:p>
                      <a:pPr indent="0" lvl="0" marL="0" marR="0" rtl="0" algn="ctr">
                        <a:spcBef>
                          <a:spcPts val="0"/>
                        </a:spcBef>
                        <a:spcAft>
                          <a:spcPts val="0"/>
                        </a:spcAft>
                        <a:buNone/>
                      </a:pPr>
                      <a:r>
                        <a:rPr lang="en-US" sz="1050">
                          <a:latin typeface="Arial"/>
                          <a:ea typeface="Arial"/>
                          <a:cs typeface="Arial"/>
                          <a:sym typeface="Arial"/>
                        </a:rPr>
                        <a:t>MaxDiff </a:t>
                      </a:r>
                      <a:endParaRPr/>
                    </a:p>
                  </a:txBody>
                  <a:tcPr marT="45725" marB="45725" marR="91450" marL="91450" anchor="ctr">
                    <a:lnL cap="flat" cmpd="sng" w="28575">
                      <a:solidFill>
                        <a:srgbClr val="003863"/>
                      </a:solidFill>
                      <a:prstDash val="solid"/>
                      <a:round/>
                      <a:headEnd len="sm" w="sm" type="none"/>
                      <a:tailEnd len="sm" w="sm" type="none"/>
                    </a:lnL>
                    <a:solidFill>
                      <a:srgbClr val="003863"/>
                    </a:solidFill>
                  </a:tcPr>
                </a:tc>
              </a:tr>
              <a:tr h="2534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A YYY spent is a YYY  earned</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40</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solidFill>
                      <a:srgbClr val="F2F2F2"/>
                    </a:solidFill>
                  </a:tcPr>
                </a:tc>
                <a:tc rowSpan="15">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N/A</a:t>
                      </a:r>
                      <a:endParaRPr/>
                    </a:p>
                  </a:txBody>
                  <a:tcPr marT="9525" marB="0" marR="9525" marL="9525" anchor="ctr">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6</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534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Buy at any price, earn all the rewards</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33</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9</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534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Rewards within the US starts at just XXX</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32</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13</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90125">
                <a:tc>
                  <a:txBody>
                    <a:bodyPr/>
                    <a:lstStyle/>
                    <a:p>
                      <a:pPr indent="0" lvl="0" marL="91440" marR="0" rtl="0" algn="l">
                        <a:lnSpc>
                          <a:spcPct val="100000"/>
                        </a:lnSpc>
                        <a:spcBef>
                          <a:spcPts val="0"/>
                        </a:spcBef>
                        <a:spcAft>
                          <a:spcPts val="0"/>
                        </a:spcAft>
                        <a:buClr>
                          <a:srgbClr val="000000"/>
                        </a:buClr>
                        <a:buSzPts val="1200"/>
                        <a:buFont typeface="Arial"/>
                        <a:buNone/>
                      </a:pPr>
                      <a:r>
                        <a:rPr b="1" i="0" lang="en-US" sz="1200" u="none" strike="noStrike">
                          <a:solidFill>
                            <a:srgbClr val="000000"/>
                          </a:solidFill>
                          <a:latin typeface="Arial"/>
                          <a:ea typeface="Arial"/>
                          <a:cs typeface="Arial"/>
                          <a:sym typeface="Arial"/>
                        </a:rPr>
                        <a:t>Earn awards faster so you are 30% faster to your next reward</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31</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6</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14</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534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by the experience, not but the dollar</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30</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12</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7</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534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rewards faster</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28</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13</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5</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534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rewards 30% faster than other major [category]</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28</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15</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15</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534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The most generous [category] loyalty program</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28</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11</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02150">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[brand] offers the highest value benefits in the industry</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24</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10</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534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faster, redeem sooner</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23</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11</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8</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5347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Earn rewards 25% % faster than other major [category]</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19</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8</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6</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12</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02150">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The most valuable rewards among US [category]</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18</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6</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10</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2</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9012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[brand] rewards are worth more than other [category] rewards</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14</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7</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5</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4</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390125">
                <a:tc>
                  <a:txBody>
                    <a:bodyPr/>
                    <a:lstStyle/>
                    <a:p>
                      <a:pPr indent="0" lvl="0" marL="91440" marR="0" rtl="0" algn="l">
                        <a:spcBef>
                          <a:spcPts val="0"/>
                        </a:spcBef>
                        <a:spcAft>
                          <a:spcPts val="0"/>
                        </a:spcAft>
                        <a:buNone/>
                      </a:pPr>
                      <a:r>
                        <a:rPr b="1" i="0" lang="en-US" sz="1200" u="none" strike="noStrike">
                          <a:solidFill>
                            <a:srgbClr val="000000"/>
                          </a:solidFill>
                          <a:latin typeface="Arial"/>
                          <a:ea typeface="Arial"/>
                          <a:cs typeface="Arial"/>
                          <a:sym typeface="Arial"/>
                        </a:rPr>
                        <a:t>The smartest value compared to any other [category] rewards program</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9</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2</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4</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3</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r h="253475">
                <a:tc>
                  <a:txBody>
                    <a:bodyPr/>
                    <a:lstStyle/>
                    <a:p>
                      <a:pPr indent="0" lvl="0" marL="91440" marR="0" rtl="0" algn="l">
                        <a:lnSpc>
                          <a:spcPct val="100000"/>
                        </a:lnSpc>
                        <a:spcBef>
                          <a:spcPts val="0"/>
                        </a:spcBef>
                        <a:spcAft>
                          <a:spcPts val="0"/>
                        </a:spcAft>
                        <a:buClr>
                          <a:srgbClr val="000000"/>
                        </a:buClr>
                        <a:buSzPts val="1200"/>
                        <a:buFont typeface="Arial"/>
                        <a:buNone/>
                      </a:pPr>
                      <a:r>
                        <a:rPr b="1" i="0" lang="en-US" sz="1200" u="none" strike="noStrike">
                          <a:solidFill>
                            <a:srgbClr val="000000"/>
                          </a:solidFill>
                          <a:latin typeface="Arial"/>
                          <a:ea typeface="Arial"/>
                          <a:cs typeface="Arial"/>
                          <a:sym typeface="Arial"/>
                        </a:rPr>
                        <a:t>Only [brand] can get to you your free rewards sooner</a:t>
                      </a:r>
                      <a:endParaRPr/>
                    </a:p>
                  </a:txBody>
                  <a:tcPr marT="9525" marB="0" marR="9525" marL="9525" anchor="b">
                    <a:lnR cap="flat" cmpd="sng" w="28575">
                      <a:solidFill>
                        <a:srgbClr val="003863"/>
                      </a:solidFill>
                      <a:prstDash val="solid"/>
                      <a:round/>
                      <a:headEnd len="sm" w="sm" type="none"/>
                      <a:tailEnd len="sm" w="sm" type="none"/>
                    </a:lnR>
                    <a:solidFill>
                      <a:srgbClr val="D8D8D8"/>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3</a:t>
                      </a:r>
                      <a:endParaRPr/>
                    </a:p>
                  </a:txBody>
                  <a:tcPr marT="9525" marB="0" marR="9525" marL="9525" anchor="ctr">
                    <a:lnL cap="flat" cmpd="sng" w="28575">
                      <a:solidFill>
                        <a:srgbClr val="003863"/>
                      </a:solidFill>
                      <a:prstDash val="solid"/>
                      <a:round/>
                      <a:headEnd len="sm" w="sm" type="none"/>
                      <a:tailEnd len="sm" w="sm" type="none"/>
                    </a:lnL>
                    <a:lnR cap="flat" cmpd="sng" w="28575">
                      <a:solidFill>
                        <a:srgbClr val="003863"/>
                      </a:solidFill>
                      <a:prstDash val="solid"/>
                      <a:round/>
                      <a:headEnd len="sm" w="sm" type="none"/>
                      <a:tailEnd len="sm" w="sm" type="none"/>
                    </a:lnR>
                    <a:solidFill>
                      <a:srgbClr val="BFBFBF"/>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lnL cap="flat" cmpd="sng" w="28575">
                      <a:solidFill>
                        <a:srgbClr val="003863"/>
                      </a:solidFill>
                      <a:prstDash val="solid"/>
                      <a:round/>
                      <a:headEnd len="sm" w="sm" type="none"/>
                      <a:tailEnd len="sm" w="sm" type="none"/>
                    </a:lnL>
                    <a:solidFill>
                      <a:srgbClr val="F2F2F2"/>
                    </a:solidFill>
                  </a:tcPr>
                </a:tc>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solidFill>
                      <a:srgbClr val="F2F2F2"/>
                    </a:solidFill>
                  </a:tcPr>
                </a:tc>
                <a:tc vMerge="1"/>
                <a:tc>
                  <a:txBody>
                    <a:bodyPr/>
                    <a:lstStyle/>
                    <a:p>
                      <a:pPr indent="0" lvl="0" marL="0" marR="0" rtl="0" algn="ctr">
                        <a:spcBef>
                          <a:spcPts val="0"/>
                        </a:spcBef>
                        <a:spcAft>
                          <a:spcPts val="0"/>
                        </a:spcAft>
                        <a:buNone/>
                      </a:pPr>
                      <a:r>
                        <a:rPr b="0" i="0" lang="en-US" sz="1200" u="none" strike="noStrike">
                          <a:solidFill>
                            <a:srgbClr val="000000"/>
                          </a:solidFill>
                          <a:latin typeface="Arial"/>
                          <a:ea typeface="Arial"/>
                          <a:cs typeface="Arial"/>
                          <a:sym typeface="Arial"/>
                        </a:rPr>
                        <a:t>1</a:t>
                      </a:r>
                      <a:endParaRPr/>
                    </a:p>
                  </a:txBody>
                  <a:tcPr marT="9525" marB="0" marR="9525" marL="9525" anchor="ctr">
                    <a:lnR cap="flat" cmpd="sng" w="28575">
                      <a:solidFill>
                        <a:srgbClr val="003863"/>
                      </a:solidFill>
                      <a:prstDash val="solid"/>
                      <a:round/>
                      <a:headEnd len="sm" w="sm" type="none"/>
                      <a:tailEnd len="sm" w="sm" type="none"/>
                    </a:lnR>
                    <a:solidFill>
                      <a:srgbClr val="F2F2F2"/>
                    </a:solidFill>
                  </a:tcPr>
                </a:tc>
                <a:tc>
                  <a:txBody>
                    <a:bodyPr/>
                    <a:lstStyle/>
                    <a:p>
                      <a:pPr indent="0" lvl="0" marL="0" marR="0" rtl="0" algn="ctr">
                        <a:spcBef>
                          <a:spcPts val="0"/>
                        </a:spcBef>
                        <a:spcAft>
                          <a:spcPts val="0"/>
                        </a:spcAft>
                        <a:buNone/>
                      </a:pPr>
                      <a:r>
                        <a:rPr lang="en-US" sz="1000">
                          <a:latin typeface="Arial"/>
                          <a:ea typeface="Arial"/>
                          <a:cs typeface="Arial"/>
                          <a:sym typeface="Arial"/>
                        </a:rPr>
                        <a:t>1</a:t>
                      </a:r>
                      <a:endParaRPr/>
                    </a:p>
                  </a:txBody>
                  <a:tcPr marT="45725" marB="45725" marR="91450" marL="91450" anchor="ctr">
                    <a:lnL cap="flat" cmpd="sng" w="28575">
                      <a:solidFill>
                        <a:srgbClr val="003863"/>
                      </a:solidFill>
                      <a:prstDash val="solid"/>
                      <a:round/>
                      <a:headEnd len="sm" w="sm" type="none"/>
                      <a:tailEnd len="sm" w="sm" type="none"/>
                    </a:lnL>
                    <a:solidFill>
                      <a:srgbClr val="BFBFBF"/>
                    </a:solidFill>
                  </a:tcPr>
                </a:tc>
              </a:tr>
            </a:tbl>
          </a:graphicData>
        </a:graphic>
      </p:graphicFrame>
      <p:sp>
        <p:nvSpPr>
          <p:cNvPr id="523" name="Google Shape;523;p49"/>
          <p:cNvSpPr txBox="1"/>
          <p:nvPr>
            <p:ph idx="11" type="ftr"/>
          </p:nvPr>
        </p:nvSpPr>
        <p:spPr>
          <a:xfrm>
            <a:off x="0" y="6399551"/>
            <a:ext cx="11710982" cy="45929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900">
                <a:solidFill>
                  <a:schemeClr val="dk1"/>
                </a:solidFill>
              </a:rPr>
              <a:t>See Slide 7 for methodology explanation. </a:t>
            </a:r>
            <a:endParaRPr/>
          </a:p>
        </p:txBody>
      </p:sp>
      <p:sp>
        <p:nvSpPr>
          <p:cNvPr id="524" name="Google Shape;524;p49"/>
          <p:cNvSpPr/>
          <p:nvPr/>
        </p:nvSpPr>
        <p:spPr>
          <a:xfrm rot="10800000">
            <a:off x="925292" y="2164660"/>
            <a:ext cx="336176" cy="4234891"/>
          </a:xfrm>
          <a:prstGeom prst="roundRect">
            <a:avLst>
              <a:gd fmla="val 16667" name="adj"/>
            </a:avLst>
          </a:prstGeom>
          <a:gradFill>
            <a:gsLst>
              <a:gs pos="0">
                <a:schemeClr val="lt1"/>
              </a:gs>
              <a:gs pos="100000">
                <a:srgbClr val="003863"/>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Qualtrics ">
      <a:dk1>
        <a:srgbClr val="000000"/>
      </a:dk1>
      <a:lt1>
        <a:srgbClr val="FFFFFF"/>
      </a:lt1>
      <a:dk2>
        <a:srgbClr val="A2AAAD"/>
      </a:dk2>
      <a:lt2>
        <a:srgbClr val="E7E6E6"/>
      </a:lt2>
      <a:accent1>
        <a:srgbClr val="97D700"/>
      </a:accent1>
      <a:accent2>
        <a:srgbClr val="2DCCD3"/>
      </a:accent2>
      <a:accent3>
        <a:srgbClr val="147BD1"/>
      </a:accent3>
      <a:accent4>
        <a:srgbClr val="464E7E"/>
      </a:accent4>
      <a:accent5>
        <a:srgbClr val="D6001C"/>
      </a:accent5>
      <a:accent6>
        <a:srgbClr val="FFCD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