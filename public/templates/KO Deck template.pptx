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Helvetica Neue" panose="02000503000000020004" pitchFamily="2" charset="0"/>
      <p:regular r:id="rId8"/>
      <p:bold r:id="rId9"/>
      <p:italic r:id="rId10"/>
      <p:boldItalic r:id="rId11"/>
    </p:embeddedFont>
    <p:embeddedFont>
      <p:font typeface="Helvetica Neue Light" panose="02000403000000020004" pitchFamily="2" charset="0"/>
      <p:regular r:id="rId12"/>
      <p:bold r:id="rId13"/>
      <p:italic r:id="rId14"/>
      <p:boldItalic r:id="rId15"/>
    </p:embeddedFont>
    <p:embeddedFont>
      <p:font typeface="Roboto" panose="02000000000000000000" pitchFamily="2" charset="0"/>
      <p:regular r:id="rId16"/>
      <p:bold r:id="rId17"/>
      <p:italic r:id="rId18"/>
      <p:boldItalic r:id="rId19"/>
    </p:embeddedFont>
    <p:embeddedFont>
      <p:font typeface="Roboto Light" panose="020000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824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2328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jmYRJPqgbuiozf4FD5XyEczG5/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B406784-686D-45D5-8818-E3AAB9C33935}">
  <a:tblStyle styleId="{CB406784-686D-45D5-8818-E3AAB9C3393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02"/>
    <p:restoredTop sz="94618"/>
  </p:normalViewPr>
  <p:slideViewPr>
    <p:cSldViewPr snapToGrid="0">
      <p:cViewPr>
        <p:scale>
          <a:sx n="160" d="100"/>
          <a:sy n="160" d="100"/>
        </p:scale>
        <p:origin x="1976" y="1168"/>
      </p:cViewPr>
      <p:guideLst>
        <p:guide orient="horz" pos="1824"/>
        <p:guide pos="3840"/>
        <p:guide orient="horz" pos="23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font" Target="fonts/font16.fntdata"/><Relationship Id="rId28" Type="http://customschemas.google.com/relationships/presentationmetadata" Target="metadata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" name="Google Shape;6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/>
          <p:nvPr/>
        </p:nvSpPr>
        <p:spPr>
          <a:xfrm>
            <a:off x="8161" y="1"/>
            <a:ext cx="12199867" cy="716842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7700" tIns="67700" rIns="67700" bIns="67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endParaRPr sz="4266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6"/>
          <p:cNvSpPr txBox="1">
            <a:spLocks noGrp="1"/>
          </p:cNvSpPr>
          <p:nvPr>
            <p:ph type="sldNum" idx="12"/>
          </p:nvPr>
        </p:nvSpPr>
        <p:spPr>
          <a:xfrm>
            <a:off x="912665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6"/>
          <p:cNvSpPr/>
          <p:nvPr/>
        </p:nvSpPr>
        <p:spPr>
          <a:xfrm>
            <a:off x="0" y="2311943"/>
            <a:ext cx="12192000" cy="4856480"/>
          </a:xfrm>
          <a:prstGeom prst="rect">
            <a:avLst/>
          </a:prstGeom>
          <a:gradFill>
            <a:gsLst>
              <a:gs pos="0">
                <a:srgbClr val="21DBAA"/>
              </a:gs>
              <a:gs pos="33000">
                <a:srgbClr val="03B4F0"/>
              </a:gs>
              <a:gs pos="70000">
                <a:srgbClr val="0768DD"/>
              </a:gs>
              <a:gs pos="99000">
                <a:srgbClr val="5F19E4"/>
              </a:gs>
              <a:gs pos="100000">
                <a:srgbClr val="5F19E4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311943"/>
            <a:ext cx="698500" cy="6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79" y="1459954"/>
            <a:ext cx="1940001" cy="553141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6"/>
          <p:cNvSpPr txBox="1"/>
          <p:nvPr/>
        </p:nvSpPr>
        <p:spPr>
          <a:xfrm>
            <a:off x="2782957" y="1516240"/>
            <a:ext cx="32799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6"/>
          <p:cNvSpPr txBox="1">
            <a:spLocks noGrp="1"/>
          </p:cNvSpPr>
          <p:nvPr>
            <p:ph type="body" idx="1"/>
          </p:nvPr>
        </p:nvSpPr>
        <p:spPr>
          <a:xfrm>
            <a:off x="670219" y="4637095"/>
            <a:ext cx="9310098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 b="1" i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000"/>
              <a:buNone/>
              <a:defRPr sz="30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7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>
            <a:spLocks noGrp="1"/>
          </p:cNvSpPr>
          <p:nvPr>
            <p:ph type="title"/>
          </p:nvPr>
        </p:nvSpPr>
        <p:spPr>
          <a:xfrm>
            <a:off x="847164" y="2633663"/>
            <a:ext cx="10500285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/>
          <p:nvPr/>
        </p:nvSpPr>
        <p:spPr>
          <a:xfrm>
            <a:off x="10751120" y="351532"/>
            <a:ext cx="3240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9"/>
          <p:cNvSpPr txBox="1">
            <a:spLocks noGrp="1"/>
          </p:cNvSpPr>
          <p:nvPr>
            <p:ph type="sldNum" idx="12"/>
          </p:nvPr>
        </p:nvSpPr>
        <p:spPr>
          <a:xfrm>
            <a:off x="912665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" name="Google Shape;29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05521" y="407181"/>
            <a:ext cx="1075639" cy="306111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9"/>
          <p:cNvSpPr/>
          <p:nvPr/>
        </p:nvSpPr>
        <p:spPr>
          <a:xfrm>
            <a:off x="10095499" y="299262"/>
            <a:ext cx="653143" cy="52194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E9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client logo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9"/>
          <p:cNvSpPr/>
          <p:nvPr/>
        </p:nvSpPr>
        <p:spPr>
          <a:xfrm>
            <a:off x="0" y="0"/>
            <a:ext cx="2964873" cy="6858000"/>
          </a:xfrm>
          <a:prstGeom prst="rect">
            <a:avLst/>
          </a:prstGeom>
          <a:gradFill>
            <a:gsLst>
              <a:gs pos="0">
                <a:srgbClr val="21DBAA"/>
              </a:gs>
              <a:gs pos="33000">
                <a:srgbClr val="03B4F0"/>
              </a:gs>
              <a:gs pos="70000">
                <a:srgbClr val="0768DD"/>
              </a:gs>
              <a:gs pos="99000">
                <a:srgbClr val="5F19E4"/>
              </a:gs>
              <a:gs pos="100000">
                <a:srgbClr val="5F19E4"/>
              </a:gs>
            </a:gsLst>
            <a:lin ang="27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4"/>
              <a:buFont typeface="Arial"/>
              <a:buNone/>
            </a:pPr>
            <a:endParaRPr sz="714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9"/>
          <p:cNvSpPr/>
          <p:nvPr/>
        </p:nvSpPr>
        <p:spPr>
          <a:xfrm flipH="1">
            <a:off x="1934456" y="-9427"/>
            <a:ext cx="10257543" cy="6880225"/>
          </a:xfrm>
          <a:prstGeom prst="round1Rect">
            <a:avLst>
              <a:gd name="adj" fmla="val 10243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9"/>
          <p:cNvSpPr txBox="1"/>
          <p:nvPr/>
        </p:nvSpPr>
        <p:spPr>
          <a:xfrm>
            <a:off x="10972800" y="351532"/>
            <a:ext cx="3240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" name="Google Shape;34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37246" y="411857"/>
            <a:ext cx="872189" cy="248682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9"/>
          <p:cNvSpPr/>
          <p:nvPr/>
        </p:nvSpPr>
        <p:spPr>
          <a:xfrm>
            <a:off x="10319657" y="274832"/>
            <a:ext cx="653143" cy="52194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E9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client logo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5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sldNum" idx="12"/>
          </p:nvPr>
        </p:nvSpPr>
        <p:spPr>
          <a:xfrm>
            <a:off x="912665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457200" y="6356350"/>
            <a:ext cx="745988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xecutive summary w/o icons">
  <p:cSld name="Executive summary w/o icon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1"/>
          <p:cNvSpPr txBox="1">
            <a:spLocks noGrp="1"/>
          </p:cNvSpPr>
          <p:nvPr>
            <p:ph type="title"/>
          </p:nvPr>
        </p:nvSpPr>
        <p:spPr>
          <a:xfrm>
            <a:off x="457200" y="152401"/>
            <a:ext cx="8385858" cy="9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39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sldNum" idx="12"/>
          </p:nvPr>
        </p:nvSpPr>
        <p:spPr>
          <a:xfrm>
            <a:off x="912665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457200" y="1330911"/>
            <a:ext cx="11412655" cy="4877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ftr" idx="11"/>
          </p:nvPr>
        </p:nvSpPr>
        <p:spPr>
          <a:xfrm>
            <a:off x="457200" y="6356350"/>
            <a:ext cx="745988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red title slide alt">
  <p:cSld name="red title slide al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>
            <a:spLocks noGrp="1"/>
          </p:cNvSpPr>
          <p:nvPr>
            <p:ph type="sldNum" idx="12"/>
          </p:nvPr>
        </p:nvSpPr>
        <p:spPr>
          <a:xfrm>
            <a:off x="119307" y="7107251"/>
            <a:ext cx="194015" cy="164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  <a:defRPr sz="1066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  <a:defRPr sz="1066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  <a:defRPr sz="1066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  <a:defRPr sz="1066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  <a:defRPr sz="1066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  <a:defRPr sz="1066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  <a:defRPr sz="1066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  <a:defRPr sz="1066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  <a:defRPr sz="1066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22"/>
          <p:cNvSpPr/>
          <p:nvPr/>
        </p:nvSpPr>
        <p:spPr>
          <a:xfrm>
            <a:off x="247509" y="233846"/>
            <a:ext cx="11696984" cy="6390315"/>
          </a:xfrm>
          <a:prstGeom prst="rect">
            <a:avLst/>
          </a:prstGeom>
          <a:solidFill>
            <a:srgbClr val="5F19E4"/>
          </a:solidFill>
          <a:ln>
            <a:noFill/>
          </a:ln>
        </p:spPr>
        <p:txBody>
          <a:bodyPr spcFirstLastPara="1" wrap="square" lIns="67675" tIns="67675" rIns="67675" bIns="67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5"/>
              <a:buFont typeface="Arial"/>
              <a:buNone/>
            </a:pPr>
            <a:endParaRPr sz="4265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" name="Google Shape;47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86337" y="436605"/>
            <a:ext cx="1003945" cy="350108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2"/>
          <p:cNvSpPr txBox="1">
            <a:spLocks noGrp="1"/>
          </p:cNvSpPr>
          <p:nvPr>
            <p:ph type="body" idx="1"/>
          </p:nvPr>
        </p:nvSpPr>
        <p:spPr>
          <a:xfrm>
            <a:off x="1074231" y="4157849"/>
            <a:ext cx="10482593" cy="1803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803973" algn="l">
              <a:lnSpc>
                <a:spcPct val="105893"/>
              </a:lnSpc>
              <a:spcBef>
                <a:spcPts val="0"/>
              </a:spcBef>
              <a:spcAft>
                <a:spcPts val="0"/>
              </a:spcAft>
              <a:buSzPts val="9061"/>
              <a:buChar char="•"/>
              <a:defRPr sz="9061" b="0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xecutive summary w/ icons">
  <p:cSld name="Executive summary w/ icons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>
            <a:spLocks noGrp="1"/>
          </p:cNvSpPr>
          <p:nvPr>
            <p:ph type="title"/>
          </p:nvPr>
        </p:nvSpPr>
        <p:spPr>
          <a:xfrm>
            <a:off x="457200" y="152401"/>
            <a:ext cx="8385858" cy="9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393F"/>
              </a:buClr>
              <a:buSzPts val="32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sldNum" idx="12"/>
          </p:nvPr>
        </p:nvSpPr>
        <p:spPr>
          <a:xfrm>
            <a:off x="912665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body" idx="1"/>
          </p:nvPr>
        </p:nvSpPr>
        <p:spPr>
          <a:xfrm>
            <a:off x="1684421" y="1330911"/>
            <a:ext cx="957730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>
            <a:spLocks noGrp="1"/>
          </p:cNvSpPr>
          <p:nvPr>
            <p:ph type="pic" idx="2"/>
          </p:nvPr>
        </p:nvSpPr>
        <p:spPr>
          <a:xfrm>
            <a:off x="457200" y="1330911"/>
            <a:ext cx="914400" cy="9144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23"/>
          <p:cNvSpPr>
            <a:spLocks noGrp="1"/>
          </p:cNvSpPr>
          <p:nvPr>
            <p:ph type="pic" idx="3"/>
          </p:nvPr>
        </p:nvSpPr>
        <p:spPr>
          <a:xfrm>
            <a:off x="457200" y="2550111"/>
            <a:ext cx="914400" cy="9144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23"/>
          <p:cNvSpPr txBox="1">
            <a:spLocks noGrp="1"/>
          </p:cNvSpPr>
          <p:nvPr>
            <p:ph type="body" idx="4"/>
          </p:nvPr>
        </p:nvSpPr>
        <p:spPr>
          <a:xfrm>
            <a:off x="1684421" y="2550111"/>
            <a:ext cx="957730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>
            <a:spLocks noGrp="1"/>
          </p:cNvSpPr>
          <p:nvPr>
            <p:ph type="pic" idx="5"/>
          </p:nvPr>
        </p:nvSpPr>
        <p:spPr>
          <a:xfrm>
            <a:off x="457200" y="3843630"/>
            <a:ext cx="914400" cy="9144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23"/>
          <p:cNvSpPr txBox="1">
            <a:spLocks noGrp="1"/>
          </p:cNvSpPr>
          <p:nvPr>
            <p:ph type="body" idx="6"/>
          </p:nvPr>
        </p:nvSpPr>
        <p:spPr>
          <a:xfrm>
            <a:off x="1684421" y="3843630"/>
            <a:ext cx="957730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>
            <a:spLocks noGrp="1"/>
          </p:cNvSpPr>
          <p:nvPr>
            <p:ph type="pic" idx="7"/>
          </p:nvPr>
        </p:nvSpPr>
        <p:spPr>
          <a:xfrm>
            <a:off x="457200" y="5137150"/>
            <a:ext cx="914400" cy="9144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23"/>
          <p:cNvSpPr txBox="1">
            <a:spLocks noGrp="1"/>
          </p:cNvSpPr>
          <p:nvPr>
            <p:ph type="body" idx="8"/>
          </p:nvPr>
        </p:nvSpPr>
        <p:spPr>
          <a:xfrm>
            <a:off x="1684421" y="5137150"/>
            <a:ext cx="957730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ftr" idx="11"/>
          </p:nvPr>
        </p:nvSpPr>
        <p:spPr>
          <a:xfrm>
            <a:off x="457200" y="6356350"/>
            <a:ext cx="745988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1">
  <p:cSld name="TITLE_AND_BODY_1">
    <p:bg>
      <p:bgPr>
        <a:solidFill>
          <a:srgbClr val="FFFFFF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_8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pic>
        <p:nvPicPr>
          <p:cNvPr id="64" name="Google Shape;64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72800" y="219456"/>
            <a:ext cx="999744" cy="287426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5"/>
          <p:cNvSpPr/>
          <p:nvPr/>
        </p:nvSpPr>
        <p:spPr>
          <a:xfrm>
            <a:off x="-53800" y="6710000"/>
            <a:ext cx="12304500" cy="228900"/>
          </a:xfrm>
          <a:prstGeom prst="rect">
            <a:avLst/>
          </a:prstGeom>
          <a:gradFill>
            <a:gsLst>
              <a:gs pos="0">
                <a:srgbClr val="27D79A"/>
              </a:gs>
              <a:gs pos="36000">
                <a:srgbClr val="03B4F0"/>
              </a:gs>
              <a:gs pos="70000">
                <a:srgbClr val="0768DD"/>
              </a:gs>
              <a:gs pos="100000">
                <a:srgbClr val="5F1AE5"/>
              </a:gs>
            </a:gsLst>
            <a:lin ang="2700006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5"/>
          <p:cNvSpPr txBox="1"/>
          <p:nvPr/>
        </p:nvSpPr>
        <p:spPr>
          <a:xfrm>
            <a:off x="672667" y="1990300"/>
            <a:ext cx="9816300" cy="42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457199" y="152401"/>
            <a:ext cx="9509760" cy="9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393F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rgbClr val="2E393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457199" y="1371600"/>
            <a:ext cx="1141265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DBAA"/>
              </a:buClr>
              <a:buSzPts val="1800"/>
              <a:buFont typeface="Helvetica Neue Light"/>
              <a:buChar char="•"/>
              <a:defRPr sz="1800" b="0" i="0" u="none" strike="noStrike" cap="none">
                <a:solidFill>
                  <a:srgbClr val="2E393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1DBAA"/>
              </a:buClr>
              <a:buSzPts val="1600"/>
              <a:buFont typeface="Helvetica Neue Light"/>
              <a:buChar char="•"/>
              <a:defRPr sz="1600" b="0" i="0" u="none" strike="noStrike" cap="none">
                <a:solidFill>
                  <a:srgbClr val="2E393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1DBAA"/>
              </a:buClr>
              <a:buSzPts val="1400"/>
              <a:buFont typeface="Helvetica Neue Light"/>
              <a:buChar char="•"/>
              <a:defRPr sz="1400" b="0" i="0" u="none" strike="noStrike" cap="none">
                <a:solidFill>
                  <a:srgbClr val="2E393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1DBAA"/>
              </a:buClr>
              <a:buSzPts val="1400"/>
              <a:buFont typeface="Helvetica Neue Light"/>
              <a:buChar char="•"/>
              <a:defRPr sz="1400" b="0" i="0" u="none" strike="noStrike" cap="none">
                <a:solidFill>
                  <a:srgbClr val="2E393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1DBAA"/>
              </a:buClr>
              <a:buSzPts val="1400"/>
              <a:buFont typeface="Helvetica Neue Light"/>
              <a:buChar char="•"/>
              <a:defRPr sz="1400" b="0" i="0" u="none" strike="noStrike" cap="none">
                <a:solidFill>
                  <a:srgbClr val="2E393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1DBAA"/>
              </a:buClr>
              <a:buSzPts val="1400"/>
              <a:buFont typeface="Helvetica Neue Light"/>
              <a:buChar char="•"/>
              <a:defRPr sz="1400" b="0" i="0" u="none" strike="noStrike" cap="none">
                <a:solidFill>
                  <a:srgbClr val="2E393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1DBAA"/>
              </a:buClr>
              <a:buSzPts val="1400"/>
              <a:buFont typeface="Helvetica Neue Light"/>
              <a:buChar char="•"/>
              <a:defRPr sz="1400" b="0" i="0" u="none" strike="noStrike" cap="none">
                <a:solidFill>
                  <a:srgbClr val="2E393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1DBAA"/>
              </a:buClr>
              <a:buSzPts val="1400"/>
              <a:buFont typeface="Helvetica Neue Light"/>
              <a:buChar char="•"/>
              <a:defRPr sz="1400" b="0" i="0" u="none" strike="noStrike" cap="none">
                <a:solidFill>
                  <a:srgbClr val="2E393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1DBAA"/>
              </a:buClr>
              <a:buSzPts val="1400"/>
              <a:buFont typeface="Helvetica Neue Light"/>
              <a:buChar char="•"/>
              <a:defRPr sz="1400" b="0" i="0" u="none" strike="noStrike" cap="none">
                <a:solidFill>
                  <a:srgbClr val="2E393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sldNum" idx="12"/>
          </p:nvPr>
        </p:nvSpPr>
        <p:spPr>
          <a:xfrm>
            <a:off x="912665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15"/>
          <p:cNvSpPr txBox="1"/>
          <p:nvPr/>
        </p:nvSpPr>
        <p:spPr>
          <a:xfrm>
            <a:off x="10972800" y="351532"/>
            <a:ext cx="3240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5"/>
          <p:cNvSpPr txBox="1">
            <a:spLocks noGrp="1"/>
          </p:cNvSpPr>
          <p:nvPr>
            <p:ph type="ftr" idx="11"/>
          </p:nvPr>
        </p:nvSpPr>
        <p:spPr>
          <a:xfrm>
            <a:off x="4572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5" name="Google Shape;15;p1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237246" y="411857"/>
            <a:ext cx="872189" cy="24868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5"/>
          <p:cNvSpPr/>
          <p:nvPr/>
        </p:nvSpPr>
        <p:spPr>
          <a:xfrm>
            <a:off x="10319657" y="274832"/>
            <a:ext cx="653143" cy="52194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E9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client logo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96">
          <p15:clr>
            <a:srgbClr val="F26B43"/>
          </p15:clr>
        </p15:guide>
        <p15:guide id="2" pos="7584">
          <p15:clr>
            <a:srgbClr val="F26B43"/>
          </p15:clr>
        </p15:guide>
        <p15:guide id="3" orient="horz" pos="96">
          <p15:clr>
            <a:srgbClr val="F26B43"/>
          </p15:clr>
        </p15:guide>
        <p15:guide id="4" orient="horz" pos="4248">
          <p15:clr>
            <a:srgbClr val="F26B43"/>
          </p15:clr>
        </p15:guide>
        <p15:guide id="5" pos="288">
          <p15:clr>
            <a:srgbClr val="F26B43"/>
          </p15:clr>
        </p15:guide>
        <p15:guide id="6" orient="horz" pos="720">
          <p15:clr>
            <a:srgbClr val="F26B43"/>
          </p15:clr>
        </p15:guide>
        <p15:guide id="7" orient="horz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"/>
          <p:cNvSpPr txBox="1">
            <a:spLocks noGrp="1"/>
          </p:cNvSpPr>
          <p:nvPr>
            <p:ph type="ctrTitle" idx="4294967295"/>
          </p:nvPr>
        </p:nvSpPr>
        <p:spPr>
          <a:xfrm>
            <a:off x="338775" y="4016425"/>
            <a:ext cx="8352000" cy="14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6000" dirty="0">
                <a:solidFill>
                  <a:schemeClr val="lt1"/>
                </a:solidFill>
              </a:rPr>
              <a:t>Name of the study</a:t>
            </a:r>
            <a:endParaRPr sz="6000" b="0" i="0" u="none" strike="noStrike" cap="none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" name="Google Shape;72;p1"/>
          <p:cNvSpPr txBox="1">
            <a:spLocks noGrp="1"/>
          </p:cNvSpPr>
          <p:nvPr>
            <p:ph type="sldNum" idx="12"/>
          </p:nvPr>
        </p:nvSpPr>
        <p:spPr>
          <a:xfrm>
            <a:off x="9126655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73" name="Google Shape;73;p1"/>
          <p:cNvSpPr txBox="1"/>
          <p:nvPr/>
        </p:nvSpPr>
        <p:spPr>
          <a:xfrm>
            <a:off x="578925" y="5432950"/>
            <a:ext cx="347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olidFill>
                  <a:schemeClr val="lt1"/>
                </a:solidFill>
              </a:rPr>
              <a:t>Date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6143D5-3FCB-D1C7-EE6F-CF38C0CD9BD6}"/>
              </a:ext>
            </a:extLst>
          </p:cNvPr>
          <p:cNvSpPr/>
          <p:nvPr/>
        </p:nvSpPr>
        <p:spPr>
          <a:xfrm>
            <a:off x="3311611" y="1451919"/>
            <a:ext cx="1130643" cy="61783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Clients logo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" name="Google Shape;79;p4"/>
          <p:cNvGraphicFramePr/>
          <p:nvPr>
            <p:extLst>
              <p:ext uri="{D42A27DB-BD31-4B8C-83A1-F6EECF244321}">
                <p14:modId xmlns:p14="http://schemas.microsoft.com/office/powerpoint/2010/main" val="1392150938"/>
              </p:ext>
            </p:extLst>
          </p:nvPr>
        </p:nvGraphicFramePr>
        <p:xfrm>
          <a:off x="2526875" y="1660838"/>
          <a:ext cx="8998875" cy="3381550"/>
        </p:xfrm>
        <a:graphic>
          <a:graphicData uri="http://schemas.openxmlformats.org/drawingml/2006/table">
            <a:tbl>
              <a:tblPr>
                <a:noFill/>
                <a:tableStyleId>{CB406784-686D-45D5-8818-E3AAB9C33935}</a:tableStyleId>
              </a:tblPr>
              <a:tblGrid>
                <a:gridCol w="315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Team Member</a:t>
                      </a:r>
                      <a:endParaRPr sz="2000" b="1" u="none" strike="noStrike" cap="non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Office</a:t>
                      </a:r>
                      <a:endParaRPr sz="2000" b="1" u="none" strike="noStrike" cap="non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Role</a:t>
                      </a:r>
                      <a:endParaRPr sz="2000" b="1" u="none" strike="noStrike" cap="non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200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Sales name</a:t>
                      </a:r>
                      <a:endParaRPr dirty="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CDMX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Sales Account Executive</a:t>
                      </a:r>
                      <a:endParaRPr sz="14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00">
                <a:tc vMerge="1">
                  <a:txBody>
                    <a:bodyPr/>
                    <a:lstStyle/>
                    <a:p>
                      <a:endParaRPr lang="en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strike="noStrike" cap="none" dirty="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RX 1name</a:t>
                      </a:r>
                      <a:endParaRPr sz="1400" u="none" strike="noStrike" cap="none" dirty="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400" u="none" strike="noStrike" cap="none" dirty="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Research Experts</a:t>
                      </a:r>
                      <a:endParaRPr sz="14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b="1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RX 2 name</a:t>
                      </a:r>
                      <a:endParaRPr b="1" dirty="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Provo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b="1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AX name</a:t>
                      </a:r>
                      <a:endParaRPr b="1" dirty="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400" u="none" strike="noStrike" cap="none" dirty="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5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PM name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Sydney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Project Manager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0" name="Google Shape;80;p4"/>
          <p:cNvSpPr txBox="1">
            <a:spLocks noGrp="1"/>
          </p:cNvSpPr>
          <p:nvPr>
            <p:ph type="title"/>
          </p:nvPr>
        </p:nvSpPr>
        <p:spPr>
          <a:xfrm>
            <a:off x="2450900" y="270775"/>
            <a:ext cx="6862800" cy="13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sz="4500">
                <a:solidFill>
                  <a:schemeClr val="dk1"/>
                </a:solidFill>
              </a:rPr>
              <a:t>Meet the Team</a:t>
            </a:r>
            <a:endParaRPr sz="4500"/>
          </a:p>
        </p:txBody>
      </p:sp>
      <p:sp>
        <p:nvSpPr>
          <p:cNvPr id="81" name="Google Shape;81;p4"/>
          <p:cNvSpPr txBox="1">
            <a:spLocks noGrp="1"/>
          </p:cNvSpPr>
          <p:nvPr>
            <p:ph type="sldNum" idx="12"/>
          </p:nvPr>
        </p:nvSpPr>
        <p:spPr>
          <a:xfrm>
            <a:off x="9126655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82" name="Google Shape;82;p4"/>
          <p:cNvSpPr txBox="1"/>
          <p:nvPr/>
        </p:nvSpPr>
        <p:spPr>
          <a:xfrm>
            <a:off x="2582225" y="6356375"/>
            <a:ext cx="4699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BOLD</a:t>
            </a:r>
            <a:r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Day-to-day contact for each team/General POC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>
            <a:spLocks noGrp="1"/>
          </p:cNvSpPr>
          <p:nvPr>
            <p:ph type="sldNum" idx="12"/>
          </p:nvPr>
        </p:nvSpPr>
        <p:spPr>
          <a:xfrm>
            <a:off x="9126655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90" name="Google Shape;90;p6"/>
          <p:cNvSpPr txBox="1">
            <a:spLocks noGrp="1"/>
          </p:cNvSpPr>
          <p:nvPr>
            <p:ph type="title"/>
          </p:nvPr>
        </p:nvSpPr>
        <p:spPr>
          <a:xfrm>
            <a:off x="2450900" y="270775"/>
            <a:ext cx="7570500" cy="13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sz="3600">
                <a:solidFill>
                  <a:schemeClr val="dk1"/>
                </a:solidFill>
              </a:rPr>
              <a:t>Research Objectives</a:t>
            </a:r>
            <a:endParaRPr sz="3600"/>
          </a:p>
        </p:txBody>
      </p:sp>
      <p:sp>
        <p:nvSpPr>
          <p:cNvPr id="91" name="Google Shape;91;p6"/>
          <p:cNvSpPr txBox="1"/>
          <p:nvPr/>
        </p:nvSpPr>
        <p:spPr>
          <a:xfrm>
            <a:off x="2450900" y="2353575"/>
            <a:ext cx="9246900" cy="23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i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A&amp;U + AA Needs Segmentation:</a:t>
            </a:r>
            <a:endParaRPr sz="1800" b="1" i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Objective: </a:t>
            </a: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Define partnership decision making process + Segment needs to cover through a third party.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i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i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Brand Health:</a:t>
            </a:r>
            <a:endParaRPr sz="1800" b="1" i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Objective:</a:t>
            </a: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Brand’s perception, brand funnel stage, selection drivers, strengths and opportunities versus competitors and services awareness.</a:t>
            </a:r>
            <a:endParaRPr sz="18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D566C2-18A4-BBF4-1E97-8FFF013EFF3E}"/>
              </a:ext>
            </a:extLst>
          </p:cNvPr>
          <p:cNvSpPr/>
          <p:nvPr/>
        </p:nvSpPr>
        <p:spPr>
          <a:xfrm>
            <a:off x="5943707" y="3120081"/>
            <a:ext cx="1130643" cy="61783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 txBox="1">
            <a:spLocks noGrp="1"/>
          </p:cNvSpPr>
          <p:nvPr>
            <p:ph type="title"/>
          </p:nvPr>
        </p:nvSpPr>
        <p:spPr>
          <a:xfrm>
            <a:off x="2450900" y="270775"/>
            <a:ext cx="6862800" cy="13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sz="3600">
                <a:solidFill>
                  <a:schemeClr val="dk1"/>
                </a:solidFill>
              </a:rPr>
              <a:t>Sample Confirmation</a:t>
            </a:r>
            <a:endParaRPr sz="3600"/>
          </a:p>
        </p:txBody>
      </p:sp>
      <p:sp>
        <p:nvSpPr>
          <p:cNvPr id="98" name="Google Shape;98;p8"/>
          <p:cNvSpPr txBox="1">
            <a:spLocks noGrp="1"/>
          </p:cNvSpPr>
          <p:nvPr>
            <p:ph type="sldNum" idx="12"/>
          </p:nvPr>
        </p:nvSpPr>
        <p:spPr>
          <a:xfrm>
            <a:off x="9126655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4</a:t>
            </a:fld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99" name="Google Shape;99;p8"/>
          <p:cNvGraphicFramePr/>
          <p:nvPr/>
        </p:nvGraphicFramePr>
        <p:xfrm>
          <a:off x="2450900" y="1371113"/>
          <a:ext cx="9231925" cy="5527395"/>
        </p:xfrm>
        <a:graphic>
          <a:graphicData uri="http://schemas.openxmlformats.org/drawingml/2006/table">
            <a:tbl>
              <a:tblPr>
                <a:noFill/>
                <a:tableStyleId>{CB406784-686D-45D5-8818-E3AAB9C33935}</a:tableStyleId>
              </a:tblPr>
              <a:tblGrid>
                <a:gridCol w="324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0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Screeners</a:t>
                      </a:r>
                      <a:endParaRPr sz="1500" b="1" u="none" strike="noStrike" cap="non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Quotas</a:t>
                      </a:r>
                      <a:endParaRPr sz="1500" b="1" u="none" strike="noStrike" cap="non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Other Assumptions</a:t>
                      </a:r>
                      <a:endParaRPr sz="1500" b="1" u="none" strike="noStrike" cap="non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1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 N = </a:t>
                      </a:r>
                      <a:r>
                        <a:rPr lang="en-US" sz="11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700 (350 medium companies / 350 large companies)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100" u="none" strike="noStrike" cap="none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100" u="none" strike="noStrike" cap="none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Screeners: </a:t>
                      </a:r>
                      <a:endParaRPr sz="11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1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457200" marR="0" lvl="0" indent="-298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Helvetica Neue Light"/>
                        <a:buChar char="●"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Company size</a:t>
                      </a:r>
                      <a:r>
                        <a:rPr lang="en-US" sz="11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 (medium and large)</a:t>
                      </a:r>
                      <a:endParaRPr sz="11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457200" marR="0" lvl="0" indent="-298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Helvetica Neue Light"/>
                        <a:buChar char="●"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High-hierarchy role:</a:t>
                      </a:r>
                      <a:endParaRPr sz="1100" b="1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914400" marR="0" lvl="1" indent="-298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Helvetica Neue Light"/>
                        <a:buChar char="○"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C-Cuite</a:t>
                      </a:r>
                      <a:endParaRPr sz="11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914400" marR="0" lvl="1" indent="-298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Helvetica Neue Light"/>
                        <a:buChar char="○"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SVP</a:t>
                      </a:r>
                      <a:endParaRPr sz="11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914400" marR="0" lvl="1" indent="-298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Helvetica Neue Light"/>
                        <a:buChar char="○"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VP</a:t>
                      </a:r>
                      <a:endParaRPr sz="11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914400" marR="0" lvl="1" indent="-298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Helvetica Neue Light"/>
                        <a:buChar char="○"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Director</a:t>
                      </a:r>
                      <a:endParaRPr sz="11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457200" marR="0" lvl="0" indent="-298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Helvetica Neue Light"/>
                        <a:buChar char="●"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Industry</a:t>
                      </a:r>
                      <a:r>
                        <a:rPr lang="en-US" sz="11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 (TBD)</a:t>
                      </a:r>
                      <a:endParaRPr sz="11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457200" marR="0" lvl="0" indent="-298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Helvetica Neue Light"/>
                        <a:buChar char="●"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Services (current users or non rejectors of outsourcing marketing services)</a:t>
                      </a:r>
                      <a:r>
                        <a:rPr lang="en-US" sz="11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: </a:t>
                      </a:r>
                      <a:endParaRPr sz="11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914400" marR="0" lvl="1" indent="-298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Helvetica Neue Light"/>
                        <a:buChar char="○"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Data Services (analytics &amp; strategy)</a:t>
                      </a:r>
                      <a:endParaRPr sz="11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914400" marR="0" lvl="1" indent="-298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Helvetica Neue Light"/>
                        <a:buChar char="○"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Marketing Services (digital &amp; technology)</a:t>
                      </a:r>
                      <a:endParaRPr sz="11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914400" marR="0" lvl="1" indent="-298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Helvetica Neue Light"/>
                        <a:buChar char="○"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Creative Services </a:t>
                      </a:r>
                      <a:endParaRPr sz="11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914400" marR="0" lvl="1" indent="-298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Helvetica Neue Light"/>
                        <a:buChar char="○"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Direct Mail</a:t>
                      </a:r>
                      <a:endParaRPr sz="11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914400" marR="0" lvl="1" indent="-298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Helvetica Neue Light"/>
                        <a:buChar char="○"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Customer Care Services, </a:t>
                      </a:r>
                      <a:endParaRPr sz="11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914400" marR="0" lvl="1" indent="-298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Helvetica Neue Light"/>
                        <a:buChar char="○"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Sales Services</a:t>
                      </a:r>
                      <a:endParaRPr sz="11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914400" marR="0" lvl="1" indent="-298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Helvetica Neue Light"/>
                        <a:buChar char="○"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Logistics and Fulfillment Tasks</a:t>
                      </a:r>
                      <a:endParaRPr sz="11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1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181818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Describe any Quotas</a:t>
                      </a:r>
                      <a:endParaRPr sz="1100" u="none" strike="noStrike" cap="none">
                        <a:solidFill>
                          <a:srgbClr val="181818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100" u="none" strike="noStrike" cap="none">
                        <a:solidFill>
                          <a:srgbClr val="181818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181818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Provide definitions for any terms of art such as ‘natural fallout’ or ‘best efforts’</a:t>
                      </a:r>
                      <a:endParaRPr sz="1100" u="none" strike="noStrike" cap="none">
                        <a:solidFill>
                          <a:srgbClr val="181818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100">
                        <a:solidFill>
                          <a:srgbClr val="181818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457200" lvl="0" indent="-298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Helvetica Neue Light"/>
                        <a:buChar char="●"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Age </a:t>
                      </a:r>
                      <a:r>
                        <a:rPr lang="en-US" sz="11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(natural fallout) (TBD)</a:t>
                      </a:r>
                      <a:endParaRPr sz="11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457200" lvl="0" indent="-298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Helvetica Neue Light"/>
                        <a:buChar char="●"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Gender </a:t>
                      </a:r>
                      <a:r>
                        <a:rPr lang="en-US" sz="11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(natural fallout) (TBD)</a:t>
                      </a:r>
                      <a:endParaRPr sz="11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457200" lvl="0" indent="-298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Helvetica Neue Light"/>
                        <a:buChar char="●"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Country </a:t>
                      </a:r>
                      <a:r>
                        <a:rPr lang="en-US" sz="11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(natural fallout) (TBD)</a:t>
                      </a:r>
                      <a:endParaRPr sz="11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457200" lvl="0" indent="-298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Helvetica Neue Light"/>
                        <a:buChar char="●"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Company size</a:t>
                      </a:r>
                      <a:r>
                        <a:rPr lang="en-US" sz="11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 (medium and large)</a:t>
                      </a:r>
                      <a:endParaRPr sz="11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914400" lvl="1" indent="-298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Helvetica Neue Light"/>
                        <a:buChar char="○"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C-Cuite</a:t>
                      </a:r>
                      <a:endParaRPr sz="11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914400" lvl="1" indent="-298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Helvetica Neue Light"/>
                        <a:buChar char="○"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SVP</a:t>
                      </a:r>
                      <a:endParaRPr sz="11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914400" lvl="1" indent="-298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Helvetica Neue Light"/>
                        <a:buChar char="○"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VP</a:t>
                      </a:r>
                      <a:endParaRPr sz="11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914400" lvl="1" indent="-298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Helvetica Neue Light"/>
                        <a:buChar char="○"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Director</a:t>
                      </a:r>
                      <a:endParaRPr sz="11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457200" lvl="0" indent="-298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Helvetica Neue Light"/>
                        <a:buChar char="●"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Industry</a:t>
                      </a:r>
                      <a:r>
                        <a:rPr lang="en-US" sz="11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 (TBD)</a:t>
                      </a:r>
                      <a:endParaRPr sz="11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457200" lvl="0" indent="-298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Helvetica Neue Light"/>
                        <a:buChar char="●"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Services</a:t>
                      </a:r>
                      <a:r>
                        <a:rPr lang="en-US" sz="11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: </a:t>
                      </a:r>
                      <a:endParaRPr sz="11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914400" lvl="1" indent="-298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Helvetica Neue Light"/>
                        <a:buChar char="○"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Data Services (analytics &amp; strategy)</a:t>
                      </a:r>
                      <a:endParaRPr sz="11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914400" lvl="1" indent="-298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Helvetica Neue Light"/>
                        <a:buChar char="○"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Marketing Services (digital &amp; technology)</a:t>
                      </a:r>
                      <a:endParaRPr sz="11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914400" lvl="1" indent="-298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Helvetica Neue Light"/>
                        <a:buChar char="○"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Creative Services </a:t>
                      </a:r>
                      <a:endParaRPr sz="11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914400" lvl="1" indent="-298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Helvetica Neue Light"/>
                        <a:buChar char="○"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Direct Mail</a:t>
                      </a:r>
                      <a:endParaRPr sz="11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914400" lvl="1" indent="-298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Helvetica Neue Light"/>
                        <a:buChar char="○"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Customer Care Services, </a:t>
                      </a:r>
                      <a:endParaRPr sz="11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914400" lvl="1" indent="-298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Helvetica Neue Light"/>
                        <a:buChar char="○"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Sales Services</a:t>
                      </a:r>
                      <a:endParaRPr sz="11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914400" lvl="1" indent="-298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Helvetica Neue Light"/>
                        <a:buChar char="○"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Logistics and Fulfillment Tasks</a:t>
                      </a:r>
                      <a:endParaRPr sz="1100">
                        <a:solidFill>
                          <a:srgbClr val="181818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Length of Interview:</a:t>
                      </a:r>
                      <a:r>
                        <a:rPr lang="en-US" sz="11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  </a:t>
                      </a:r>
                      <a:r>
                        <a:rPr lang="en-US" sz="11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20 </a:t>
                      </a:r>
                      <a:r>
                        <a:rPr lang="en-US" sz="11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min</a:t>
                      </a:r>
                      <a:endParaRPr sz="1100" u="none" strike="noStrike" cap="non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100" u="none" strike="noStrike" cap="non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IR</a:t>
                      </a:r>
                      <a:r>
                        <a:rPr lang="en-US" sz="11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 assumed to be </a:t>
                      </a:r>
                      <a:r>
                        <a:rPr lang="en-US" sz="11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41-60</a:t>
                      </a:r>
                      <a:r>
                        <a:rPr lang="en-US" sz="11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%</a:t>
                      </a:r>
                      <a:endParaRPr sz="1100" u="none" strike="noStrike" cap="non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100" u="none" strike="noStrike" cap="non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Approximate </a:t>
                      </a:r>
                      <a:r>
                        <a:rPr lang="en-US" sz="1100" b="1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number of questions</a:t>
                      </a:r>
                      <a:r>
                        <a:rPr lang="en-US" sz="11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:</a:t>
                      </a:r>
                      <a:r>
                        <a:rPr lang="en-US" sz="11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 30</a:t>
                      </a:r>
                      <a:endParaRPr sz="11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1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Segmentation</a:t>
                      </a:r>
                      <a:r>
                        <a:rPr lang="en-US" sz="11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: TBD once we have the data</a:t>
                      </a:r>
                      <a:r>
                        <a:rPr lang="en-US" sz="11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  </a:t>
                      </a:r>
                      <a:endParaRPr sz="1100" u="none" strike="noStrike" cap="non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1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—--------------------------------</a:t>
                      </a:r>
                      <a:endParaRPr sz="11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1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Services included:</a:t>
                      </a:r>
                      <a:endParaRPr sz="1100"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457200" lvl="0" indent="-298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Helvetica Neue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Survey Design</a:t>
                      </a:r>
                      <a:endParaRPr sz="11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457200" lvl="0" indent="-298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Helvetica Neue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Survey Build (programming)</a:t>
                      </a:r>
                      <a:endParaRPr sz="11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457200" lvl="0" indent="-298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Helvetica Neue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Crosstabs</a:t>
                      </a:r>
                      <a:endParaRPr sz="11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457200" lvl="0" indent="-298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Helvetica Neue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Report (PPT | Slides)</a:t>
                      </a:r>
                      <a:endParaRPr sz="11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          </a:ext>
                          </a:extLst>
                        </a:rPr>
                        <a:t>Client Timezone:</a:t>
                      </a:r>
                      <a:r>
                        <a:rPr lang="en-US" sz="11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EST</a:t>
                      </a:r>
                      <a:endParaRPr sz="11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          </a:ext>
                          </a:extLst>
                        </a:rPr>
                        <a:t>Client Email:</a:t>
                      </a:r>
                      <a:r>
                        <a:rPr lang="en-US" sz="11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natalia.dominguez@hartehanks.com</a:t>
                      </a:r>
                      <a:endParaRPr sz="11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 sz="1100" b="1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1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F8A303B0-00C3-4FCE-A19A-804A2D358061}"/>
              </a:ext>
            </a:extLst>
          </p:cNvPr>
          <p:cNvSpPr/>
          <p:nvPr/>
        </p:nvSpPr>
        <p:spPr>
          <a:xfrm>
            <a:off x="5943707" y="3120081"/>
            <a:ext cx="1130643" cy="61783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"/>
          <p:cNvSpPr txBox="1">
            <a:spLocks noGrp="1"/>
          </p:cNvSpPr>
          <p:nvPr>
            <p:ph type="sldNum" idx="12"/>
          </p:nvPr>
        </p:nvSpPr>
        <p:spPr>
          <a:xfrm>
            <a:off x="9126655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aphicFrame>
        <p:nvGraphicFramePr>
          <p:cNvPr id="107" name="Google Shape;107;p11"/>
          <p:cNvGraphicFramePr/>
          <p:nvPr/>
        </p:nvGraphicFramePr>
        <p:xfrm>
          <a:off x="3362266" y="1311052"/>
          <a:ext cx="6989975" cy="5280175"/>
        </p:xfrm>
        <a:graphic>
          <a:graphicData uri="http://schemas.openxmlformats.org/drawingml/2006/table">
            <a:tbl>
              <a:tblPr>
                <a:noFill/>
                <a:tableStyleId>{CB406784-686D-45D5-8818-E3AAB9C33935}</a:tableStyleId>
              </a:tblPr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8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2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MILESTONE</a:t>
                      </a:r>
                      <a:endParaRPr sz="1000" b="1" u="none" strike="noStrike" cap="non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27425" marB="27425" anchor="ctr">
                    <a:solidFill>
                      <a:srgbClr val="0768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# BUSINESS DAYS</a:t>
                      </a:r>
                      <a:endParaRPr sz="1000" b="1" u="none" strike="noStrike" cap="non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27425" marB="27425" anchor="ctr">
                    <a:solidFill>
                      <a:srgbClr val="0768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START DATE</a:t>
                      </a:r>
                      <a:endParaRPr sz="1000" b="1" u="none" strike="noStrike" cap="non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27425" marB="27425" anchor="ctr">
                    <a:solidFill>
                      <a:srgbClr val="0768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END DATE</a:t>
                      </a:r>
                      <a:endParaRPr sz="1000" b="1" u="none" strike="noStrike" cap="non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27425" marB="27425" anchor="ctr">
                    <a:solidFill>
                      <a:srgbClr val="076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21DBAA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Project Kickoff</a:t>
                      </a:r>
                      <a:endParaRPr sz="1000" u="none" strike="noStrike" cap="none">
                        <a:solidFill>
                          <a:srgbClr val="21DBAA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21DBAA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21DBAA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12/Aug</a:t>
                      </a:r>
                      <a:endParaRPr sz="1000" u="none" strike="noStrike" cap="none">
                        <a:solidFill>
                          <a:srgbClr val="21DBAA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21DBAA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03/Nov</a:t>
                      </a:r>
                      <a:endParaRPr sz="1000" u="none" strike="noStrike" cap="none">
                        <a:solidFill>
                          <a:srgbClr val="21DBAA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Survey Outline to [</a:t>
                      </a:r>
                      <a:r>
                        <a:rPr lang="en-US" sz="1000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Harte Hanks</a:t>
                      </a:r>
                      <a:r>
                        <a:rPr lang="en-US" sz="1000" u="none" strike="noStrike" cap="non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]</a:t>
                      </a:r>
                      <a:endParaRPr sz="1000" u="none" strike="noStrike" cap="non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+</a:t>
                      </a:r>
                      <a:r>
                        <a:rPr lang="en-US" sz="1000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5</a:t>
                      </a:r>
                      <a:r>
                        <a:rPr lang="en-US" sz="1000" u="none" strike="noStrike" cap="non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 Business Days</a:t>
                      </a:r>
                      <a:endParaRPr sz="1000" u="none" strike="noStrike" cap="non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13</a:t>
                      </a:r>
                      <a:r>
                        <a:rPr lang="en-US" sz="1000" u="none" strike="noStrike" cap="non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/</a:t>
                      </a:r>
                      <a:r>
                        <a:rPr lang="en-US" sz="1000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Aug</a:t>
                      </a:r>
                      <a:endParaRPr sz="1000" u="none" strike="noStrike" cap="non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19</a:t>
                      </a:r>
                      <a:r>
                        <a:rPr lang="en-US" sz="1000" u="none" strike="noStrike" cap="non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/</a:t>
                      </a:r>
                      <a:r>
                        <a:rPr lang="en-US" sz="1000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Aug</a:t>
                      </a:r>
                      <a:endParaRPr sz="1000" u="none" strike="noStrike" cap="non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Survey Outline Approved</a:t>
                      </a:r>
                      <a:endParaRPr sz="1000" u="none" strike="noStrike" cap="none">
                        <a:solidFill>
                          <a:srgbClr val="03B4F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+2 Business Days </a:t>
                      </a:r>
                      <a:endParaRPr sz="1000" u="none" strike="noStrike" cap="none">
                        <a:solidFill>
                          <a:srgbClr val="03B4F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20</a:t>
                      </a:r>
                      <a:r>
                        <a:rPr lang="en-US" sz="1000" u="none" strike="noStrike" cap="none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/</a:t>
                      </a:r>
                      <a:r>
                        <a:rPr lang="en-US" sz="1000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Aug</a:t>
                      </a:r>
                      <a:endParaRPr sz="1000" u="none" strike="noStrike" cap="none">
                        <a:solidFill>
                          <a:srgbClr val="03B4F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21</a:t>
                      </a:r>
                      <a:r>
                        <a:rPr lang="en-US" sz="1000" u="none" strike="noStrike" cap="none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/</a:t>
                      </a:r>
                      <a:r>
                        <a:rPr lang="en-US" sz="1000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Aug</a:t>
                      </a:r>
                      <a:endParaRPr sz="1000" u="none" strike="noStrike" cap="none">
                        <a:solidFill>
                          <a:srgbClr val="03B4F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Full Survey Draft to [</a:t>
                      </a:r>
                      <a:r>
                        <a:rPr lang="en-US" sz="1000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Harte Hanks</a:t>
                      </a:r>
                      <a:r>
                        <a:rPr lang="en-US" sz="1000" u="none" strike="noStrike" cap="non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]</a:t>
                      </a:r>
                      <a:endParaRPr sz="1000" u="none" strike="noStrike" cap="non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+3 Business Days</a:t>
                      </a:r>
                      <a:endParaRPr sz="1000" u="none" strike="noStrike" cap="non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22</a:t>
                      </a:r>
                      <a:r>
                        <a:rPr lang="en-US" sz="1000" u="none" strike="noStrike" cap="non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/</a:t>
                      </a:r>
                      <a:r>
                        <a:rPr lang="en-US" sz="1000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Aug</a:t>
                      </a:r>
                      <a:endParaRPr sz="1000" u="none" strike="noStrike" cap="non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27</a:t>
                      </a:r>
                      <a:r>
                        <a:rPr lang="en-US" sz="1000" u="none" strike="noStrike" cap="non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/</a:t>
                      </a:r>
                      <a:r>
                        <a:rPr lang="en-US" sz="1000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Aug</a:t>
                      </a:r>
                      <a:endParaRPr sz="1000" u="none" strike="noStrike" cap="non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Survey Draft Approved</a:t>
                      </a:r>
                      <a:endParaRPr sz="1000" b="1" u="none" strike="noStrike" cap="non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27425" marB="27425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03B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+3 Business Days</a:t>
                      </a:r>
                      <a:endParaRPr sz="1000" b="1" u="none" strike="noStrike" cap="non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B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27</a:t>
                      </a: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Aug</a:t>
                      </a:r>
                      <a:endParaRPr sz="1000" b="1" u="none" strike="noStrike" cap="non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03B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01</a:t>
                      </a: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0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Sep</a:t>
                      </a:r>
                      <a:endParaRPr sz="1000" b="1" u="none" strike="noStrike" cap="non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27425" marB="27425" anchor="ctr">
                    <a:solidFill>
                      <a:srgbClr val="03B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Survey Build (programming)</a:t>
                      </a:r>
                      <a:endParaRPr sz="1000" u="none" strike="noStrike" cap="non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+</a:t>
                      </a:r>
                      <a:r>
                        <a:rPr lang="en-US" sz="1000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5</a:t>
                      </a:r>
                      <a:r>
                        <a:rPr lang="en-US" sz="1000" u="none" strike="noStrike" cap="non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 Business Days</a:t>
                      </a:r>
                      <a:endParaRPr sz="1000" u="none" strike="noStrike" cap="non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02</a:t>
                      </a:r>
                      <a:r>
                        <a:rPr lang="en-US" sz="1000" u="none" strike="noStrike" cap="non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/</a:t>
                      </a:r>
                      <a:r>
                        <a:rPr lang="en-US" sz="1000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Sep</a:t>
                      </a:r>
                      <a:endParaRPr sz="1000" u="none" strike="noStrike" cap="non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09</a:t>
                      </a:r>
                      <a:r>
                        <a:rPr lang="en-US" sz="1000" u="none" strike="noStrike" cap="non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/</a:t>
                      </a:r>
                      <a:r>
                        <a:rPr lang="en-US" sz="1000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Sep</a:t>
                      </a:r>
                      <a:endParaRPr sz="1000" u="none" strike="noStrike" cap="non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3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Link Sent to [</a:t>
                      </a:r>
                      <a:r>
                        <a:rPr lang="en-US" sz="1000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Harte Hanks</a:t>
                      </a:r>
                      <a:r>
                        <a:rPr lang="en-US" sz="1000" u="none" strike="noStrike" cap="non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] for Review</a:t>
                      </a:r>
                      <a:endParaRPr sz="1000" u="none" strike="noStrike" cap="non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+1 Business Days</a:t>
                      </a:r>
                      <a:endParaRPr sz="1000" u="none" strike="noStrike" cap="non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10</a:t>
                      </a:r>
                      <a:r>
                        <a:rPr lang="en-US" sz="1000" u="none" strike="noStrike" cap="non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/</a:t>
                      </a:r>
                      <a:r>
                        <a:rPr lang="en-US" sz="1000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Sep</a:t>
                      </a:r>
                      <a:endParaRPr sz="1000" u="none" strike="noStrike" cap="non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11</a:t>
                      </a:r>
                      <a:r>
                        <a:rPr lang="en-US" sz="1000" u="none" strike="noStrike" cap="non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/</a:t>
                      </a:r>
                      <a:r>
                        <a:rPr lang="en-US" sz="1000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Sep</a:t>
                      </a:r>
                      <a:endParaRPr sz="1000" u="none" strike="noStrike" cap="non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i="1" u="none" strike="noStrike" cap="none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OPTIONAL:</a:t>
                      </a:r>
                      <a:r>
                        <a:rPr lang="en-US" sz="1000" u="none" strike="noStrike" cap="none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 Link Approved for Soft Launch</a:t>
                      </a:r>
                      <a:endParaRPr sz="1000" u="none" strike="noStrike" cap="none">
                        <a:solidFill>
                          <a:srgbClr val="03B4F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+2 Business Days</a:t>
                      </a:r>
                      <a:endParaRPr sz="1000" u="none" strike="noStrike" cap="none">
                        <a:solidFill>
                          <a:srgbClr val="03B4F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11</a:t>
                      </a:r>
                      <a:r>
                        <a:rPr lang="en-US" sz="1000" u="none" strike="noStrike" cap="none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/</a:t>
                      </a:r>
                      <a:r>
                        <a:rPr lang="en-US" sz="1000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Sep</a:t>
                      </a:r>
                      <a:endParaRPr sz="1000" u="none" strike="noStrike" cap="none">
                        <a:solidFill>
                          <a:srgbClr val="03B4F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15</a:t>
                      </a:r>
                      <a:r>
                        <a:rPr lang="en-US" sz="1000" u="none" strike="noStrike" cap="none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/</a:t>
                      </a:r>
                      <a:r>
                        <a:rPr lang="en-US" sz="1000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Sep</a:t>
                      </a:r>
                      <a:endParaRPr sz="1000" u="none" strike="noStrike" cap="none">
                        <a:solidFill>
                          <a:srgbClr val="03B4F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929A9E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Soft Launch</a:t>
                      </a:r>
                      <a:endParaRPr sz="1000" u="none" strike="noStrike" cap="none">
                        <a:solidFill>
                          <a:srgbClr val="929A9E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929A9E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+2 Business Days</a:t>
                      </a:r>
                      <a:endParaRPr sz="1000" u="none" strike="noStrike" cap="none">
                        <a:solidFill>
                          <a:srgbClr val="929A9E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929A9E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17</a:t>
                      </a:r>
                      <a:r>
                        <a:rPr lang="en-US" sz="1000" u="none" strike="noStrike" cap="none">
                          <a:solidFill>
                            <a:srgbClr val="929A9E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/</a:t>
                      </a:r>
                      <a:r>
                        <a:rPr lang="en-US" sz="1000">
                          <a:solidFill>
                            <a:srgbClr val="929A9E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Sep</a:t>
                      </a:r>
                      <a:endParaRPr sz="1000" u="none" strike="noStrike" cap="none">
                        <a:solidFill>
                          <a:srgbClr val="929A9E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929A9E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19</a:t>
                      </a:r>
                      <a:r>
                        <a:rPr lang="en-US" sz="1000" u="none" strike="noStrike" cap="none">
                          <a:solidFill>
                            <a:srgbClr val="929A9E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/</a:t>
                      </a:r>
                      <a:r>
                        <a:rPr lang="en-US" sz="1000">
                          <a:solidFill>
                            <a:srgbClr val="929A9E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Sep</a:t>
                      </a:r>
                      <a:endParaRPr sz="1000" u="none" strike="noStrike" cap="none">
                        <a:solidFill>
                          <a:srgbClr val="929A9E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Check Soft Launch Data</a:t>
                      </a:r>
                      <a:endParaRPr sz="1000" u="none" strike="noStrike" cap="non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+1 Business Day</a:t>
                      </a:r>
                      <a:endParaRPr sz="1000" u="none" strike="noStrike" cap="non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22</a:t>
                      </a:r>
                      <a:r>
                        <a:rPr lang="en-US" sz="1000" u="none" strike="noStrike" cap="non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/</a:t>
                      </a:r>
                      <a:r>
                        <a:rPr lang="en-US" sz="1000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Sep</a:t>
                      </a:r>
                      <a:endParaRPr sz="1000" u="none" strike="noStrike" cap="non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23</a:t>
                      </a:r>
                      <a:r>
                        <a:rPr lang="en-US" sz="1000" u="none" strike="noStrike" cap="non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/</a:t>
                      </a:r>
                      <a:r>
                        <a:rPr lang="en-US" sz="1000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Sep</a:t>
                      </a:r>
                      <a:endParaRPr sz="1000" u="none" strike="noStrike" cap="non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i="1" u="none" strike="noStrike" cap="none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OPTIONAL:</a:t>
                      </a:r>
                      <a:r>
                        <a:rPr lang="en-US" sz="1000" u="none" strike="noStrike" cap="none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 Check Soft Launch Data</a:t>
                      </a:r>
                      <a:endParaRPr sz="1000" u="none" strike="noStrike" cap="none">
                        <a:solidFill>
                          <a:srgbClr val="03B4F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+1 Business Day</a:t>
                      </a:r>
                      <a:endParaRPr sz="1000" u="none" strike="noStrike" cap="none">
                        <a:solidFill>
                          <a:srgbClr val="03B4F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24</a:t>
                      </a:r>
                      <a:r>
                        <a:rPr lang="en-US" sz="1000" u="none" strike="noStrike" cap="none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/</a:t>
                      </a:r>
                      <a:r>
                        <a:rPr lang="en-US" sz="1000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Sep</a:t>
                      </a:r>
                      <a:endParaRPr sz="1000" u="none" strike="noStrike" cap="none">
                        <a:solidFill>
                          <a:srgbClr val="03B4F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25</a:t>
                      </a:r>
                      <a:r>
                        <a:rPr lang="en-US" sz="1000" u="none" strike="noStrike" cap="none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/</a:t>
                      </a:r>
                      <a:r>
                        <a:rPr lang="en-US" sz="1000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Sep</a:t>
                      </a:r>
                      <a:endParaRPr sz="1000" u="none" strike="noStrike" cap="none">
                        <a:solidFill>
                          <a:srgbClr val="03B4F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929A9E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Fielding + Scrubbing</a:t>
                      </a:r>
                      <a:endParaRPr sz="1000" u="none" strike="noStrike" cap="none">
                        <a:solidFill>
                          <a:srgbClr val="929A9E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929A9E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+12 Business Days</a:t>
                      </a:r>
                      <a:endParaRPr sz="1000" u="none" strike="noStrike" cap="none">
                        <a:solidFill>
                          <a:srgbClr val="929A9E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929A9E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26</a:t>
                      </a:r>
                      <a:r>
                        <a:rPr lang="en-US" sz="1000" u="none" strike="noStrike" cap="none">
                          <a:solidFill>
                            <a:srgbClr val="929A9E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/</a:t>
                      </a:r>
                      <a:r>
                        <a:rPr lang="en-US" sz="1000">
                          <a:solidFill>
                            <a:srgbClr val="929A9E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Sep</a:t>
                      </a:r>
                      <a:endParaRPr sz="1000" u="none" strike="noStrike" cap="none">
                        <a:solidFill>
                          <a:srgbClr val="929A9E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929A9E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10</a:t>
                      </a:r>
                      <a:r>
                        <a:rPr lang="en-US" sz="1000" u="none" strike="noStrike" cap="none">
                          <a:solidFill>
                            <a:srgbClr val="929A9E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/</a:t>
                      </a:r>
                      <a:r>
                        <a:rPr lang="en-US" sz="1000">
                          <a:solidFill>
                            <a:srgbClr val="929A9E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Oct</a:t>
                      </a:r>
                      <a:endParaRPr sz="1000" u="none" strike="noStrike" cap="none">
                        <a:solidFill>
                          <a:srgbClr val="929A9E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Report Delivered to [</a:t>
                      </a:r>
                      <a:r>
                        <a:rPr lang="en-US" sz="1000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Harte Hanks</a:t>
                      </a:r>
                      <a:r>
                        <a:rPr lang="en-US" sz="1000" u="none" strike="noStrike" cap="non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]</a:t>
                      </a:r>
                      <a:endParaRPr sz="1000" u="none" strike="noStrike" cap="non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+1</a:t>
                      </a:r>
                      <a:r>
                        <a:rPr lang="en-US" sz="1000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5</a:t>
                      </a:r>
                      <a:r>
                        <a:rPr lang="en-US" sz="1000" u="none" strike="noStrike" cap="non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 Business Days</a:t>
                      </a:r>
                      <a:endParaRPr sz="1000" u="none" strike="noStrike" cap="non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13</a:t>
                      </a:r>
                      <a:r>
                        <a:rPr lang="en-US" sz="1000" u="none" strike="noStrike" cap="non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/</a:t>
                      </a:r>
                      <a:r>
                        <a:rPr lang="en-US" sz="1000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Oct</a:t>
                      </a:r>
                      <a:endParaRPr sz="1000" u="none" strike="noStrike" cap="non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03</a:t>
                      </a:r>
                      <a:r>
                        <a:rPr lang="en-US" sz="1000" u="none" strike="noStrike" cap="non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/</a:t>
                      </a:r>
                      <a:r>
                        <a:rPr lang="en-US" sz="1000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Nov</a:t>
                      </a:r>
                      <a:endParaRPr sz="1000" u="none" strike="noStrike" cap="non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21DBAA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Report Presentation</a:t>
                      </a:r>
                      <a:endParaRPr sz="1000" u="none" strike="noStrike" cap="none">
                        <a:solidFill>
                          <a:srgbClr val="21DBAA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21DBAA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Anytime post delivery</a:t>
                      </a:r>
                      <a:endParaRPr sz="1000" u="none" strike="noStrike" cap="none">
                        <a:solidFill>
                          <a:srgbClr val="21DBAA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535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Follow-Ups</a:t>
                      </a:r>
                      <a:endParaRPr sz="1000" u="none" strike="noStrike" cap="none">
                        <a:solidFill>
                          <a:srgbClr val="03B4F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Up to 3 rounds of deck feedback/revisions</a:t>
                      </a:r>
                      <a:endParaRPr sz="1000" u="none" strike="noStrike" cap="none">
                        <a:solidFill>
                          <a:srgbClr val="21DBAA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27425" marB="27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08" name="Google Shape;108;p11"/>
          <p:cNvSpPr txBox="1">
            <a:spLocks noGrp="1"/>
          </p:cNvSpPr>
          <p:nvPr>
            <p:ph type="title"/>
          </p:nvPr>
        </p:nvSpPr>
        <p:spPr>
          <a:xfrm>
            <a:off x="2263850" y="152400"/>
            <a:ext cx="6862800" cy="13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3600">
                <a:solidFill>
                  <a:schemeClr val="dk1"/>
                </a:solidFill>
              </a:rPr>
              <a:t>Timeline</a:t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AFC3BE-7D8A-B4D6-87E3-CD5020900080}"/>
              </a:ext>
            </a:extLst>
          </p:cNvPr>
          <p:cNvSpPr/>
          <p:nvPr/>
        </p:nvSpPr>
        <p:spPr>
          <a:xfrm>
            <a:off x="5943707" y="3120081"/>
            <a:ext cx="1130643" cy="61783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Qualtrics ">
      <a:dk1>
        <a:srgbClr val="000000"/>
      </a:dk1>
      <a:lt1>
        <a:srgbClr val="FFFFFF"/>
      </a:lt1>
      <a:dk2>
        <a:srgbClr val="A2AAAD"/>
      </a:dk2>
      <a:lt2>
        <a:srgbClr val="E7E6E6"/>
      </a:lt2>
      <a:accent1>
        <a:srgbClr val="97D700"/>
      </a:accent1>
      <a:accent2>
        <a:srgbClr val="2DCCD3"/>
      </a:accent2>
      <a:accent3>
        <a:srgbClr val="147BD1"/>
      </a:accent3>
      <a:accent4>
        <a:srgbClr val="464E7E"/>
      </a:accent4>
      <a:accent5>
        <a:srgbClr val="D6001C"/>
      </a:accent5>
      <a:accent6>
        <a:srgbClr val="FFCD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549</Words>
  <Application>Microsoft Macintosh PowerPoint</Application>
  <PresentationFormat>Widescreen</PresentationFormat>
  <Paragraphs>159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Helvetica Neue</vt:lpstr>
      <vt:lpstr>Roboto</vt:lpstr>
      <vt:lpstr>Arial</vt:lpstr>
      <vt:lpstr>Helvetica Neue Light</vt:lpstr>
      <vt:lpstr>Roboto Light</vt:lpstr>
      <vt:lpstr>Calibri</vt:lpstr>
      <vt:lpstr>Office Theme</vt:lpstr>
      <vt:lpstr>Name of the study</vt:lpstr>
      <vt:lpstr>Meet the Team</vt:lpstr>
      <vt:lpstr>Research Objectives</vt:lpstr>
      <vt:lpstr>Sample Confirmation</vt:lpstr>
      <vt:lpstr>Timeline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Jose Antonio Millan Jaramillo</cp:lastModifiedBy>
  <cp:revision>1</cp:revision>
  <dcterms:modified xsi:type="dcterms:W3CDTF">2025-08-27T15:35:12Z</dcterms:modified>
</cp:coreProperties>
</file>