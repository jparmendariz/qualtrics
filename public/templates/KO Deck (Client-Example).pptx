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6858000" cx="12192000"/>
  <p:notesSz cx="6858000" cy="9144000"/>
  <p:embeddedFontLst>
    <p:embeddedFont>
      <p:font typeface="Roboto"/>
      <p:regular r:id="rId12"/>
      <p:bold r:id="rId13"/>
      <p:italic r:id="rId14"/>
      <p:boldItalic r:id="rId15"/>
    </p:embeddedFont>
    <p:embeddedFont>
      <p:font typeface="Helvetica Neue"/>
      <p:regular r:id="rId16"/>
      <p:bold r:id="rId17"/>
      <p:italic r:id="rId18"/>
      <p:boldItalic r:id="rId19"/>
    </p:embeddedFont>
    <p:embeddedFont>
      <p:font typeface="Roboto Light"/>
      <p:regular r:id="rId20"/>
      <p:bold r:id="rId21"/>
      <p:italic r:id="rId22"/>
      <p:boldItalic r:id="rId23"/>
    </p:embeddedFont>
    <p:embeddedFont>
      <p:font typeface="Helvetica Neue Ligh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824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2328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jtbl0ojrUWXSSn8eKP4KIAbkGo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AC21C7A-938C-4BCA-AD42-FD77946D1052}">
  <a:tblStyle styleId="{2AC21C7A-938C-4BCA-AD42-FD77946D105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824" orient="horz"/>
        <p:guide pos="3840"/>
        <p:guide pos="2328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Light-regular.fntdata"/><Relationship Id="rId22" Type="http://schemas.openxmlformats.org/officeDocument/2006/relationships/font" Target="fonts/RobotoLight-italic.fntdata"/><Relationship Id="rId21" Type="http://schemas.openxmlformats.org/officeDocument/2006/relationships/font" Target="fonts/RobotoLight-bold.fntdata"/><Relationship Id="rId24" Type="http://schemas.openxmlformats.org/officeDocument/2006/relationships/font" Target="fonts/HelveticaNeueLight-regular.fntdata"/><Relationship Id="rId23" Type="http://schemas.openxmlformats.org/officeDocument/2006/relationships/font" Target="fonts/RobotoLigh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HelveticaNeueLight-italic.fntdata"/><Relationship Id="rId25" Type="http://schemas.openxmlformats.org/officeDocument/2006/relationships/font" Target="fonts/HelveticaNeueLight-bold.fntdata"/><Relationship Id="rId28" Type="http://customschemas.google.com/relationships/presentationmetadata" Target="metadata"/><Relationship Id="rId27" Type="http://schemas.openxmlformats.org/officeDocument/2006/relationships/font" Target="fonts/HelveticaNeueLigh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7" Type="http://schemas.openxmlformats.org/officeDocument/2006/relationships/font" Target="fonts/HelveticaNeue-bold.fntdata"/><Relationship Id="rId16" Type="http://schemas.openxmlformats.org/officeDocument/2006/relationships/font" Target="fonts/HelveticaNeue-regular.fntdata"/><Relationship Id="rId19" Type="http://schemas.openxmlformats.org/officeDocument/2006/relationships/font" Target="fonts/HelveticaNeue-boldItalic.fntdata"/><Relationship Id="rId18" Type="http://schemas.openxmlformats.org/officeDocument/2006/relationships/font" Target="fonts/HelveticaNeue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" name="Google Shape;6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Survey Draft: https://docs.google.com/document/d/1Qd5LP6gz6L-w3kblLsz6bQy7e3b_zdlXD7TuUnJAjH4/edit?tab=t.0#heading=h.f584edhu5g1s</a:t>
            </a:r>
            <a:endParaRPr/>
          </a:p>
        </p:txBody>
      </p:sp>
      <p:sp>
        <p:nvSpPr>
          <p:cNvPr id="107" name="Google Shape;107;p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/>
          <p:nvPr/>
        </p:nvSpPr>
        <p:spPr>
          <a:xfrm>
            <a:off x="8161" y="1"/>
            <a:ext cx="12199867" cy="716842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7700" lIns="67700" spcFirstLastPara="1" rIns="67700" wrap="square" tIns="67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t/>
            </a:r>
            <a:endParaRPr b="0" i="0" sz="426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6"/>
          <p:cNvSpPr txBox="1"/>
          <p:nvPr>
            <p:ph idx="12" type="sldNum"/>
          </p:nvPr>
        </p:nvSpPr>
        <p:spPr>
          <a:xfrm>
            <a:off x="912665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6"/>
          <p:cNvSpPr/>
          <p:nvPr/>
        </p:nvSpPr>
        <p:spPr>
          <a:xfrm>
            <a:off x="0" y="2311943"/>
            <a:ext cx="12192000" cy="4856480"/>
          </a:xfrm>
          <a:prstGeom prst="rect">
            <a:avLst/>
          </a:prstGeom>
          <a:gradFill>
            <a:gsLst>
              <a:gs pos="0">
                <a:srgbClr val="21DBAA"/>
              </a:gs>
              <a:gs pos="33000">
                <a:srgbClr val="03B4F0"/>
              </a:gs>
              <a:gs pos="70000">
                <a:srgbClr val="0768DD"/>
              </a:gs>
              <a:gs pos="99000">
                <a:srgbClr val="5F19E4"/>
              </a:gs>
              <a:gs pos="100000">
                <a:srgbClr val="5F19E4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21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311943"/>
            <a:ext cx="698500" cy="6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6279" y="1459954"/>
            <a:ext cx="1940001" cy="553141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6"/>
          <p:cNvSpPr txBox="1"/>
          <p:nvPr/>
        </p:nvSpPr>
        <p:spPr>
          <a:xfrm>
            <a:off x="2782957" y="1516240"/>
            <a:ext cx="327992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6"/>
          <p:cNvSpPr txBox="1"/>
          <p:nvPr>
            <p:ph idx="1" type="body"/>
          </p:nvPr>
        </p:nvSpPr>
        <p:spPr>
          <a:xfrm>
            <a:off x="670219" y="4637095"/>
            <a:ext cx="9310098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i="0" sz="4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000"/>
              <a:buNone/>
              <a:defRPr sz="3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None/>
              <a:defRPr sz="15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7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/>
          <p:nvPr>
            <p:ph type="title"/>
          </p:nvPr>
        </p:nvSpPr>
        <p:spPr>
          <a:xfrm>
            <a:off x="847164" y="2633663"/>
            <a:ext cx="10500285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/>
        </p:nvSpPr>
        <p:spPr>
          <a:xfrm>
            <a:off x="10751120" y="351532"/>
            <a:ext cx="3240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9"/>
          <p:cNvSpPr txBox="1"/>
          <p:nvPr>
            <p:ph idx="12" type="sldNum"/>
          </p:nvPr>
        </p:nvSpPr>
        <p:spPr>
          <a:xfrm>
            <a:off x="912665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" name="Google Shape;29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05521" y="407181"/>
            <a:ext cx="1075639" cy="306111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9"/>
          <p:cNvSpPr/>
          <p:nvPr/>
        </p:nvSpPr>
        <p:spPr>
          <a:xfrm>
            <a:off x="10095499" y="299262"/>
            <a:ext cx="653143" cy="52194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6E9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client logo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9"/>
          <p:cNvSpPr/>
          <p:nvPr/>
        </p:nvSpPr>
        <p:spPr>
          <a:xfrm>
            <a:off x="0" y="0"/>
            <a:ext cx="2964873" cy="6858000"/>
          </a:xfrm>
          <a:prstGeom prst="rect">
            <a:avLst/>
          </a:prstGeom>
          <a:gradFill>
            <a:gsLst>
              <a:gs pos="0">
                <a:srgbClr val="21DBAA"/>
              </a:gs>
              <a:gs pos="33000">
                <a:srgbClr val="03B4F0"/>
              </a:gs>
              <a:gs pos="70000">
                <a:srgbClr val="0768DD"/>
              </a:gs>
              <a:gs pos="99000">
                <a:srgbClr val="5F19E4"/>
              </a:gs>
              <a:gs pos="100000">
                <a:srgbClr val="5F19E4"/>
              </a:gs>
            </a:gsLst>
            <a:lin ang="27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4"/>
              <a:buFont typeface="Arial"/>
              <a:buNone/>
            </a:pPr>
            <a:r>
              <a:t/>
            </a:r>
            <a:endParaRPr b="0" i="0" sz="71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9"/>
          <p:cNvSpPr/>
          <p:nvPr/>
        </p:nvSpPr>
        <p:spPr>
          <a:xfrm flipH="1">
            <a:off x="1934456" y="-9427"/>
            <a:ext cx="10257543" cy="6880225"/>
          </a:xfrm>
          <a:prstGeom prst="round1Rect">
            <a:avLst>
              <a:gd fmla="val 102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9"/>
          <p:cNvSpPr txBox="1"/>
          <p:nvPr/>
        </p:nvSpPr>
        <p:spPr>
          <a:xfrm>
            <a:off x="10972800" y="351532"/>
            <a:ext cx="3240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" name="Google Shape;3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7246" y="411857"/>
            <a:ext cx="872189" cy="248682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9"/>
          <p:cNvSpPr/>
          <p:nvPr/>
        </p:nvSpPr>
        <p:spPr>
          <a:xfrm>
            <a:off x="10319657" y="274832"/>
            <a:ext cx="653143" cy="52194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6E9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client logo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45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idx="12" type="sldNum"/>
          </p:nvPr>
        </p:nvSpPr>
        <p:spPr>
          <a:xfrm>
            <a:off x="912665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457200" y="6356350"/>
            <a:ext cx="745988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ecutive summary w/o icons">
  <p:cSld name="Executive summary w/o icon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1"/>
          <p:cNvSpPr txBox="1"/>
          <p:nvPr>
            <p:ph type="title"/>
          </p:nvPr>
        </p:nvSpPr>
        <p:spPr>
          <a:xfrm>
            <a:off x="457200" y="152401"/>
            <a:ext cx="8385858" cy="990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39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1"/>
          <p:cNvSpPr txBox="1"/>
          <p:nvPr>
            <p:ph idx="12" type="sldNum"/>
          </p:nvPr>
        </p:nvSpPr>
        <p:spPr>
          <a:xfrm>
            <a:off x="912665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457200" y="1330911"/>
            <a:ext cx="11412655" cy="48773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1" type="ftr"/>
          </p:nvPr>
        </p:nvSpPr>
        <p:spPr>
          <a:xfrm>
            <a:off x="457200" y="6356350"/>
            <a:ext cx="745988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d title slide alt" showMasterSp="0">
  <p:cSld name="red title slide al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/>
          <p:nvPr>
            <p:ph idx="12" type="sldNum"/>
          </p:nvPr>
        </p:nvSpPr>
        <p:spPr>
          <a:xfrm>
            <a:off x="119307" y="7107251"/>
            <a:ext cx="194015" cy="164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  <a:defRPr b="0" i="0" sz="10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  <a:defRPr b="0" i="0" sz="10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  <a:defRPr b="0" i="0" sz="10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  <a:defRPr b="0" i="0" sz="10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  <a:defRPr b="0" i="0" sz="10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  <a:defRPr b="0" i="0" sz="10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  <a:defRPr b="0" i="0" sz="10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  <a:defRPr b="0" i="0" sz="10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  <a:defRPr b="0" i="0" sz="10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22"/>
          <p:cNvSpPr/>
          <p:nvPr/>
        </p:nvSpPr>
        <p:spPr>
          <a:xfrm>
            <a:off x="247509" y="233846"/>
            <a:ext cx="11696984" cy="6390315"/>
          </a:xfrm>
          <a:prstGeom prst="rect">
            <a:avLst/>
          </a:prstGeom>
          <a:solidFill>
            <a:srgbClr val="5F19E4"/>
          </a:solidFill>
          <a:ln>
            <a:noFill/>
          </a:ln>
        </p:spPr>
        <p:txBody>
          <a:bodyPr anchorCtr="0" anchor="ctr" bIns="67675" lIns="67675" spcFirstLastPara="1" rIns="67675" wrap="square" tIns="67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5"/>
              <a:buFont typeface="Arial"/>
              <a:buNone/>
            </a:pPr>
            <a:r>
              <a:t/>
            </a:r>
            <a:endParaRPr b="0" i="0" sz="426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" name="Google Shape;47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86337" y="436605"/>
            <a:ext cx="1003945" cy="350108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2"/>
          <p:cNvSpPr txBox="1"/>
          <p:nvPr>
            <p:ph idx="1" type="body"/>
          </p:nvPr>
        </p:nvSpPr>
        <p:spPr>
          <a:xfrm>
            <a:off x="1074231" y="4157849"/>
            <a:ext cx="10482593" cy="180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803973" lvl="0" marL="457200" algn="l">
              <a:lnSpc>
                <a:spcPct val="105893"/>
              </a:lnSpc>
              <a:spcBef>
                <a:spcPts val="0"/>
              </a:spcBef>
              <a:spcAft>
                <a:spcPts val="0"/>
              </a:spcAft>
              <a:buSzPts val="9061"/>
              <a:buChar char="•"/>
              <a:defRPr b="0" i="0" sz="906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ecutive summary w/ icons">
  <p:cSld name="Executive summary w/ icon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152401"/>
            <a:ext cx="8385858" cy="990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393F"/>
              </a:buClr>
              <a:buSzPts val="32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2" type="sldNum"/>
          </p:nvPr>
        </p:nvSpPr>
        <p:spPr>
          <a:xfrm>
            <a:off x="912665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23"/>
          <p:cNvSpPr txBox="1"/>
          <p:nvPr>
            <p:ph idx="1" type="body"/>
          </p:nvPr>
        </p:nvSpPr>
        <p:spPr>
          <a:xfrm>
            <a:off x="1684421" y="1330911"/>
            <a:ext cx="957730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3"/>
          <p:cNvSpPr/>
          <p:nvPr>
            <p:ph idx="2" type="pic"/>
          </p:nvPr>
        </p:nvSpPr>
        <p:spPr>
          <a:xfrm>
            <a:off x="457200" y="1330911"/>
            <a:ext cx="914400" cy="9144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23"/>
          <p:cNvSpPr/>
          <p:nvPr>
            <p:ph idx="3" type="pic"/>
          </p:nvPr>
        </p:nvSpPr>
        <p:spPr>
          <a:xfrm>
            <a:off x="457200" y="2550111"/>
            <a:ext cx="914400" cy="9144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23"/>
          <p:cNvSpPr txBox="1"/>
          <p:nvPr>
            <p:ph idx="4" type="body"/>
          </p:nvPr>
        </p:nvSpPr>
        <p:spPr>
          <a:xfrm>
            <a:off x="1684421" y="2550111"/>
            <a:ext cx="957730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3"/>
          <p:cNvSpPr/>
          <p:nvPr>
            <p:ph idx="5" type="pic"/>
          </p:nvPr>
        </p:nvSpPr>
        <p:spPr>
          <a:xfrm>
            <a:off x="457200" y="3843630"/>
            <a:ext cx="914400" cy="9144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23"/>
          <p:cNvSpPr txBox="1"/>
          <p:nvPr>
            <p:ph idx="6" type="body"/>
          </p:nvPr>
        </p:nvSpPr>
        <p:spPr>
          <a:xfrm>
            <a:off x="1684421" y="3843630"/>
            <a:ext cx="957730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3"/>
          <p:cNvSpPr/>
          <p:nvPr>
            <p:ph idx="7" type="pic"/>
          </p:nvPr>
        </p:nvSpPr>
        <p:spPr>
          <a:xfrm>
            <a:off x="457200" y="5137150"/>
            <a:ext cx="914400" cy="9144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23"/>
          <p:cNvSpPr txBox="1"/>
          <p:nvPr>
            <p:ph idx="8" type="body"/>
          </p:nvPr>
        </p:nvSpPr>
        <p:spPr>
          <a:xfrm>
            <a:off x="1684421" y="5137150"/>
            <a:ext cx="957730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1" type="ftr"/>
          </p:nvPr>
        </p:nvSpPr>
        <p:spPr>
          <a:xfrm>
            <a:off x="457200" y="6356350"/>
            <a:ext cx="745988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showMasterSp="0">
  <p:cSld name="TITLE_AND_BODY_1"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8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64" name="Google Shape;64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72800" y="219456"/>
            <a:ext cx="999744" cy="287426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5"/>
          <p:cNvSpPr/>
          <p:nvPr/>
        </p:nvSpPr>
        <p:spPr>
          <a:xfrm>
            <a:off x="-53800" y="6710000"/>
            <a:ext cx="12304500" cy="228900"/>
          </a:xfrm>
          <a:prstGeom prst="rect">
            <a:avLst/>
          </a:prstGeom>
          <a:gradFill>
            <a:gsLst>
              <a:gs pos="0">
                <a:srgbClr val="27D79A"/>
              </a:gs>
              <a:gs pos="36000">
                <a:srgbClr val="03B4F0"/>
              </a:gs>
              <a:gs pos="70000">
                <a:srgbClr val="0768DD"/>
              </a:gs>
              <a:gs pos="100000">
                <a:srgbClr val="5F1AE5"/>
              </a:gs>
            </a:gsLst>
            <a:lin ang="2700006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5"/>
          <p:cNvSpPr txBox="1"/>
          <p:nvPr/>
        </p:nvSpPr>
        <p:spPr>
          <a:xfrm>
            <a:off x="672667" y="1990300"/>
            <a:ext cx="9816300" cy="42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457199" y="152401"/>
            <a:ext cx="9509760" cy="990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393F"/>
              </a:buClr>
              <a:buSzPts val="3200"/>
              <a:buFont typeface="Helvetica Neue"/>
              <a:buNone/>
              <a:defRPr b="0" i="0" sz="3200" u="none" cap="none" strike="noStrike">
                <a:solidFill>
                  <a:srgbClr val="2E393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457199" y="1371600"/>
            <a:ext cx="1141265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DBAA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rgbClr val="2E393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1DBAA"/>
              </a:buClr>
              <a:buSzPts val="1600"/>
              <a:buFont typeface="Helvetica Neue Light"/>
              <a:buChar char="•"/>
              <a:defRPr b="0" i="0" sz="1600" u="none" cap="none" strike="noStrike">
                <a:solidFill>
                  <a:srgbClr val="2E393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1DBAA"/>
              </a:buClr>
              <a:buSzPts val="1400"/>
              <a:buFont typeface="Helvetica Neue Light"/>
              <a:buChar char="•"/>
              <a:defRPr b="0" i="0" sz="1400" u="none" cap="none" strike="noStrike">
                <a:solidFill>
                  <a:srgbClr val="2E393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1DBAA"/>
              </a:buClr>
              <a:buSzPts val="1400"/>
              <a:buFont typeface="Helvetica Neue Light"/>
              <a:buChar char="•"/>
              <a:defRPr b="0" i="0" sz="1400" u="none" cap="none" strike="noStrike">
                <a:solidFill>
                  <a:srgbClr val="2E393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1DBAA"/>
              </a:buClr>
              <a:buSzPts val="1400"/>
              <a:buFont typeface="Helvetica Neue Light"/>
              <a:buChar char="•"/>
              <a:defRPr b="0" i="0" sz="1400" u="none" cap="none" strike="noStrike">
                <a:solidFill>
                  <a:srgbClr val="2E393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1DBAA"/>
              </a:buClr>
              <a:buSzPts val="1400"/>
              <a:buFont typeface="Helvetica Neue Light"/>
              <a:buChar char="•"/>
              <a:defRPr b="0" i="0" sz="1400" u="none" cap="none" strike="noStrike">
                <a:solidFill>
                  <a:srgbClr val="2E393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1DBAA"/>
              </a:buClr>
              <a:buSzPts val="1400"/>
              <a:buFont typeface="Helvetica Neue Light"/>
              <a:buChar char="•"/>
              <a:defRPr b="0" i="0" sz="1400" u="none" cap="none" strike="noStrike">
                <a:solidFill>
                  <a:srgbClr val="2E393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1DBAA"/>
              </a:buClr>
              <a:buSzPts val="1400"/>
              <a:buFont typeface="Helvetica Neue Light"/>
              <a:buChar char="•"/>
              <a:defRPr b="0" i="0" sz="1400" u="none" cap="none" strike="noStrike">
                <a:solidFill>
                  <a:srgbClr val="2E393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1DBAA"/>
              </a:buClr>
              <a:buSzPts val="1400"/>
              <a:buFont typeface="Helvetica Neue Light"/>
              <a:buChar char="•"/>
              <a:defRPr b="0" i="0" sz="1400" u="none" cap="none" strike="noStrike">
                <a:solidFill>
                  <a:srgbClr val="2E393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2" type="sldNum"/>
          </p:nvPr>
        </p:nvSpPr>
        <p:spPr>
          <a:xfrm>
            <a:off x="912665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" name="Google Shape;13;p15"/>
          <p:cNvSpPr txBox="1"/>
          <p:nvPr/>
        </p:nvSpPr>
        <p:spPr>
          <a:xfrm>
            <a:off x="10972800" y="351532"/>
            <a:ext cx="3240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E393F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5"/>
          <p:cNvSpPr txBox="1"/>
          <p:nvPr>
            <p:ph idx="11" type="ftr"/>
          </p:nvPr>
        </p:nvSpPr>
        <p:spPr>
          <a:xfrm>
            <a:off x="4572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5" name="Google Shape;15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237246" y="411857"/>
            <a:ext cx="872189" cy="24868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5"/>
          <p:cNvSpPr/>
          <p:nvPr/>
        </p:nvSpPr>
        <p:spPr>
          <a:xfrm>
            <a:off x="10319657" y="274832"/>
            <a:ext cx="653143" cy="52194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6E9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client logo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96">
          <p15:clr>
            <a:srgbClr val="F26B43"/>
          </p15:clr>
        </p15:guide>
        <p15:guide id="2" pos="7584">
          <p15:clr>
            <a:srgbClr val="F26B43"/>
          </p15:clr>
        </p15:guide>
        <p15:guide id="3" orient="horz" pos="96">
          <p15:clr>
            <a:srgbClr val="F26B43"/>
          </p15:clr>
        </p15:guide>
        <p15:guide id="4" orient="horz" pos="4248">
          <p15:clr>
            <a:srgbClr val="F26B43"/>
          </p15:clr>
        </p15:guide>
        <p15:guide id="5" pos="288">
          <p15:clr>
            <a:srgbClr val="F26B43"/>
          </p15:clr>
        </p15:guide>
        <p15:guide id="6" orient="horz" pos="720">
          <p15:clr>
            <a:srgbClr val="F26B43"/>
          </p15:clr>
        </p15:guide>
        <p15:guide id="7" orient="horz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ocs.google.com/document/d/1Qd5LP6gz6L-w3kblLsz6bQy7e3b_zdlXD7TuUnJAjH4/edit?tab=t.0#heading=h.f584edhu5g1s" TargetMode="External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"/>
          <p:cNvSpPr txBox="1"/>
          <p:nvPr>
            <p:ph idx="12" type="sldNum"/>
          </p:nvPr>
        </p:nvSpPr>
        <p:spPr>
          <a:xfrm>
            <a:off x="9126655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1"/>
          <p:cNvSpPr txBox="1"/>
          <p:nvPr/>
        </p:nvSpPr>
        <p:spPr>
          <a:xfrm>
            <a:off x="578925" y="5432950"/>
            <a:ext cx="347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23/September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"/>
          <p:cNvSpPr txBox="1"/>
          <p:nvPr>
            <p:ph idx="4294967295" type="ctrTitle"/>
          </p:nvPr>
        </p:nvSpPr>
        <p:spPr>
          <a:xfrm>
            <a:off x="338775" y="4016425"/>
            <a:ext cx="10361100" cy="14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Qual52564-0904-BrandB2B</a:t>
            </a:r>
            <a:endParaRPr b="0" i="0" sz="60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4" name="Google Shape;7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08436" y="1476625"/>
            <a:ext cx="26289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" name="Google Shape;79;p4"/>
          <p:cNvGraphicFramePr/>
          <p:nvPr/>
        </p:nvGraphicFramePr>
        <p:xfrm>
          <a:off x="2526875" y="1660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{2AC21C7A-938C-4BCA-AD42-FD77946D1052}</a:tableStyleId>
              </a:tblPr>
              <a:tblGrid>
                <a:gridCol w="3158650"/>
                <a:gridCol w="2595450"/>
                <a:gridCol w="3244775"/>
              </a:tblGrid>
              <a:tr h="7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Team Member</a:t>
                      </a:r>
                      <a:endParaRPr b="1" sz="2000" u="none" cap="none" strike="noStrike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Office</a:t>
                      </a:r>
                      <a:endParaRPr b="1" sz="2000" u="none" cap="none" strike="noStrike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Role</a:t>
                      </a:r>
                      <a:endParaRPr b="1" sz="2000" u="none" cap="none" strike="noStrike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729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Anna Wallace</a:t>
                      </a:r>
                      <a:endParaRPr b="1" sz="2000" u="none" cap="none" strike="noStrik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Remote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Sales Account Executive</a:t>
                      </a:r>
                      <a:endParaRPr sz="2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75500">
                <a:tc vMerge="1"/>
                <a:tc vMerge="1"/>
                <a:tc vMerge="1"/>
              </a:tr>
              <a:tr h="75900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Juan Pablo Armendáriz</a:t>
                      </a:r>
                      <a:endParaRPr b="1" sz="2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CDMX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Research Experts</a:t>
                      </a:r>
                      <a:endParaRPr sz="2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5900">
                <a:tc vMerge="1"/>
                <a:tc vMerge="1"/>
                <a:tc vMerge="1"/>
              </a:tr>
              <a:tr h="75900">
                <a:tc vMerge="1"/>
                <a:tc vMerge="1"/>
                <a:tc vMerge="1"/>
              </a:tr>
              <a:tr h="75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Sofia Ledesma</a:t>
                      </a:r>
                      <a:endParaRPr b="1" sz="2000" u="none" cap="none" strike="noStrik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CDMX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Project Manager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80" name="Google Shape;80;p4"/>
          <p:cNvSpPr txBox="1"/>
          <p:nvPr>
            <p:ph type="title"/>
          </p:nvPr>
        </p:nvSpPr>
        <p:spPr>
          <a:xfrm>
            <a:off x="2450900" y="270775"/>
            <a:ext cx="6862800" cy="132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sz="4500">
                <a:solidFill>
                  <a:schemeClr val="dk1"/>
                </a:solidFill>
              </a:rPr>
              <a:t>Meet the Team</a:t>
            </a:r>
            <a:endParaRPr sz="4500"/>
          </a:p>
        </p:txBody>
      </p:sp>
      <p:sp>
        <p:nvSpPr>
          <p:cNvPr id="81" name="Google Shape;81;p4"/>
          <p:cNvSpPr txBox="1"/>
          <p:nvPr>
            <p:ph idx="12" type="sldNum"/>
          </p:nvPr>
        </p:nvSpPr>
        <p:spPr>
          <a:xfrm>
            <a:off x="9126655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4"/>
          <p:cNvSpPr txBox="1"/>
          <p:nvPr/>
        </p:nvSpPr>
        <p:spPr>
          <a:xfrm>
            <a:off x="2582225" y="6356375"/>
            <a:ext cx="469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BOLD</a:t>
            </a: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Day-to-day contact for each team/General POC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10055525" y="193800"/>
            <a:ext cx="1022700" cy="850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84" name="Google Shape;8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2659" y="270772"/>
            <a:ext cx="2143991" cy="36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 txBox="1"/>
          <p:nvPr>
            <p:ph idx="12" type="sldNum"/>
          </p:nvPr>
        </p:nvSpPr>
        <p:spPr>
          <a:xfrm>
            <a:off x="9126655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p6"/>
          <p:cNvSpPr txBox="1"/>
          <p:nvPr>
            <p:ph type="title"/>
          </p:nvPr>
        </p:nvSpPr>
        <p:spPr>
          <a:xfrm>
            <a:off x="2450900" y="270775"/>
            <a:ext cx="7570500" cy="132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sz="3600">
                <a:solidFill>
                  <a:schemeClr val="dk1"/>
                </a:solidFill>
              </a:rPr>
              <a:t>Research Objectives</a:t>
            </a:r>
            <a:endParaRPr sz="3600"/>
          </a:p>
        </p:txBody>
      </p:sp>
      <p:sp>
        <p:nvSpPr>
          <p:cNvPr id="92" name="Google Shape;92;p6"/>
          <p:cNvSpPr txBox="1"/>
          <p:nvPr/>
        </p:nvSpPr>
        <p:spPr>
          <a:xfrm>
            <a:off x="2450900" y="1865506"/>
            <a:ext cx="92469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Primary Objective: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gauge brand awareness and purchasing habits for LBB Specialties within a niche B2B chemical distribution market. This is intended as a pulse study to provide an immediate snapshot of the market.</a:t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Metrics:</a:t>
            </a: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Measure Unaided and Aided Awareness, Net Promoter Score (NPS), and overall brand perception.</a:t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Brand Insights:</a:t>
            </a: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The study will explore how customers first hear about LBB Specialities and its competitors, as well as key attitudes and perceptions towards the brand.</a:t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10184725" y="150725"/>
            <a:ext cx="850500" cy="99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94" name="Google Shape;9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375" y="270775"/>
            <a:ext cx="2456150" cy="41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"/>
          <p:cNvSpPr txBox="1"/>
          <p:nvPr>
            <p:ph type="title"/>
          </p:nvPr>
        </p:nvSpPr>
        <p:spPr>
          <a:xfrm>
            <a:off x="2450900" y="270775"/>
            <a:ext cx="6862800" cy="132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sz="3600">
                <a:solidFill>
                  <a:schemeClr val="dk1"/>
                </a:solidFill>
              </a:rPr>
              <a:t>Sample Confirmation</a:t>
            </a:r>
            <a:endParaRPr sz="3600"/>
          </a:p>
        </p:txBody>
      </p:sp>
      <p:sp>
        <p:nvSpPr>
          <p:cNvPr id="100" name="Google Shape;100;p8"/>
          <p:cNvSpPr txBox="1"/>
          <p:nvPr>
            <p:ph idx="12" type="sldNum"/>
          </p:nvPr>
        </p:nvSpPr>
        <p:spPr>
          <a:xfrm>
            <a:off x="9126655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01" name="Google Shape;101;p8"/>
          <p:cNvGraphicFramePr/>
          <p:nvPr/>
        </p:nvGraphicFramePr>
        <p:xfrm>
          <a:off x="2450900" y="13702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{2AC21C7A-938C-4BCA-AD42-FD77946D1052}</a:tableStyleId>
              </a:tblPr>
              <a:tblGrid>
                <a:gridCol w="3240450"/>
                <a:gridCol w="4002375"/>
                <a:gridCol w="1989100"/>
              </a:tblGrid>
              <a:tr h="499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Screeners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Quotas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Other Assumptions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395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 N = 200 (100 Customers / 100 Suppliers)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Target Audience: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 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BDMs, Facility DMs, Manager+ working within purchase and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procurement. Sales and distribution departments from the respective industries 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rest all criteria are natural fallout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Screeners: 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indent="-2921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Helvetica Neue Light"/>
                        <a:buChar char="●"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Anyone that buys or formulates in the chemical 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  <a:extLst>
                            <a:ext uri="http://customooxmlschemas.google.com/">
                              <go:slidesCustomData xmlns:go="http://customooxmlschemas.google.com/" textRoundtripDataId="0"/>
                            </a:ext>
                          </a:extLst>
                        </a:rPr>
                        <a:t>industries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indent="-2921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Helvetica Neue Light"/>
                        <a:buChar char="●"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  <a:extLst>
                            <a:ext uri="http://customooxmlschemas.google.com/">
                              <go:slidesCustomData xmlns:go="http://customooxmlschemas.google.com/" textRoundtripDataId="1"/>
                            </a:ext>
                          </a:extLst>
                        </a:rPr>
                        <a:t>Customers: 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  <a:extLst>
                            <a:ext uri="http://customooxmlschemas.google.com/">
                              <go:slidesCustomData xmlns:go="http://customooxmlschemas.google.com/" textRoundtripDataId="2"/>
                            </a:ext>
                          </a:extLst>
                        </a:rPr>
                        <a:t>individuals who buy our products like purchasing directors, formulators, formulation consultants/services providers, customer formulators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  <a:extLst>
                          <a:ext uri="http://customooxmlschemas.google.com/">
                            <go:slidesCustomData xmlns:go="http://customooxmlschemas.google.com/" textRoundtripDataId="3"/>
                          </a:ext>
                        </a:extLst>
                      </a:endParaRPr>
                    </a:p>
                    <a:p>
                      <a:pPr indent="-2921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Helvetica Neue Light"/>
                        <a:buChar char="●"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  <a:extLst>
                            <a:ext uri="http://customooxmlschemas.google.com/">
                              <go:slidesCustomData xmlns:go="http://customooxmlschemas.google.com/" textRoundtripDataId="4"/>
                            </a:ext>
                          </a:extLst>
                        </a:rPr>
                        <a:t>Principals/Suppliers: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  <a:extLst>
                            <a:ext uri="http://customooxmlschemas.google.com/">
                              <go:slidesCustomData xmlns:go="http://customooxmlschemas.google.com/" textRoundtripDataId="5"/>
                            </a:ext>
                          </a:extLst>
                        </a:rPr>
                        <a:t> individuals who would make decisions for us to distribute their products like </a:t>
                      </a: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  <a:extLst>
                            <a:ext uri="http://customooxmlschemas.google.com/">
                              <go:slidesCustomData xmlns:go="http://customooxmlschemas.google.com/" textRoundtripDataId="6"/>
                            </a:ext>
                          </a:extLst>
                        </a:rPr>
                        <a:t>chemical manufacturer 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  <a:extLst>
                            <a:ext uri="http://customooxmlschemas.google.com/">
                              <go:slidesCustomData xmlns:go="http://customooxmlschemas.google.com/" textRoundtripDataId="7"/>
                            </a:ext>
                          </a:extLst>
                        </a:rPr>
                        <a:t>distribution manager and chemical manufacturing sales managers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81818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Quotas</a:t>
                      </a:r>
                      <a:endParaRPr sz="1000" u="none" cap="none" strike="noStrike">
                        <a:solidFill>
                          <a:srgbClr val="181818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81818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indent="-2921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Helvetica Neue Light"/>
                        <a:buChar char="●"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Customers 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50% - 100N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indent="-2921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Helvetica Neue"/>
                        <a:buChar char="●"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Principals/suppliers 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50% - 100N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indent="-2921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Helvetica Neue Light"/>
                        <a:buChar char="●"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Age 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(natural fallout - 18-64)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indent="-2921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Helvetica Neue Light"/>
                        <a:buChar char="●"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Gender 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(natural fallout) 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indent="-2921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Helvetica Neue Light"/>
                        <a:buChar char="●"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Country 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(US) 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81818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81818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indent="-2921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818"/>
                        </a:buClr>
                        <a:buSzPts val="1000"/>
                        <a:buFont typeface="Helvetica Neue Light"/>
                        <a:buChar char="●"/>
                      </a:pPr>
                      <a:r>
                        <a:rPr lang="en-US" sz="1000" u="none" cap="none" strike="noStrike">
                          <a:solidFill>
                            <a:srgbClr val="181818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**Natural Fallout means that we cannot guarantee any specific distribution for these demographics**</a:t>
                      </a:r>
                      <a:endParaRPr sz="1000" u="none" cap="none" strike="noStrike">
                        <a:solidFill>
                          <a:srgbClr val="181818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Length of Interview:</a:t>
                      </a:r>
                      <a:r>
                        <a:rPr lang="en-US" sz="1000" u="none" cap="none" strike="noStrik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  10 min or less</a:t>
                      </a:r>
                      <a:endParaRPr sz="1000" u="none" cap="none" strike="noStrik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IR</a:t>
                      </a:r>
                      <a:r>
                        <a:rPr lang="en-US" sz="1000" u="none" cap="none" strike="noStrik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 assumed to be 21%</a:t>
                      </a:r>
                      <a:endParaRPr sz="1000" u="none" cap="none" strike="noStrik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Approximate </a:t>
                      </a:r>
                      <a:r>
                        <a:rPr b="1"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number of questions</a:t>
                      </a:r>
                      <a:r>
                        <a:rPr lang="en-US" sz="1000" u="none" cap="none" strike="noStrik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: max 30</a:t>
                      </a:r>
                      <a:endParaRPr sz="1000" u="none" cap="none" strike="noStrik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Fieldwork time:</a:t>
                      </a:r>
                      <a:r>
                        <a:rPr lang="en-US" sz="1000" u="none" cap="none" strike="noStrik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 12-15 days starting full launch</a:t>
                      </a:r>
                      <a:endParaRPr sz="1000" u="none" cap="none" strike="noStrik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Segmentation</a:t>
                      </a:r>
                      <a:r>
                        <a:rPr lang="en-US" sz="1000" u="none" cap="none" strike="noStrik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: None </a:t>
                      </a:r>
                      <a:endParaRPr sz="1000" u="none" cap="none" strike="noStrik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—--------------------------------</a:t>
                      </a:r>
                      <a:endParaRPr sz="1000" u="none" cap="none" strike="noStrik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Services included:</a:t>
                      </a:r>
                      <a:endParaRPr b="1"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2921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Helvetica Neue Light"/>
                        <a:buChar char="●"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Survey Design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indent="-2921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Helvetica Neue Light"/>
                        <a:buChar char="●"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Survey Build (programming)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indent="-2921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Helvetica Neue Light"/>
                        <a:buChar char="●"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Sample collection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  <a:extLst>
                            <a:ext uri="http://customooxmlschemas.google.com/">
                              <go:slidesCustomData xmlns:go="http://customooxmlschemas.google.com/" textRoundtripDataId="8"/>
                            </a:ext>
                          </a:extLst>
                        </a:rPr>
                        <a:t>Client Timezone: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 EST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  <a:extLst>
                            <a:ext uri="http://customooxmlschemas.google.com/">
                              <go:slidesCustomData xmlns:go="http://customooxmlschemas.google.com/" textRoundtripDataId="9"/>
                            </a:ext>
                          </a:extLst>
                        </a:rPr>
                        <a:t>Client Email:</a:t>
                      </a: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sean@lbb-industries.com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000" u="sng" cap="none" strike="noStrike">
                          <a:solidFill>
                            <a:schemeClr val="hlink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  <a:hlinkClick r:id="rId3"/>
                        </a:rPr>
                        <a:t>Survey Draft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2" name="Google Shape;102;p8"/>
          <p:cNvSpPr/>
          <p:nvPr/>
        </p:nvSpPr>
        <p:spPr>
          <a:xfrm>
            <a:off x="10141650" y="183025"/>
            <a:ext cx="904500" cy="699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03" name="Google Shape;10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41875" y="404330"/>
            <a:ext cx="1510900" cy="2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"/>
          <p:cNvSpPr txBox="1"/>
          <p:nvPr>
            <p:ph idx="12" type="sldNum"/>
          </p:nvPr>
        </p:nvSpPr>
        <p:spPr>
          <a:xfrm>
            <a:off x="9126655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10" name="Google Shape;110;p11"/>
          <p:cNvGraphicFramePr/>
          <p:nvPr/>
        </p:nvGraphicFramePr>
        <p:xfrm>
          <a:off x="3362266" y="13110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{2AC21C7A-938C-4BCA-AD42-FD77946D1052}</a:tableStyleId>
              </a:tblPr>
              <a:tblGrid>
                <a:gridCol w="2600000"/>
                <a:gridCol w="1359525"/>
                <a:gridCol w="1538225"/>
                <a:gridCol w="1492225"/>
              </a:tblGrid>
              <a:tr h="30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MILESTONE</a:t>
                      </a:r>
                      <a:endParaRPr b="1" sz="10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7425" marB="27425" marR="91425" marL="91425" anchor="ctr">
                    <a:solidFill>
                      <a:srgbClr val="0768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# BUSINESS DAYS</a:t>
                      </a:r>
                      <a:endParaRPr b="1" sz="10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7425" marB="27425" marR="91425" marL="91425" anchor="ctr">
                    <a:solidFill>
                      <a:srgbClr val="0768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START DATE</a:t>
                      </a:r>
                      <a:endParaRPr b="1" sz="10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7425" marB="27425" marR="91425" marL="91425" anchor="ctr">
                    <a:solidFill>
                      <a:srgbClr val="0768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END DATE</a:t>
                      </a:r>
                      <a:endParaRPr b="1" sz="10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7425" marB="27425" marR="91425" marL="91425" anchor="ctr">
                    <a:solidFill>
                      <a:srgbClr val="0768DD"/>
                    </a:solidFill>
                  </a:tcPr>
                </a:tc>
              </a:tr>
              <a:tr h="30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DBAA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Project Kickoff</a:t>
                      </a:r>
                      <a:endParaRPr sz="1000" u="none" cap="none" strike="noStrike">
                        <a:solidFill>
                          <a:srgbClr val="21DBAA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21DBAA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DBAA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23/Sep</a:t>
                      </a:r>
                      <a:endParaRPr sz="1000" u="none" cap="none" strike="noStrike">
                        <a:solidFill>
                          <a:srgbClr val="21DBAA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DBAA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23/Sep</a:t>
                      </a:r>
                      <a:endParaRPr sz="1000" u="none" cap="none" strike="noStrike">
                        <a:solidFill>
                          <a:srgbClr val="21DBAA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solidFill>
                      <a:srgbClr val="FFFFFF"/>
                    </a:solidFill>
                  </a:tcPr>
                </a:tc>
              </a:tr>
              <a:tr h="30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Survey Outline to LeBaronBrown</a:t>
                      </a:r>
                      <a:endParaRPr sz="1000" u="none" cap="none" strike="noStrik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+5 Business Days</a:t>
                      </a:r>
                      <a:endParaRPr sz="1000" u="none" cap="none" strike="noStrik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24/Sep</a:t>
                      </a:r>
                      <a:endParaRPr sz="1000" u="none" cap="none" strike="noStrik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01/Oct</a:t>
                      </a:r>
                      <a:endParaRPr sz="1000" u="none" cap="none" strike="noStrik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solidFill>
                      <a:srgbClr val="FFFFFF"/>
                    </a:solidFill>
                  </a:tcPr>
                </a:tc>
              </a:tr>
              <a:tr h="30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3B4F0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Survey Outline Approved</a:t>
                      </a:r>
                      <a:endParaRPr sz="1000" u="none" cap="none" strike="noStrike">
                        <a:solidFill>
                          <a:srgbClr val="03B4F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3B4F0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+2 Business Days </a:t>
                      </a:r>
                      <a:endParaRPr sz="1000" u="none" cap="none" strike="noStrike">
                        <a:solidFill>
                          <a:srgbClr val="03B4F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3B4F0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02/Oct</a:t>
                      </a:r>
                      <a:endParaRPr sz="1000" u="none" cap="none" strike="noStrike">
                        <a:solidFill>
                          <a:srgbClr val="03B4F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3B4F0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06/Oct</a:t>
                      </a:r>
                      <a:endParaRPr sz="1000" u="none" cap="none" strike="noStrike">
                        <a:solidFill>
                          <a:srgbClr val="03B4F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solidFill>
                      <a:srgbClr val="FFFFFF"/>
                    </a:solidFill>
                  </a:tcPr>
                </a:tc>
              </a:tr>
              <a:tr h="30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Full Survey Draft to LeBaronBrown</a:t>
                      </a:r>
                      <a:endParaRPr sz="1000" u="none" cap="none" strike="noStrik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+3 Business Days</a:t>
                      </a:r>
                      <a:endParaRPr sz="1000" u="none" cap="none" strike="noStrik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07/Oct</a:t>
                      </a:r>
                      <a:endParaRPr sz="1000" u="none" cap="none" strike="noStrik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10/Oct</a:t>
                      </a:r>
                      <a:endParaRPr sz="1000" u="none" cap="none" strike="noStrik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solidFill>
                      <a:srgbClr val="FFFFFF"/>
                    </a:solidFill>
                  </a:tcPr>
                </a:tc>
              </a:tr>
              <a:tr h="30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Survey Draft Approved</a:t>
                      </a:r>
                      <a:endParaRPr b="1" sz="10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7425" marB="27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03B4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+3 Business Days</a:t>
                      </a:r>
                      <a:endParaRPr b="1" sz="10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7425" marB="27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B4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13/Oct</a:t>
                      </a:r>
                      <a:endParaRPr b="1" sz="10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7425" marB="27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03B4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15/Oct</a:t>
                      </a:r>
                      <a:endParaRPr b="1" sz="1000" u="none" cap="none" strike="noStrike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7425" marB="27425" marR="91425" marL="91425" anchor="ctr">
                    <a:solidFill>
                      <a:srgbClr val="03B4F0"/>
                    </a:solidFill>
                  </a:tcPr>
                </a:tc>
              </a:tr>
              <a:tr h="30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Survey Build (programming)</a:t>
                      </a:r>
                      <a:endParaRPr sz="1000" u="none" cap="none" strike="noStrik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+5 Business Days</a:t>
                      </a:r>
                      <a:endParaRPr sz="1000" u="none" cap="none" strike="noStrik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16/Oct</a:t>
                      </a:r>
                      <a:endParaRPr sz="1000" u="none" cap="none" strike="noStrik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23/Oct</a:t>
                      </a:r>
                      <a:endParaRPr sz="1000" u="none" cap="none" strike="noStrik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23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Link Sent to LeBaronBrown for Review</a:t>
                      </a:r>
                      <a:endParaRPr sz="1000" u="none" cap="none" strike="noStrik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+1 Business Days</a:t>
                      </a:r>
                      <a:endParaRPr sz="1000" u="none" cap="none" strike="noStrik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24/Oct</a:t>
                      </a:r>
                      <a:endParaRPr sz="1000" u="none" cap="none" strike="noStrik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27/Oct</a:t>
                      </a:r>
                      <a:endParaRPr sz="1000" u="none" cap="none" strike="noStrik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3B4F0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Link Approved for Soft Launch</a:t>
                      </a:r>
                      <a:endParaRPr sz="1000" u="none" cap="none" strike="noStrike">
                        <a:solidFill>
                          <a:srgbClr val="03B4F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3B4F0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+2 Business Days</a:t>
                      </a:r>
                      <a:endParaRPr sz="1000" u="none" cap="none" strike="noStrike">
                        <a:solidFill>
                          <a:srgbClr val="03B4F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3B4F0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28/Oct</a:t>
                      </a:r>
                      <a:endParaRPr sz="1000" u="none" cap="none" strike="noStrike">
                        <a:solidFill>
                          <a:srgbClr val="03B4F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3B4F0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29/Oct</a:t>
                      </a:r>
                      <a:endParaRPr sz="1000" u="none" cap="none" strike="noStrike">
                        <a:solidFill>
                          <a:srgbClr val="03B4F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434343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Soft Launch</a:t>
                      </a:r>
                      <a:endParaRPr sz="1000" u="none" cap="none" strike="noStrike">
                        <a:solidFill>
                          <a:srgbClr val="434343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434343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+2 Business Days</a:t>
                      </a:r>
                      <a:endParaRPr sz="1000" u="none" cap="none" strike="noStrike">
                        <a:solidFill>
                          <a:srgbClr val="434343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434343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30/Oct</a:t>
                      </a:r>
                      <a:endParaRPr sz="1000" u="none" cap="none" strike="noStrike">
                        <a:solidFill>
                          <a:srgbClr val="434343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434343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03/Nov</a:t>
                      </a:r>
                      <a:endParaRPr sz="1000" u="none" cap="none" strike="noStrike">
                        <a:solidFill>
                          <a:srgbClr val="434343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Check Soft Launch Data</a:t>
                      </a:r>
                      <a:endParaRPr sz="1000" u="none" cap="none" strike="noStrik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+1 Business Day</a:t>
                      </a:r>
                      <a:endParaRPr sz="1000" u="none" cap="none" strike="noStrik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04/Nov</a:t>
                      </a:r>
                      <a:endParaRPr sz="1000" u="none" cap="none" strike="noStrik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05/Nov</a:t>
                      </a:r>
                      <a:endParaRPr sz="1000" u="none" cap="none" strike="noStrik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3B4F0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Check Soft Launch Data</a:t>
                      </a:r>
                      <a:endParaRPr sz="1000" u="none" cap="none" strike="noStrike">
                        <a:solidFill>
                          <a:srgbClr val="03B4F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3B4F0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+1 Business Day</a:t>
                      </a:r>
                      <a:endParaRPr sz="1000" u="none" cap="none" strike="noStrike">
                        <a:solidFill>
                          <a:srgbClr val="03B4F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3B4F0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06/Nov</a:t>
                      </a:r>
                      <a:endParaRPr sz="1000" u="none" cap="none" strike="noStrike">
                        <a:solidFill>
                          <a:srgbClr val="03B4F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3B4F0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07/Nov</a:t>
                      </a:r>
                      <a:endParaRPr sz="1000" u="none" cap="none" strike="noStrike">
                        <a:solidFill>
                          <a:srgbClr val="03B4F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434343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Fielding + Scrubbing</a:t>
                      </a:r>
                      <a:endParaRPr sz="1000" u="none" cap="none" strike="noStrike">
                        <a:solidFill>
                          <a:srgbClr val="434343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434343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+15 Business Days</a:t>
                      </a:r>
                      <a:endParaRPr sz="1000" u="none" cap="none" strike="noStrike">
                        <a:solidFill>
                          <a:srgbClr val="434343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434343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10/Nov</a:t>
                      </a:r>
                      <a:endParaRPr sz="1000" u="none" cap="none" strike="noStrike">
                        <a:solidFill>
                          <a:srgbClr val="434343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434343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01/Dec</a:t>
                      </a:r>
                      <a:endParaRPr sz="1000" u="none" cap="none" strike="noStrike">
                        <a:solidFill>
                          <a:srgbClr val="434343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Final data delivered to LeBaronBrown</a:t>
                      </a:r>
                      <a:endParaRPr sz="1000" u="none" cap="none" strike="noStrik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+1 Business Day</a:t>
                      </a:r>
                      <a:endParaRPr sz="1000" u="none" cap="none" strike="noStrik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02/Dec</a:t>
                      </a:r>
                      <a:endParaRPr sz="1000" u="none" cap="none" strike="noStrik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5F19E4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03/Dec</a:t>
                      </a:r>
                      <a:endParaRPr sz="1000" u="none" cap="none" strike="noStrike">
                        <a:solidFill>
                          <a:srgbClr val="5F19E4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3B4F0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Final data review</a:t>
                      </a:r>
                      <a:endParaRPr sz="1000" u="none" cap="none" strike="noStrike">
                        <a:solidFill>
                          <a:srgbClr val="03B4F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3B4F0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+7 Business Days</a:t>
                      </a:r>
                      <a:endParaRPr sz="1000" u="none" cap="none" strike="noStrike">
                        <a:solidFill>
                          <a:srgbClr val="03B4F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3B4F0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04/Dec</a:t>
                      </a:r>
                      <a:endParaRPr sz="1000" u="none" cap="none" strike="noStrike">
                        <a:solidFill>
                          <a:srgbClr val="03B4F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3B4F0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15/Dec</a:t>
                      </a:r>
                      <a:endParaRPr sz="1000" u="none" cap="none" strike="noStrike">
                        <a:solidFill>
                          <a:srgbClr val="03B4F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27425" marB="27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1" name="Google Shape;111;p11"/>
          <p:cNvSpPr txBox="1"/>
          <p:nvPr>
            <p:ph type="title"/>
          </p:nvPr>
        </p:nvSpPr>
        <p:spPr>
          <a:xfrm>
            <a:off x="2263850" y="152400"/>
            <a:ext cx="6862800" cy="132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3600">
                <a:solidFill>
                  <a:schemeClr val="dk1"/>
                </a:solidFill>
              </a:rPr>
              <a:t>Timeline</a:t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112" name="Google Shape;112;p11"/>
          <p:cNvSpPr/>
          <p:nvPr/>
        </p:nvSpPr>
        <p:spPr>
          <a:xfrm>
            <a:off x="10173950" y="193800"/>
            <a:ext cx="882900" cy="816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13" name="Google Shape;11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4200" y="368500"/>
            <a:ext cx="1629325" cy="27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Qualtrics ">
      <a:dk1>
        <a:srgbClr val="000000"/>
      </a:dk1>
      <a:lt1>
        <a:srgbClr val="FFFFFF"/>
      </a:lt1>
      <a:dk2>
        <a:srgbClr val="A2AAAD"/>
      </a:dk2>
      <a:lt2>
        <a:srgbClr val="E7E6E6"/>
      </a:lt2>
      <a:accent1>
        <a:srgbClr val="97D700"/>
      </a:accent1>
      <a:accent2>
        <a:srgbClr val="2DCCD3"/>
      </a:accent2>
      <a:accent3>
        <a:srgbClr val="147BD1"/>
      </a:accent3>
      <a:accent4>
        <a:srgbClr val="464E7E"/>
      </a:accent4>
      <a:accent5>
        <a:srgbClr val="D6001C"/>
      </a:accent5>
      <a:accent6>
        <a:srgbClr val="FFCD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